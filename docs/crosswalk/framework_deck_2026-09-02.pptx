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a:solidFill>
                  <a:srgbClr val="000000"/>
                </a:solidFill>
              </a:rPr>
              <a:t>Operationalizing AI-Ready Data for the Federal Statistical System</a:t>
            </a:r>
          </a:p>
        </p:txBody>
      </p:sp>
      <p:sp>
        <p:nvSpPr>
          <p:cNvPr id="3" name="Subtitle 2"/>
          <p:cNvSpPr>
            <a:spLocks noGrp="1"/>
          </p:cNvSpPr>
          <p:nvPr>
            <p:ph type="subTitle" idx="1"/>
          </p:nvPr>
        </p:nvSpPr>
        <p:spPr/>
        <p:txBody>
          <a:bodyPr/>
          <a:lstStyle/>
          <a:p>
            <a:r>
              <a:rPr b="0">
                <a:solidFill>
                  <a:srgbClr val="000000"/>
                </a:solidFill>
              </a:rPr>
              <a:t>From principles to a runnable instrument</a:t>
            </a:r>
          </a:p>
          <a:p>
            <a:r>
              <a:rPr b="0">
                <a:solidFill>
                  <a:srgbClr val="000000"/>
                </a:solidFill>
              </a:rPr>
              <a:t>An assessment instrument agencies can execute against a data product — every indicator machine-testable where possible, every claim citable to primary literature.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800">
                <a:solidFill>
                  <a:srgbClr val="000000"/>
                </a:solidFill>
              </a:rPr>
              <a:t>Why this matters (and why it feels unfamiliar)</a:t>
            </a:r>
          </a:p>
        </p:txBody>
      </p:sp>
      <p:sp>
        <p:nvSpPr>
          <p:cNvPr id="3" name="TextBox 2"/>
          <p:cNvSpPr txBox="1"/>
          <p:nvPr/>
        </p:nvSpPr>
        <p:spPr>
          <a:xfrm>
            <a:off x="457200" y="1325880"/>
            <a:ext cx="11274552" cy="5029200"/>
          </a:xfrm>
          <a:prstGeom prst="rect">
            <a:avLst/>
          </a:prstGeom>
          <a:noFill/>
        </p:spPr>
        <p:txBody>
          <a:bodyPr wrap="square">
            <a:spAutoFit/>
          </a:bodyPr>
          <a:lstStyle/>
          <a:p>
            <a:pPr/>
            <a:r>
              <a:rPr b="0" sz="1800">
                <a:solidFill>
                  <a:srgbClr val="000000"/>
                </a:solidFill>
              </a:rPr>
              <a:t>When the public asks a question, an AI system increasingly answers it — by crawling, retrieving, interpreting, and restating someone's data. Whose data it finds, and whether it restates it correctly, is not luck. It is infrastructure.</a:t>
            </a:r>
          </a:p>
          <a:p>
            <a:pPr/>
            <a:r>
              <a:rPr b="0" sz="1800">
                <a:solidFill>
                  <a:srgbClr val="000000"/>
                </a:solidFill>
              </a:rPr>
              <a:t>SEO was the discipline of being findable by search engines. AIO/GEO extends it: being findable, retrievable, understandable, and correctly cited by AI systems. Very few federal staff have training in either — the discipline exists, but not in-house.</a:t>
            </a:r>
          </a:p>
          <a:p>
            <a:pPr/>
            <a:r>
              <a:rPr b="0" sz="1800">
                <a:solidFill>
                  <a:srgbClr val="000000"/>
                </a:solidFill>
              </a:rPr>
              <a:t>Absence does not create silence. If the authoritative source is not machine-ready, AI answers still get made — from aggregators, stale copies, or model memory. The result is unattributed error carrying the agency's numbers.</a:t>
            </a:r>
          </a:p>
          <a:p>
            <a:pPr/>
            <a:r>
              <a:rPr b="0" sz="1800">
                <a:solidFill>
                  <a:srgbClr val="000000"/>
                </a:solidFill>
              </a:rPr>
              <a:t>The specific stakes for statistics: estimates stripped of their uncertainty, wrong vintages presented as current, restatements with no path back to the source.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800">
                <a:solidFill>
                  <a:srgbClr val="000000"/>
                </a:solidFill>
              </a:rPr>
              <a:t>The problem: frameworks tell you what, not how</a:t>
            </a:r>
          </a:p>
        </p:txBody>
      </p:sp>
      <p:sp>
        <p:nvSpPr>
          <p:cNvPr id="3" name="TextBox 2"/>
          <p:cNvSpPr txBox="1"/>
          <p:nvPr/>
        </p:nvSpPr>
        <p:spPr>
          <a:xfrm>
            <a:off x="457200" y="1325880"/>
            <a:ext cx="11274552" cy="5029200"/>
          </a:xfrm>
          <a:prstGeom prst="rect">
            <a:avLst/>
          </a:prstGeom>
          <a:noFill/>
        </p:spPr>
        <p:txBody>
          <a:bodyPr wrap="square">
            <a:spAutoFit/>
          </a:bodyPr>
          <a:lstStyle/>
          <a:p>
            <a:pPr/>
            <a:r>
              <a:rPr b="0" sz="1800">
                <a:solidFill>
                  <a:srgbClr val="000000"/>
                </a:solidFill>
              </a:rPr>
              <a:t>USAFacts names four criteria (accessible, understandable, accurate, open). FCSM extends data quality to AI-readiness. Neither hands an agency a test.</a:t>
            </a:r>
          </a:p>
          <a:p>
            <a:pPr/>
            <a:r>
              <a:rPr b="0" sz="1800">
                <a:solidFill>
                  <a:srgbClr val="000000"/>
                </a:solidFill>
              </a:rPr>
              <a:t>Standard failure mode: readiness assessed by practitioner self-report. Self-assessments inflate (social-desirability bias; maturity self-ratings are the canonical case). Observed measures don't argue back.</a:t>
            </a:r>
          </a:p>
          <a:p>
            <a:pPr/>
            <a:r>
              <a:rPr b="0" sz="1800">
                <a:solidFill>
                  <a:srgbClr val="000000"/>
                </a:solidFill>
              </a:rPr>
              <a:t>Survey-methodology framing: asking the public whether they can find federal data measures who answered the survey, not whether the data is findable. An administrative, tool-based audit measures what a person — or an AI agent — actually experiences.</a:t>
            </a:r>
          </a:p>
          <a:p>
            <a:pPr/>
            <a:r>
              <a:rPr b="0" sz="1800">
                <a:solidFill>
                  <a:srgbClr val="000000"/>
                </a:solidFill>
              </a:rPr>
              <a:t>Goal: reframe AI readiness as a testable technical property of the data product and its surrounding infrastructure.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800">
                <a:solidFill>
                  <a:srgbClr val="000000"/>
                </a:solidFill>
              </a:rPr>
              <a:t>The operational picture (OV-1)</a:t>
            </a:r>
          </a:p>
        </p:txBody>
      </p:sp>
      <p:sp>
        <p:nvSpPr>
          <p:cNvPr id="3" name="TextBox 2"/>
          <p:cNvSpPr txBox="1"/>
          <p:nvPr/>
        </p:nvSpPr>
        <p:spPr>
          <a:xfrm>
            <a:off x="457200" y="1325880"/>
            <a:ext cx="11274552" cy="5029200"/>
          </a:xfrm>
          <a:prstGeom prst="rect">
            <a:avLst/>
          </a:prstGeom>
          <a:noFill/>
        </p:spPr>
        <p:txBody>
          <a:bodyPr wrap="square">
            <a:spAutoFit/>
          </a:bodyPr>
          <a:lstStyle/>
          <a:p>
            <a:pPr/>
            <a:r>
              <a:rPr b="0" sz="1800">
                <a:solidFill>
                  <a:srgbClr val="000000"/>
                </a:solidFill>
              </a:rPr>
              <a:t>The flow being served, and the readiness question at every hop:</a:t>
            </a:r>
          </a:p>
          <a:p>
            <a:r>
              <a:rPr sz="900"/>
              <a:t/>
            </a:r>
          </a:p>
          <a:p>
            <a:pPr/>
            <a:r>
              <a:rPr b="0" sz="1200">
                <a:solidFill>
                  <a:srgbClr val="000000"/>
                </a:solidFill>
                <a:latin typeface="Courier New"/>
              </a:rPr>
              <a:t>    Consumers (humans + AI agents)</a:t>
            </a:r>
          </a:p>
          <a:p>
            <a:pPr/>
            <a:r>
              <a:rPr b="0" sz="1200">
                <a:solidFill>
                  <a:srgbClr val="000000"/>
                </a:solidFill>
                <a:latin typeface="Courier New"/>
              </a:rPr>
              <a:t>        → Discovery (search engines, AI answer engines, direct + agent access)</a:t>
            </a:r>
          </a:p>
          <a:p>
            <a:pPr/>
            <a:r>
              <a:rPr b="0" sz="1200">
                <a:solidFill>
                  <a:srgbClr val="000000"/>
                </a:solidFill>
                <a:latin typeface="Courier New"/>
              </a:rPr>
              <a:t>        → Agency public surface (pages, data tools, APIs, files)</a:t>
            </a:r>
          </a:p>
          <a:p>
            <a:pPr/>
            <a:r>
              <a:rPr b="0" sz="1200">
                <a:solidFill>
                  <a:srgbClr val="000000"/>
                </a:solidFill>
                <a:latin typeface="Courier New"/>
              </a:rPr>
              <a:t>        → AI answers (restated, cited — or not)</a:t>
            </a:r>
          </a:p>
          <a:p>
            <a:r>
              <a:rPr sz="900"/>
              <a:t/>
            </a:r>
          </a:p>
          <a:p>
            <a:pPr/>
            <a:r>
              <a:rPr b="0" sz="1800">
                <a:solidFill>
                  <a:srgbClr val="000000"/>
                </a:solidFill>
              </a:rPr>
              <a:t>Hop 1: can machines FIND it? (crawl paths, sitemaps, discovery surfaces)</a:t>
            </a:r>
          </a:p>
          <a:p>
            <a:pPr/>
            <a:r>
              <a:rPr b="0" sz="1800">
                <a:solidFill>
                  <a:srgbClr val="000000"/>
                </a:solidFill>
              </a:rPr>
              <a:t>Hop 2: can machines FETCH it? (robots policy, edge enforcement, stable URLs)</a:t>
            </a:r>
          </a:p>
          <a:p>
            <a:pPr/>
            <a:r>
              <a:rPr b="0" sz="1800">
                <a:solidFill>
                  <a:srgbClr val="000000"/>
                </a:solidFill>
              </a:rPr>
              <a:t>Hop 3: can machines UNDERSTAND it? (metadata, structure, semantics, provenance)</a:t>
            </a:r>
          </a:p>
          <a:p>
            <a:pPr/>
            <a:r>
              <a:rPr b="0" sz="1800">
                <a:solidFill>
                  <a:srgbClr val="000000"/>
                </a:solidFill>
              </a:rPr>
              <a:t>Hop 4: is it RESTATED and CITED correctly? (faithfulness, vintage, uncertainty, attribution)</a:t>
            </a:r>
          </a:p>
          <a:p>
            <a:pPr/>
            <a:r>
              <a:rPr b="0" sz="1800">
                <a:solidFill>
                  <a:srgbClr val="000000"/>
                </a:solidFill>
              </a:rPr>
              <a:t>Readiness is the property of surviving all four hops. Most frameworks only inspect hop 3 from the inside.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800">
                <a:solidFill>
                  <a:srgbClr val="000000"/>
                </a:solidFill>
              </a:rPr>
              <a:t>Design stance: the machine is the first-class user</a:t>
            </a:r>
          </a:p>
        </p:txBody>
      </p:sp>
      <p:sp>
        <p:nvSpPr>
          <p:cNvPr id="3" name="TextBox 2"/>
          <p:cNvSpPr txBox="1"/>
          <p:nvPr/>
        </p:nvSpPr>
        <p:spPr>
          <a:xfrm>
            <a:off x="457200" y="1325880"/>
            <a:ext cx="11274552" cy="5029200"/>
          </a:xfrm>
          <a:prstGeom prst="rect">
            <a:avLst/>
          </a:prstGeom>
          <a:noFill/>
        </p:spPr>
        <p:txBody>
          <a:bodyPr wrap="square">
            <a:spAutoFit/>
          </a:bodyPr>
          <a:lstStyle/>
          <a:p>
            <a:pPr/>
            <a:r>
              <a:rPr b="0" sz="1800">
                <a:solidFill>
                  <a:srgbClr val="000000"/>
                </a:solidFill>
              </a:rPr>
              <a:t>The FAIR principles' original thesis (Wilkinson et al. 2016): machine-actionability as the primary design target. A decade old; largely unimplemented in government.</a:t>
            </a:r>
          </a:p>
          <a:p>
            <a:pPr/>
            <a:r>
              <a:rPr b="0" sz="1800">
                <a:solidFill>
                  <a:srgbClr val="000000"/>
                </a:solidFill>
              </a:rPr>
              <a:t>2026 instantiation, orientation first: the machine surface is the established discovery stack that already works and is already measured — robots exclusion (RFC 9309), sitemaps, well-known URIs (RFC 8615), schema.org Dataset/DataCatalog, DCAT/data.json, content negotiation, persistent identifiers. An agent arriving cold must be able to establish what exists, what it means, how to get it, and what it may do with it. The human surface derives from that. Not GUI abolition — derivation order. Section 508 keeps the human surface mandatory.</a:t>
            </a:r>
          </a:p>
          <a:p>
            <a:pPr/>
            <a:r>
              <a:rPr b="0" sz="1800">
                <a:solidFill>
                  <a:srgbClr val="000000"/>
                </a:solidFill>
              </a:rPr>
              <a:t>A meaningful share of public contact with government data now arrives through AI answer engines and LLM crawlers, alongside search and direct visits. Both channels must be tested.</a:t>
            </a:r>
          </a:p>
          <a:p>
            <a:pPr/>
            <a:r>
              <a:rPr b="0" sz="1800">
                <a:solidFill>
                  <a:srgbClr val="000000"/>
                </a:solidFill>
              </a:rPr>
              <a:t>Existence proof in production: a federal policy corpus (99 documents, 6,600+ obligations) whose primary interface is an MCP server consumed by AI agents.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800">
                <a:solidFill>
                  <a:srgbClr val="000000"/>
                </a:solidFill>
              </a:rPr>
              <a:t>The instrument: four criteria, seven groups, ~45 indicators</a:t>
            </a:r>
          </a:p>
        </p:txBody>
      </p:sp>
      <p:sp>
        <p:nvSpPr>
          <p:cNvPr id="3" name="TextBox 2"/>
          <p:cNvSpPr txBox="1"/>
          <p:nvPr/>
        </p:nvSpPr>
        <p:spPr>
          <a:xfrm>
            <a:off x="457200" y="1325880"/>
            <a:ext cx="11274552" cy="5029200"/>
          </a:xfrm>
          <a:prstGeom prst="rect">
            <a:avLst/>
          </a:prstGeom>
          <a:noFill/>
        </p:spPr>
        <p:txBody>
          <a:bodyPr wrap="square">
            <a:spAutoFit/>
          </a:bodyPr>
          <a:lstStyle/>
          <a:p>
            <a:pPr/>
            <a:r>
              <a:rPr b="0" sz="1700">
                <a:solidFill>
                  <a:srgbClr val="000000"/>
                </a:solidFill>
              </a:rPr>
              <a:t>USAFacts' four criteria as top-level structure; FCSM's quality framework as the bridge into statistical-agency language.</a:t>
            </a:r>
          </a:p>
          <a:p>
            <a:pPr/>
            <a:r>
              <a:rPr b="0" sz="1700">
                <a:solidFill>
                  <a:srgbClr val="000000"/>
                </a:solidFill>
              </a:rPr>
              <a:t>Decomposed into seven indicator groups:</a:t>
            </a:r>
          </a:p>
          <a:p>
            <a:pPr lvl="1"/>
            <a:r>
              <a:rPr b="0" sz="1700">
                <a:solidFill>
                  <a:srgbClr val="000000"/>
                </a:solidFill>
              </a:rPr>
              <a:t>A Accessible (formats, APIs, bulk, crawler access, discoverability, markup, identifiers, application surfaces)</a:t>
            </a:r>
          </a:p>
          <a:p>
            <a:pPr lvl="1"/>
            <a:r>
              <a:rPr b="0" sz="1700">
                <a:solidFill>
                  <a:srgbClr val="000000"/>
                </a:solidFill>
              </a:rPr>
              <a:t>B Understandable (variable semantics, definitions, methodology legibility, quality metadata)</a:t>
            </a:r>
          </a:p>
          <a:p>
            <a:pPr lvl="1"/>
            <a:r>
              <a:rPr b="0" sz="1700">
                <a:solidFill>
                  <a:srgbClr val="000000"/>
                </a:solidFill>
              </a:rPr>
              <a:t>C Accurate as consumed by AI (retrieval-grounded QA, restatement faithfulness, vintage disambiguation, citation quality)</a:t>
            </a:r>
          </a:p>
          <a:p>
            <a:pPr lvl="1"/>
            <a:r>
              <a:rPr b="0" sz="1700">
                <a:solidFill>
                  <a:srgbClr val="000000"/>
                </a:solidFill>
              </a:rPr>
              <a:t>D Open (license clarity, AI-reuse terms, provenance, inventory completeness)</a:t>
            </a:r>
          </a:p>
          <a:p>
            <a:pPr lvl="1"/>
            <a:r>
              <a:rPr b="0" sz="1700">
                <a:solidFill>
                  <a:srgbClr val="000000"/>
                </a:solidFill>
              </a:rPr>
              <a:t>E TEVV loop (cross-cutting)</a:t>
            </a:r>
          </a:p>
          <a:p>
            <a:pPr lvl="1"/>
            <a:r>
              <a:rPr b="0" sz="1700">
                <a:solidFill>
                  <a:srgbClr val="000000"/>
                </a:solidFill>
              </a:rPr>
              <a:t>F Release engineering (cross-cutting)</a:t>
            </a:r>
          </a:p>
          <a:p>
            <a:pPr lvl="1"/>
            <a:r>
              <a:rPr b="0" sz="1700">
                <a:solidFill>
                  <a:srgbClr val="000000"/>
                </a:solidFill>
              </a:rPr>
              <a:t>G Statistical-product semantics (uncertainty, revisions, vintages, authority, disclosure, protocol provenance)</a:t>
            </a:r>
          </a:p>
          <a:p>
            <a:pPr/>
            <a:r>
              <a:rPr b="0" sz="1700">
                <a:solidFill>
                  <a:srgbClr val="000000"/>
                </a:solidFill>
              </a:rPr>
              <a:t>Every indicator typed: AUTO (machine-checkable from the public surface) / DOC (verifiable documented attribute) / EVAL (measured by an evaluation harness).</a:t>
            </a:r>
          </a:p>
          <a:p>
            <a:pPr/>
            <a:r>
              <a:rPr b="0" sz="1700">
                <a:solidFill>
                  <a:srgbClr val="000000"/>
                </a:solidFill>
              </a:rPr>
              <a:t>Machine-first rule: where a machine test exists or can be built, it replaces self-report. The human-survey component is scoped to the residual.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800">
                <a:solidFill>
                  <a:srgbClr val="000000"/>
                </a:solidFill>
              </a:rPr>
              <a:t>Three tiers: who can run the test</a:t>
            </a:r>
          </a:p>
        </p:txBody>
      </p:sp>
      <p:sp>
        <p:nvSpPr>
          <p:cNvPr id="3" name="TextBox 2"/>
          <p:cNvSpPr txBox="1"/>
          <p:nvPr/>
        </p:nvSpPr>
        <p:spPr>
          <a:xfrm>
            <a:off x="457200" y="1325880"/>
            <a:ext cx="11274552" cy="5029200"/>
          </a:xfrm>
          <a:prstGeom prst="rect">
            <a:avLst/>
          </a:prstGeom>
          <a:noFill/>
        </p:spPr>
        <p:txBody>
          <a:bodyPr wrap="square">
            <a:spAutoFit/>
          </a:bodyPr>
          <a:lstStyle/>
          <a:p>
            <a:pPr/>
            <a:r>
              <a:rPr b="0" sz="1800">
                <a:solidFill>
                  <a:srgbClr val="000000"/>
                </a:solidFill>
              </a:rPr>
              <a:t>`public` — runnable by anyone against the public surface. No permission, no cooperation. All AUTO indicators default here.</a:t>
            </a:r>
          </a:p>
          <a:p>
            <a:pPr/>
            <a:r>
              <a:rPr b="0" sz="1800">
                <a:solidFill>
                  <a:srgbClr val="000000"/>
                </a:solidFill>
              </a:rPr>
              <a:t>`agency_instrumented` — requires agency cooperation: internal metadata, process artifacts, checklist answers.</a:t>
            </a:r>
          </a:p>
          <a:p>
            <a:pPr/>
            <a:r>
              <a:rPr b="0" sz="1800">
                <a:solidFill>
                  <a:srgbClr val="000000"/>
                </a:solidFill>
              </a:rPr>
              <a:t>`paid` — requires funded tooling: standing eval harnesses, attestation infrastructure, monitoring. Output here is prescriptive gap-closing guidance, not a score.</a:t>
            </a:r>
          </a:p>
          <a:p>
            <a:pPr/>
            <a:r>
              <a:rPr b="0" sz="1800">
                <a:solidFill>
                  <a:srgbClr val="000000"/>
                </a:solidFill>
              </a:rPr>
              <a:t>A second, independent axis: open-source vs. proprietary tooling. The tiers intersect it; they don't map onto it.</a:t>
            </a:r>
          </a:p>
          <a:p>
            <a:pPr/>
            <a:r>
              <a:rPr b="0" sz="1800">
                <a:solidFill>
                  <a:srgbClr val="000000"/>
                </a:solidFill>
              </a:rPr>
              <a:t>Sequencing: `public` ships first — it needs nobody's permission and produces scored profiles immediately.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800">
                <a:solidFill>
                  <a:srgbClr val="000000"/>
                </a:solidFill>
              </a:rPr>
              <a:t>Capability architecture (SV-1): what the system needs, not which products</a:t>
            </a:r>
          </a:p>
        </p:txBody>
      </p:sp>
      <p:sp>
        <p:nvSpPr>
          <p:cNvPr id="3" name="TextBox 2"/>
          <p:cNvSpPr txBox="1"/>
          <p:nvPr/>
        </p:nvSpPr>
        <p:spPr>
          <a:xfrm>
            <a:off x="457200" y="1325880"/>
            <a:ext cx="11274552" cy="5029200"/>
          </a:xfrm>
          <a:prstGeom prst="rect">
            <a:avLst/>
          </a:prstGeom>
          <a:noFill/>
        </p:spPr>
        <p:txBody>
          <a:bodyPr wrap="square">
            <a:spAutoFit/>
          </a:bodyPr>
          <a:lstStyle/>
          <a:p>
            <a:pPr/>
            <a:r>
              <a:rPr b="0" sz="1400">
                <a:solidFill>
                  <a:srgbClr val="000000"/>
                </a:solidFill>
              </a:rPr>
              <a:t>Four layers. Capabilities named by what they provide; technology choices are per-agency.</a:t>
            </a:r>
          </a:p>
          <a:p>
            <a:r>
              <a:rPr sz="800"/>
              <a:t/>
            </a:r>
          </a:p>
          <a:p>
            <a:pPr/>
            <a:r>
              <a:rPr b="0" sz="1200">
                <a:solidFill>
                  <a:srgbClr val="000000"/>
                </a:solidFill>
                <a:latin typeface="Courier New"/>
              </a:rPr>
              <a:t>    OPERATIONAL FLOW (slide 4) — served by:</a:t>
            </a:r>
          </a:p>
          <a:p>
            <a:r>
              <a:rPr sz="800"/>
              <a:t/>
            </a:r>
          </a:p>
          <a:p>
            <a:pPr/>
            <a:r>
              <a:rPr b="0" sz="1200">
                <a:solidFill>
                  <a:srgbClr val="000000"/>
                </a:solidFill>
                <a:latin typeface="Courier New"/>
              </a:rPr>
              <a:t>    AGENCY CAPABILITIES</a:t>
            </a:r>
          </a:p>
          <a:p>
            <a:pPr/>
            <a:r>
              <a:rPr b="0" sz="1200">
                <a:solidFill>
                  <a:srgbClr val="000000"/>
                </a:solidFill>
                <a:latin typeface="Courier New"/>
              </a:rPr>
              <a:t>      Publication            | machine-first products, metadata, markup, discovery surfaces</a:t>
            </a:r>
          </a:p>
          <a:p>
            <a:pPr/>
            <a:r>
              <a:rPr b="0" sz="1200">
                <a:solidFill>
                  <a:srgbClr val="000000"/>
                </a:solidFill>
                <a:latin typeface="Courier New"/>
              </a:rPr>
              <a:t>      Access control         | declared policy vs. enforced treatment vs. observed behavior</a:t>
            </a:r>
          </a:p>
          <a:p>
            <a:pPr/>
            <a:r>
              <a:rPr b="0" sz="1200">
                <a:solidFill>
                  <a:srgbClr val="000000"/>
                </a:solidFill>
                <a:latin typeface="Courier New"/>
              </a:rPr>
              <a:t>      Release engineering    | pre-release gates, contracts, attestation</a:t>
            </a:r>
          </a:p>
          <a:p>
            <a:r>
              <a:rPr sz="800"/>
              <a:t/>
            </a:r>
          </a:p>
          <a:p>
            <a:pPr/>
            <a:r>
              <a:rPr b="0" sz="1200">
                <a:solidFill>
                  <a:srgbClr val="000000"/>
                </a:solidFill>
                <a:latin typeface="Courier New"/>
              </a:rPr>
              <a:t>    MEASUREMENT &amp; FEEDBACK</a:t>
            </a:r>
          </a:p>
          <a:p>
            <a:pPr/>
            <a:r>
              <a:rPr b="0" sz="1200">
                <a:solidFill>
                  <a:srgbClr val="000000"/>
                </a:solidFill>
                <a:latin typeface="Courier New"/>
              </a:rPr>
              <a:t>      Sensor layer           | external diagnostics of the public surface (nothing internal needed)</a:t>
            </a:r>
          </a:p>
          <a:p>
            <a:pPr/>
            <a:r>
              <a:rPr b="0" sz="1200">
                <a:solidFill>
                  <a:srgbClr val="000000"/>
                </a:solidFill>
                <a:latin typeface="Courier New"/>
              </a:rPr>
              <a:t>      Evaluation harness     | TEVV: retrieval QA, restatement faithfulness, drift sentinels</a:t>
            </a:r>
          </a:p>
          <a:p>
            <a:pPr/>
            <a:r>
              <a:rPr b="0" sz="1200">
                <a:solidFill>
                  <a:srgbClr val="000000"/>
                </a:solidFill>
                <a:latin typeface="Courier New"/>
              </a:rPr>
              <a:t>      Telemetry              | crawler logs, usage metrics, AI citation tracking</a:t>
            </a:r>
          </a:p>
          <a:p>
            <a:r>
              <a:rPr sz="800"/>
              <a:t/>
            </a:r>
          </a:p>
          <a:p>
            <a:pPr/>
            <a:r>
              <a:rPr b="0" sz="1200">
                <a:solidFill>
                  <a:srgbClr val="000000"/>
                </a:solidFill>
                <a:latin typeface="Courier New"/>
              </a:rPr>
              <a:t>    EVIDENCE BASE</a:t>
            </a:r>
          </a:p>
          <a:p>
            <a:pPr/>
            <a:r>
              <a:rPr b="0" sz="1200">
                <a:solidFill>
                  <a:srgbClr val="000000"/>
                </a:solidFill>
                <a:latin typeface="Courier New"/>
              </a:rPr>
              <a:t>      Knowledge graph        | literature (admitted, hashed) → indicators → scored profiles</a:t>
            </a:r>
          </a:p>
          <a:p>
            <a:r>
              <a:rPr sz="800"/>
              <a:t/>
            </a:r>
          </a:p>
          <a:p>
            <a:pPr/>
            <a:r>
              <a:rPr b="0" sz="1400">
                <a:solidFill>
                  <a:srgbClr val="000000"/>
                </a:solidFill>
              </a:rPr>
              <a:t>Measurement feeds back into publication and release: failed evals and sensor warnings become remediation with re-test, not reports.</a:t>
            </a:r>
          </a:p>
          <a:p>
            <a:pPr/>
            <a:r>
              <a:rPr b="0" sz="1400">
                <a:solidFill>
                  <a:srgbClr val="000000"/>
                </a:solidFill>
              </a:rPr>
              <a:t>Every capability maps to indicator groups: publication ↔ A/B/G, access control ↔ A, release ↔ F, sensors ↔ AUTO tier, harness ↔ EVAL tier + E, telemetry ↔ the validation layer.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800">
                <a:solidFill>
                  <a:srgbClr val="000000"/>
                </a:solidFill>
              </a:rPr>
              <a:t>The public tier is runnable today (named tools per check)</a:t>
            </a:r>
          </a:p>
        </p:txBody>
      </p:sp>
      <p:sp>
        <p:nvSpPr>
          <p:cNvPr id="3" name="TextBox 2"/>
          <p:cNvSpPr txBox="1"/>
          <p:nvPr/>
        </p:nvSpPr>
        <p:spPr>
          <a:xfrm>
            <a:off x="457200" y="1325880"/>
            <a:ext cx="11274552" cy="5029200"/>
          </a:xfrm>
          <a:prstGeom prst="rect">
            <a:avLst/>
          </a:prstGeom>
          <a:noFill/>
        </p:spPr>
        <p:txBody>
          <a:bodyPr wrap="square">
            <a:spAutoFit/>
          </a:bodyPr>
          <a:lstStyle/>
          <a:p>
            <a:pPr/>
            <a:r>
              <a:rPr b="0" sz="1700">
                <a:solidFill>
                  <a:srgbClr val="000000"/>
                </a:solidFill>
              </a:rPr>
              <a:t>Metadata contract: DCAT-US v1.1/v3.0 JSON Schema validators against data.json — the exact contract powering Data.gov ingestion.</a:t>
            </a:r>
          </a:p>
          <a:p>
            <a:pPr/>
            <a:r>
              <a:rPr b="0" sz="1700">
                <a:solidFill>
                  <a:srgbClr val="000000"/>
                </a:solidFill>
              </a:rPr>
              <a:t>Structured markup: Schema.org Markup Validator on dataset and release pages (Dataset/DCAT/Croissant).</a:t>
            </a:r>
          </a:p>
          <a:p>
            <a:pPr/>
            <a:r>
              <a:rPr b="0" sz="1700">
                <a:solidFill>
                  <a:srgbClr val="000000"/>
                </a:solidFill>
              </a:rPr>
              <a:t>Crawler access: robots.txt checks against the maintained AI user-agent registries (training / search-index / user-fetch bot families per vendor); llms.txt validators.</a:t>
            </a:r>
          </a:p>
          <a:p>
            <a:pPr/>
            <a:r>
              <a:rPr b="0" sz="1700">
                <a:solidFill>
                  <a:srgbClr val="000000"/>
                </a:solidFill>
              </a:rPr>
              <a:t>FAIR baseline: F-UJI — open-source, automated FAIR scoring from a persistent identifier, hosted or self-deployed, REST API for bulk runs.</a:t>
            </a:r>
          </a:p>
          <a:p>
            <a:pPr/>
            <a:r>
              <a:rPr b="0" sz="1700">
                <a:solidFill>
                  <a:srgbClr val="000000"/>
                </a:solidFill>
              </a:rPr>
              <a:t>Parseability: axe-core / pa11y accessibility engines — semantic-structure failures degrade machine parsing, not just 508 compliance.</a:t>
            </a:r>
          </a:p>
          <a:p>
            <a:pPr/>
            <a:r>
              <a:rPr b="0" sz="1700">
                <a:solidFill>
                  <a:srgbClr val="000000"/>
                </a:solidFill>
              </a:rPr>
              <a:t>Plain language: readability graders on key explanatory text (Plain Writing Act obligation; lower grade level, less LLM distortion).</a:t>
            </a:r>
          </a:p>
          <a:p>
            <a:pPr/>
            <a:r>
              <a:rPr b="0" sz="1700">
                <a:solidFill>
                  <a:srgbClr val="000000"/>
                </a:solidFill>
              </a:rPr>
              <a:t>A working in-house reference implementation already exists: an evidence-emitting probe harness (now `assessment/harness/`, imported with its June 2026 history), run against a live Census product. Every probe returns pass/partial/fail and saves the actual response as evidence.</a:t>
            </a:r>
          </a:p>
          <a:p>
            <a:pPr/>
            <a:r>
              <a:rPr b="0" sz="1700">
                <a:solidFill>
                  <a:srgbClr val="000000"/>
                </a:solidFill>
              </a:rPr>
              <a:t>Caveat carried forward: presence of llms.txt signals intent, not readiness; absence is not disqualifying. No single convention is a readiness measure.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800">
                <a:solidFill>
                  <a:srgbClr val="000000"/>
                </a:solidFill>
              </a:rPr>
              <a:t>The sensor layer: the Machine Diagnostic</a:t>
            </a:r>
          </a:p>
        </p:txBody>
      </p:sp>
      <p:sp>
        <p:nvSpPr>
          <p:cNvPr id="3" name="TextBox 2"/>
          <p:cNvSpPr txBox="1"/>
          <p:nvPr/>
        </p:nvSpPr>
        <p:spPr>
          <a:xfrm>
            <a:off x="457200" y="1325880"/>
            <a:ext cx="11274552" cy="5029200"/>
          </a:xfrm>
          <a:prstGeom prst="rect">
            <a:avLst/>
          </a:prstGeom>
          <a:noFill/>
        </p:spPr>
        <p:txBody>
          <a:bodyPr wrap="square">
            <a:spAutoFit/>
          </a:bodyPr>
          <a:lstStyle/>
          <a:p>
            <a:pPr/>
            <a:r>
              <a:rPr b="0" sz="1800">
                <a:solidFill>
                  <a:srgbClr val="000000"/>
                </a:solidFill>
              </a:rPr>
              <a:t>A common FSS technical diagnostic (SME-drafted, in progress): deterministic, explainable checks over public web assets — pages, datasets, APIs, data tools.</a:t>
            </a:r>
          </a:p>
          <a:p>
            <a:pPr/>
            <a:r>
              <a:rPr b="0" sz="1800">
                <a:solidFill>
                  <a:srgbClr val="000000"/>
                </a:solidFill>
              </a:rPr>
              <a:t>Four sensed dimensions: discoverability; indexability &amp; retrievability; machine understandability &amp; citation readiness; ingestibility &amp; computational usability.</a:t>
            </a:r>
          </a:p>
          <a:p>
            <a:pPr/>
            <a:r>
              <a:rPr b="0" sz="1800">
                <a:solidFill>
                  <a:srgbClr val="000000"/>
                </a:solidFill>
              </a:rPr>
              <a:t>Two design patterns adopted into the instrument:</a:t>
            </a:r>
          </a:p>
          <a:p>
            <a:pPr lvl="1"/>
            <a:r>
              <a:rPr b="0" sz="1800">
                <a:solidFill>
                  <a:srgbClr val="000000"/>
                </a:solidFill>
              </a:rPr>
              <a:t>1. </a:t>
            </a:r>
            <a:r>
              <a:rPr b="1" sz="1800">
                <a:solidFill>
                  <a:srgbClr val="000000"/>
                </a:solidFill>
              </a:rPr>
              <a:t>Observed facts vs. versioned warning rules.</a:t>
            </a:r>
            <a:r>
              <a:rPr b="0" sz="1800">
                <a:solidFill>
                  <a:srgbClr val="000000"/>
                </a:solidFill>
              </a:rPr>
              <a:t> Raw observations stored separately from calculated warnings; thresholds change and history re-scores without re-crawling.</a:t>
            </a:r>
          </a:p>
          <a:p>
            <a:pPr lvl="1"/>
            <a:r>
              <a:rPr b="0" sz="1800">
                <a:solidFill>
                  <a:srgbClr val="000000"/>
                </a:solidFill>
              </a:rPr>
              <a:t>2. </a:t>
            </a:r>
            <a:r>
              <a:rPr b="1" sz="1800">
                <a:solidFill>
                  <a:srgbClr val="000000"/>
                </a:solidFill>
              </a:rPr>
              <a:t>Declared / enforced / observed access.</a:t>
            </a:r>
            <a:r>
              <a:rPr b="0" sz="1800">
                <a:solidFill>
                  <a:srgbClr val="000000"/>
                </a:solidFill>
              </a:rPr>
              <a:t> What robots.txt says vs. what the edge/WAF actually does vs. what crawler logs show. A mismatch between layers is itself the finding.</a:t>
            </a:r>
          </a:p>
          <a:p>
            <a:pPr/>
            <a:r>
              <a:rPr b="0" sz="1800">
                <a:solidFill>
                  <a:srgbClr val="000000"/>
                </a:solidFill>
              </a:rPr>
              <a:t>Applications get their own diagnostic path: statistical data tools are JS-heavy; deep-link failure, fragment-only state, soft-404 shells, and canonical collapse make a tool usable by humans and invisible to machines.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800">
                <a:solidFill>
                  <a:srgbClr val="000000"/>
                </a:solidFill>
              </a:rPr>
              <a:t>TEVV: the loop adjacent frameworks leave open</a:t>
            </a:r>
          </a:p>
        </p:txBody>
      </p:sp>
      <p:sp>
        <p:nvSpPr>
          <p:cNvPr id="3" name="TextBox 2"/>
          <p:cNvSpPr txBox="1"/>
          <p:nvPr/>
        </p:nvSpPr>
        <p:spPr>
          <a:xfrm>
            <a:off x="457200" y="1325880"/>
            <a:ext cx="11274552" cy="5029200"/>
          </a:xfrm>
          <a:prstGeom prst="rect">
            <a:avLst/>
          </a:prstGeom>
          <a:noFill/>
        </p:spPr>
        <p:txBody>
          <a:bodyPr wrap="square">
            <a:spAutoFit/>
          </a:bodyPr>
          <a:lstStyle/>
          <a:p>
            <a:pPr/>
            <a:r>
              <a:rPr b="0" sz="1800">
                <a:solidFill>
                  <a:srgbClr val="000000"/>
                </a:solidFill>
              </a:rPr>
              <a:t>Their accuracy machinery is real — review, audit trails, notifications — but nothing routes a failed evaluation back into the data product, and nothing attributes a failure to its stage.</a:t>
            </a:r>
          </a:p>
          <a:p>
            <a:pPr/>
            <a:r>
              <a:rPr b="0" sz="1800">
                <a:solidFill>
                  <a:srgbClr val="000000"/>
                </a:solidFill>
              </a:rPr>
              <a:t>The instrument closes it (NIST AI RMF MEASURE/MANAGE framing): verification/validation split; pre-registered acceptance thresholds; versioned instruments (results never pooled across versions); contamination policy with held-out rotation; seeded positive controls (a cycle with zero fired controls is invalid, not passing); failure attribution (retrieval / vintage / metadata / model); corrective-action closure with re-test; drift sentinels (versioned golden questions on schedule); standing adversarial bank (vintage traps, confusable series, unit traps, suppression probes).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800">
                <a:solidFill>
                  <a:srgbClr val="000000"/>
                </a:solidFill>
              </a:rPr>
              <a:t>Publication is a deploy</a:t>
            </a:r>
          </a:p>
        </p:txBody>
      </p:sp>
      <p:sp>
        <p:nvSpPr>
          <p:cNvPr id="3" name="TextBox 2"/>
          <p:cNvSpPr txBox="1"/>
          <p:nvPr/>
        </p:nvSpPr>
        <p:spPr>
          <a:xfrm>
            <a:off x="457200" y="1325880"/>
            <a:ext cx="11274552" cy="5029200"/>
          </a:xfrm>
          <a:prstGeom prst="rect">
            <a:avLst/>
          </a:prstGeom>
          <a:noFill/>
        </p:spPr>
        <p:txBody>
          <a:bodyPr wrap="square">
            <a:spAutoFit/>
          </a:bodyPr>
          <a:lstStyle/>
          <a:p>
            <a:pPr/>
            <a:r>
              <a:rPr b="0" sz="1800">
                <a:solidFill>
                  <a:srgbClr val="000000"/>
                </a:solidFill>
              </a:rPr>
              <a:t>A new vintage or page can silently break machine consumers. Software solved this: CI/CD, regression suites, contracts.</a:t>
            </a:r>
          </a:p>
          <a:p>
            <a:pPr/>
            <a:r>
              <a:rPr b="0" sz="1800">
                <a:solidFill>
                  <a:srgbClr val="000000"/>
                </a:solidFill>
              </a:rPr>
              <a:t>Release-engineering indicators: pre-release expectation gates; contract stability with deprecation windows; regression on vintage transition (series IDs, geography codes, endpoints survive — or a crosswalk ships); machine-readable changelogs; staged rollout with AI-consumer regression; signed releases / provenance attestation (SLSA-class) so downstream copies trace to the authoritative artifact.</a:t>
            </a:r>
          </a:p>
          <a:p>
            <a:pPr/>
            <a:r>
              <a:rPr b="0" sz="1800">
                <a:solidFill>
                  <a:srgbClr val="000000"/>
                </a:solidFill>
              </a:rPr>
              <a:t>Prior art: data contracts (ODCS), expectation-suite testing, schema registries, supply-chain attestation.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800">
                <a:solidFill>
                  <a:srgbClr val="000000"/>
                </a:solidFill>
              </a:rPr>
              <a:t>Flagship indicator: uncertainty legibility (G1)</a:t>
            </a:r>
          </a:p>
        </p:txBody>
      </p:sp>
      <p:sp>
        <p:nvSpPr>
          <p:cNvPr id="3" name="TextBox 2"/>
          <p:cNvSpPr txBox="1"/>
          <p:nvPr/>
        </p:nvSpPr>
        <p:spPr>
          <a:xfrm>
            <a:off x="457200" y="1325880"/>
            <a:ext cx="11274552" cy="5029200"/>
          </a:xfrm>
          <a:prstGeom prst="rect">
            <a:avLst/>
          </a:prstGeom>
          <a:noFill/>
        </p:spPr>
        <p:txBody>
          <a:bodyPr wrap="square">
            <a:spAutoFit/>
          </a:bodyPr>
          <a:lstStyle/>
          <a:p>
            <a:pPr/>
            <a:r>
              <a:rPr b="0" sz="1800">
                <a:solidFill>
                  <a:srgbClr val="000000"/>
                </a:solidFill>
              </a:rPr>
              <a:t>The statistical system's core differentiator is that its numbers carry error measures. No AI-readiness framework reviewed asks whether AI systems </a:t>
            </a:r>
            <a:r>
              <a:rPr b="1" sz="1800">
                <a:solidFill>
                  <a:srgbClr val="000000"/>
                </a:solidFill>
              </a:rPr>
              <a:t>preserve</a:t>
            </a:r>
            <a:r>
              <a:rPr b="0" sz="1800">
                <a:solidFill>
                  <a:srgbClr val="000000"/>
                </a:solidFill>
              </a:rPr>
              <a:t> uncertainty when restating values. Where uncertainty appears at all, it is framed as a privacy safeguard.</a:t>
            </a:r>
          </a:p>
          <a:p>
            <a:pPr/>
            <a:r>
              <a:rPr b="0" sz="1800">
                <a:solidFill>
                  <a:srgbClr val="000000"/>
                </a:solidFill>
              </a:rPr>
              <a:t>G1: MOEs, CVs, DP noise parameters published as structured fields beside estimates — not footnotes — plus an EVAL: do AI restatements carry the uncertainty?</a:t>
            </a:r>
          </a:p>
          <a:p>
            <a:pPr/>
            <a:r>
              <a:rPr b="0" sz="1800">
                <a:solidFill>
                  <a:srgbClr val="000000"/>
                </a:solidFill>
              </a:rPr>
              <a:t>Measurement template borrowed from the sensor layer's access triad: declared uncertainty (structured fields) vs. surfaced uncertainty (what retrieval delivers) vs. observed preservation (what restatements keep).</a:t>
            </a:r>
          </a:p>
          <a:p>
            <a:pPr/>
            <a:r>
              <a:rPr b="0" sz="1800">
                <a:solidFill>
                  <a:srgbClr val="000000"/>
                </a:solidFill>
              </a:rPr>
              <a:t>Standing rule for any mechanism, old or new: every mechanism is a hypothesis about how machines actually orient. What admits or retires one is observed machine behavior — crawler and edge logs, probe results, citation telemetry — never vintage. MCP/WebMCP-class endpoints are dated frontier candidates under exactly that rule, reported separately and never scored as core unreadiness.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800">
                <a:solidFill>
                  <a:srgbClr val="000000"/>
                </a:solidFill>
              </a:rPr>
              <a:t>How the pieces relate: the knowledge architecture</a:t>
            </a:r>
          </a:p>
        </p:txBody>
      </p:sp>
      <p:sp>
        <p:nvSpPr>
          <p:cNvPr id="3" name="TextBox 2"/>
          <p:cNvSpPr txBox="1"/>
          <p:nvPr/>
        </p:nvSpPr>
        <p:spPr>
          <a:xfrm>
            <a:off x="457200" y="1325880"/>
            <a:ext cx="11274552" cy="5029200"/>
          </a:xfrm>
          <a:prstGeom prst="rect">
            <a:avLst/>
          </a:prstGeom>
          <a:noFill/>
        </p:spPr>
        <p:txBody>
          <a:bodyPr wrap="square">
            <a:spAutoFit/>
          </a:bodyPr>
          <a:lstStyle/>
          <a:p>
            <a:pPr/>
            <a:r>
              <a:rPr b="0" sz="1800">
                <a:solidFill>
                  <a:srgbClr val="000000"/>
                </a:solidFill>
              </a:rPr>
              <a:t>The crosswalk is the join structure. Nothing floats:</a:t>
            </a:r>
          </a:p>
          <a:p>
            <a:r>
              <a:rPr sz="900"/>
              <a:t/>
            </a:r>
          </a:p>
          <a:p>
            <a:pPr/>
            <a:r>
              <a:rPr b="0" sz="1200">
                <a:solidFill>
                  <a:srgbClr val="000000"/>
                </a:solidFill>
                <a:latin typeface="Courier New"/>
              </a:rPr>
              <a:t>    Literature corpus  →  Extraction        →  Crosswalk           →  Instrument       →  Assessment</a:t>
            </a:r>
          </a:p>
          <a:p>
            <a:pPr/>
            <a:r>
              <a:rPr b="0" sz="1200">
                <a:solidFill>
                  <a:srgbClr val="000000"/>
                </a:solidFill>
                <a:latin typeface="Courier New"/>
              </a:rPr>
              <a:t>    (documents admitted   (claims, concepts,    (indicator evidence     (typed, tiered      (scored product</a:t>
            </a:r>
          </a:p>
          <a:p>
            <a:pPr/>
            <a:r>
              <a:rPr b="0" sz="1200">
                <a:solidFill>
                  <a:srgbClr val="000000"/>
                </a:solidFill>
                <a:latin typeface="Courier New"/>
              </a:rPr>
              <a:t>    with reasons and      definitions — each    cells: doc_id +         indicators,         profiles +</a:t>
            </a:r>
          </a:p>
          <a:p>
            <a:pPr/>
            <a:r>
              <a:rPr b="0" sz="1200">
                <a:solidFill>
                  <a:srgbClr val="000000"/>
                </a:solidFill>
                <a:latin typeface="Courier New"/>
              </a:rPr>
              <a:t>    content hashes)       with a verbatim       grounding span; empty   frozen versions)    gap lists)</a:t>
            </a:r>
          </a:p>
          <a:p>
            <a:pPr/>
            <a:r>
              <a:rPr b="0" sz="1200">
                <a:solidFill>
                  <a:srgbClr val="000000"/>
                </a:solidFill>
                <a:latin typeface="Courier New"/>
              </a:rPr>
              <a:t>                          grounding span)       cell = registered gap)</a:t>
            </a:r>
          </a:p>
          <a:p>
            <a:r>
              <a:rPr sz="900"/>
              <a:t/>
            </a:r>
          </a:p>
          <a:p>
            <a:pPr/>
            <a:r>
              <a:rPr b="0" sz="1800">
                <a:solidFill>
                  <a:srgbClr val="000000"/>
                </a:solidFill>
              </a:rPr>
              <a:t>Two loops close the system:</a:t>
            </a:r>
          </a:p>
          <a:p>
            <a:pPr lvl="1"/>
            <a:r>
              <a:rPr b="0" sz="1800">
                <a:solidFill>
                  <a:srgbClr val="000000"/>
                </a:solidFill>
              </a:rPr>
              <a:t>1. </a:t>
            </a:r>
            <a:r>
              <a:rPr b="1" sz="1800">
                <a:solidFill>
                  <a:srgbClr val="000000"/>
                </a:solidFill>
              </a:rPr>
              <a:t>Evidence loop</a:t>
            </a:r>
            <a:r>
              <a:rPr b="0" sz="1800">
                <a:solidFill>
                  <a:srgbClr val="000000"/>
                </a:solidFill>
              </a:rPr>
              <a:t> — empty evidence cells are registered gaps that target the next acquisition round. The corpus grows by measured demand, not by intuition.</a:t>
            </a:r>
          </a:p>
          <a:p>
            <a:pPr lvl="1"/>
            <a:r>
              <a:rPr b="0" sz="1800">
                <a:solidFill>
                  <a:srgbClr val="000000"/>
                </a:solidFill>
              </a:rPr>
              <a:t>2. </a:t>
            </a:r>
            <a:r>
              <a:rPr b="1" sz="1800">
                <a:solidFill>
                  <a:srgbClr val="000000"/>
                </a:solidFill>
              </a:rPr>
              <a:t>Remediation loop</a:t>
            </a:r>
            <a:r>
              <a:rPr b="0" sz="1800">
                <a:solidFill>
                  <a:srgbClr val="000000"/>
                </a:solidFill>
              </a:rPr>
              <a:t> — failed indicators on a product become corrective actions with re-test (the TEVV closure), and recurring failures across products become the improvement agenda fed back to framework authors.</a:t>
            </a:r>
          </a:p>
          <a:p>
            <a:pPr/>
            <a:r>
              <a:rPr b="0" sz="1800">
                <a:solidFill>
                  <a:srgbClr val="000000"/>
                </a:solidFill>
              </a:rPr>
              <a:t>The rule that makes the structure trustworthy: no cell filled without a document; no claim without a span; no number without its interval or its 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800">
                <a:solidFill>
                  <a:srgbClr val="000000"/>
                </a:solidFill>
              </a:rPr>
              <a:t>Evidence discipline: the instrument stands on a measured corpus</a:t>
            </a:r>
          </a:p>
        </p:txBody>
      </p:sp>
      <p:sp>
        <p:nvSpPr>
          <p:cNvPr id="3" name="TextBox 2"/>
          <p:cNvSpPr txBox="1"/>
          <p:nvPr/>
        </p:nvSpPr>
        <p:spPr>
          <a:xfrm>
            <a:off x="457200" y="1325880"/>
            <a:ext cx="11274552" cy="5029200"/>
          </a:xfrm>
          <a:prstGeom prst="rect">
            <a:avLst/>
          </a:prstGeom>
          <a:noFill/>
        </p:spPr>
        <p:txBody>
          <a:bodyPr wrap="square">
            <a:spAutoFit/>
          </a:bodyPr>
          <a:lstStyle/>
          <a:p>
            <a:pPr/>
            <a:r>
              <a:rPr b="0" sz="1800">
                <a:solidFill>
                  <a:srgbClr val="000000"/>
                </a:solidFill>
              </a:rPr>
              <a:t>Every indicator is citable to primary literature through a knowledge graph: 211 documents admitted with reasons and content hashes (17 of them G1-EVAL prior-art sources admitted 2026-09-02, not yet extracted); 35 of the 211 extracted under the version-pinned v038 profile across 1,198 chunks, putting 10,305 nodes and 11,914 edges into the live graph (18,844 non-document nodes and 22,141 edges across all extraction epochs, plus 211 document nodes).</a:t>
            </a:r>
          </a:p>
          <a:p>
            <a:pPr/>
            <a:r>
              <a:rPr b="0" sz="1800">
                <a:solidFill>
                  <a:srgbClr val="000000"/>
                </a:solidFill>
              </a:rPr>
              <a:t>Nothing enters without a verbatim grounding span. Every claim passed a pre-registered faithfulness gate (fabrication 95% upper bound &lt; 0.10); pooled over the burn, fabrication is 37 of 1,480 judged facts = 0.025, Wilson 95% [0.018, 0.034]. Of 15 batches judged by sequential acceptance sampling, 14 were accepted and 1 was sampling-inconclusive (33 admitted items, below the 55-fact minimum the plan needs to decide, so it stands under the pre-registered accept-with-flag rule); 0 rejected, 0 quarantined. Every quality number ships with its interval or its n — the graph practices G1's own discipline.</a:t>
            </a:r>
          </a:p>
          <a:p>
            <a:pPr/>
            <a:r>
              <a:rPr b="0" sz="1800">
                <a:solidFill>
                  <a:srgbClr val="000000"/>
                </a:solidFill>
              </a:rPr>
              <a:t>The measurement layer finds its own gaps: Group D (openness) names zero evidence documents. License clarity, AI-reuse terms, provenance, inventory completeness — thinnest slice of the corpus AND of the literature. A finding, not a bug: the next acquisition round is targeted by measurement, not intuition.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800">
                <a:solidFill>
                  <a:srgbClr val="000000"/>
                </a:solidFill>
              </a:rPr>
              <a:t>Positioning against prior art</a:t>
            </a:r>
          </a:p>
        </p:txBody>
      </p:sp>
      <p:sp>
        <p:nvSpPr>
          <p:cNvPr id="3" name="TextBox 2"/>
          <p:cNvSpPr txBox="1"/>
          <p:nvPr/>
        </p:nvSpPr>
        <p:spPr>
          <a:xfrm>
            <a:off x="457200" y="1325880"/>
            <a:ext cx="11274552" cy="5029200"/>
          </a:xfrm>
          <a:prstGeom prst="rect">
            <a:avLst/>
          </a:prstGeom>
          <a:noFill/>
        </p:spPr>
        <p:txBody>
          <a:bodyPr wrap="square">
            <a:spAutoFit/>
          </a:bodyPr>
          <a:lstStyle/>
          <a:p>
            <a:pPr/>
            <a:r>
              <a:rPr b="1" sz="1800">
                <a:solidFill>
                  <a:srgbClr val="000000"/>
                </a:solidFill>
              </a:rPr>
              <a:t>F-UJI / FAIR assessment tools:</a:t>
            </a:r>
            <a:r>
              <a:rPr b="0" sz="1800">
                <a:solidFill>
                  <a:srgbClr val="000000"/>
                </a:solidFill>
              </a:rPr>
              <a:t> genuine prior art for automated readiness scoring; adopted as the FAIR baseline, not rebuilt. This instrument's additions: statistical-native constructs (uncertainty, revisions, vintage identity, disclosure semantics), the TEVV loop, and AI-restatement EVALs — none of which FAIR scoring touches.</a:t>
            </a:r>
          </a:p>
          <a:p>
            <a:pPr/>
            <a:r>
              <a:rPr b="1" sz="1800">
                <a:solidFill>
                  <a:srgbClr val="000000"/>
                </a:solidFill>
              </a:rPr>
              <a:t>Commercial AI-visibility platforms</a:t>
            </a:r>
            <a:r>
              <a:rPr b="0" sz="1800">
                <a:solidFill>
                  <a:srgbClr val="000000"/>
                </a:solidFill>
              </a:rPr>
              <a:t> (Profound, Otterly, Rankscale class): the only current instruments for whether content surfaces in AI answers. Built for brand marketing; no validated methodology for government data. Used as directional signals in the paid tier, never as authoritative scores.</a:t>
            </a:r>
          </a:p>
          <a:p>
            <a:pPr/>
            <a:r>
              <a:rPr b="1" sz="1800">
                <a:solidFill>
                  <a:srgbClr val="000000"/>
                </a:solidFill>
              </a:rPr>
              <a:t>The June 2026 FSS assessment work (absorbed, not cited):</a:t>
            </a:r>
            <a:r>
              <a:rPr b="0" sz="1800">
                <a:solidFill>
                  <a:srgbClr val="000000"/>
                </a:solidFill>
              </a:rPr>
              <a:t> probe harness, benchmark rubric, three-stream assessment spec, covariate/peer-cohort schema. Imported into this repo with history as `assessment/`; the merged live design is `docs/crosswalk/assessment_protocol.md`. It is the AUTO-tier reference implementation rather than an external comparator.</a:t>
            </a:r>
          </a:p>
          <a:p>
            <a:pPr/>
            <a:r>
              <a:rPr b="1" sz="1800">
                <a:solidFill>
                  <a:srgbClr val="000000"/>
                </a:solidFill>
              </a:rPr>
              <a:t>Enterprise SEO suites:</a:t>
            </a:r>
            <a:r>
              <a:rPr b="0" sz="1800">
                <a:solidFill>
                  <a:srgbClr val="000000"/>
                </a:solidFill>
              </a:rPr>
              <a:t> commodity crawling is commodity. The specification is tool-neutral; agencies satisfy it with whatever their governance approves.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800">
                <a:solidFill>
                  <a:srgbClr val="000000"/>
                </a:solidFill>
              </a:rPr>
              <a:t>What's still missing (the honest slide)</a:t>
            </a:r>
          </a:p>
        </p:txBody>
      </p:sp>
      <p:sp>
        <p:nvSpPr>
          <p:cNvPr id="3" name="TextBox 2"/>
          <p:cNvSpPr txBox="1"/>
          <p:nvPr/>
        </p:nvSpPr>
        <p:spPr>
          <a:xfrm>
            <a:off x="457200" y="1325880"/>
            <a:ext cx="11274552" cy="5029200"/>
          </a:xfrm>
          <a:prstGeom prst="rect">
            <a:avLst/>
          </a:prstGeom>
          <a:noFill/>
        </p:spPr>
        <p:txBody>
          <a:bodyPr wrap="square">
            <a:spAutoFit/>
          </a:bodyPr>
          <a:lstStyle/>
          <a:p>
            <a:pPr/>
            <a:r>
              <a:rPr b="0" sz="1800">
                <a:solidFill>
                  <a:srgbClr val="000000"/>
                </a:solidFill>
              </a:rPr>
              <a:t>Four foundational layers no framework — including this one — has built yet:</a:t>
            </a:r>
          </a:p>
          <a:p>
            <a:r>
              <a:rPr sz="900"/>
              <a:t/>
            </a:r>
          </a:p>
          <a:p>
            <a:pPr/>
            <a:r>
              <a:rPr b="0" sz="1800">
                <a:solidFill>
                  <a:srgbClr val="000000"/>
                </a:solidFill>
              </a:rPr>
              <a:t>1. </a:t>
            </a:r>
            <a:r>
              <a:rPr b="1" sz="1800">
                <a:solidFill>
                  <a:srgbClr val="000000"/>
                </a:solidFill>
              </a:rPr>
              <a:t>Reuse semantics (FAIR's R).</a:t>
            </a:r>
            <a:r>
              <a:rPr b="0" sz="1800">
                <a:solidFill>
                  <a:srgbClr val="000000"/>
                </a:solidFill>
              </a:rPr>
              <a:t> All four openness indicators are gaps in corpus and literature alike. Machine-readable license/AI-training terms (RAIL, TDM-reservation class, PROV-O) are the field's thinnest layer.</a:t>
            </a:r>
          </a:p>
          <a:p>
            <a:pPr/>
            <a:r>
              <a:rPr b="0" sz="1800">
                <a:solidFill>
                  <a:srgbClr val="000000"/>
                </a:solidFill>
              </a:rPr>
              <a:t>2. </a:t>
            </a:r>
            <a:r>
              <a:rPr b="1" sz="1800">
                <a:solidFill>
                  <a:srgbClr val="000000"/>
                </a:solidFill>
              </a:rPr>
              <a:t>Consumption telemetry.</a:t>
            </a:r>
            <a:r>
              <a:rPr b="0" sz="1800">
                <a:solidFill>
                  <a:srgbClr val="000000"/>
                </a:solidFill>
              </a:rPr>
              <a:t> Everything above is supply-side or harness-side. Observed demand exists today for free — Data.gov's per-agency metrics dashboard (views, downloads, harvest cadence) — plus server-log AI-bot analysis; the paid tier adds AI-answer citation tracking. Readiness that never validates against observed use is an untested construct.</a:t>
            </a:r>
          </a:p>
          <a:p>
            <a:pPr/>
            <a:r>
              <a:rPr b="0" sz="1800">
                <a:solidFill>
                  <a:srgbClr val="000000"/>
                </a:solidFill>
              </a:rPr>
              <a:t>3. </a:t>
            </a:r>
            <a:r>
              <a:rPr b="1" sz="1800">
                <a:solidFill>
                  <a:srgbClr val="000000"/>
                </a:solidFill>
              </a:rPr>
              <a:t>System-level arbitration.</a:t>
            </a:r>
            <a:r>
              <a:rPr b="0" sz="1800">
                <a:solidFill>
                  <a:srgbClr val="000000"/>
                </a:solidFill>
              </a:rPr>
              <a:t> The instrument scores products one at a time. Nothing answers: which product, vintage, geography is the canonical machine answer? SDMX-class registries are the prior art; an AI-ready statistical *system* needs the registry layer.</a:t>
            </a:r>
          </a:p>
          <a:p>
            <a:pPr/>
            <a:r>
              <a:rPr b="0" sz="1800">
                <a:solidFill>
                  <a:srgbClr val="000000"/>
                </a:solidFill>
              </a:rPr>
              <a:t>4. </a:t>
            </a:r>
            <a:r>
              <a:rPr b="1" sz="1800">
                <a:solidFill>
                  <a:srgbClr val="000000"/>
                </a:solidFill>
              </a:rPr>
              <a:t>Consumer-side verifiability.</a:t>
            </a:r>
            <a:r>
              <a:rPr b="0" sz="1800">
                <a:solidFill>
                  <a:srgbClr val="000000"/>
                </a:solidFill>
              </a:rPr>
              <a:t> Signing releases is not enough; the consumer holding a cited number needs an affordance to verify it back to the authoritative artifact (C2PA-class content credentials, adapted to statistics). Without it, authority metadata is an assertion aggregators can copy.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11274552" cy="822960"/>
          </a:xfrm>
          <a:prstGeom prst="rect">
            <a:avLst/>
          </a:prstGeom>
          <a:noFill/>
        </p:spPr>
        <p:txBody>
          <a:bodyPr wrap="square">
            <a:spAutoFit/>
          </a:bodyPr>
          <a:lstStyle/>
          <a:p>
            <a:r>
              <a:rPr b="1" sz="2800">
                <a:solidFill>
                  <a:srgbClr val="000000"/>
                </a:solidFill>
              </a:rPr>
              <a:t>January deliverable and pilot</a:t>
            </a:r>
          </a:p>
        </p:txBody>
      </p:sp>
      <p:sp>
        <p:nvSpPr>
          <p:cNvPr id="3" name="TextBox 2"/>
          <p:cNvSpPr txBox="1"/>
          <p:nvPr/>
        </p:nvSpPr>
        <p:spPr>
          <a:xfrm>
            <a:off x="457200" y="1325880"/>
            <a:ext cx="11274552" cy="5029200"/>
          </a:xfrm>
          <a:prstGeom prst="rect">
            <a:avLst/>
          </a:prstGeom>
          <a:noFill/>
        </p:spPr>
        <p:txBody>
          <a:bodyPr wrap="square">
            <a:spAutoFit/>
          </a:bodyPr>
          <a:lstStyle/>
          <a:p>
            <a:pPr/>
            <a:r>
              <a:rPr b="0" sz="1800">
                <a:solidFill>
                  <a:srgbClr val="000000"/>
                </a:solidFill>
              </a:rPr>
              <a:t>Freeze indicator set v1 after one review pass (operator + 1–2 FCSM-adjacent colleagues).</a:t>
            </a:r>
          </a:p>
          <a:p>
            <a:pPr/>
            <a:r>
              <a:rPr b="0" sz="1800">
                <a:solidFill>
                  <a:srgbClr val="000000"/>
                </a:solidFill>
              </a:rPr>
              <a:t>Select 3–5 statistical data products spanning dissemination styles (API-first, table-page, bulk-file legacy).</a:t>
            </a:r>
          </a:p>
          <a:p>
            <a:pPr/>
            <a:r>
              <a:rPr b="0" sz="1800">
                <a:solidFill>
                  <a:srgbClr val="000000"/>
                </a:solidFill>
              </a:rPr>
              <a:t>Run AUTO mechanically; DOC by checklist; accuracy EVALs with a small fixed question set through existing probe/judge machinery.</a:t>
            </a:r>
          </a:p>
          <a:p>
            <a:pPr/>
            <a:r>
              <a:rPr b="0" sz="1800">
                <a:solidFill>
                  <a:srgbClr val="000000"/>
                </a:solidFill>
              </a:rPr>
              <a:t>Output per product: scored profile + gap list + citation trail. Gap lists across products = the improvement agenda.</a:t>
            </a:r>
          </a:p>
          <a:p>
            <a:pPr/>
            <a:r>
              <a:rPr b="0" sz="1800">
                <a:solidFill>
                  <a:srgbClr val="000000"/>
                </a:solidFill>
              </a:rPr>
              <a:t>`public` tier ships first; `agency_instrumented` piloted with willing partners; `paid` documented as roadmap with cost classes.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
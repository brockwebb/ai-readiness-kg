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280160"/>
            <a:ext cx="10698480" cy="2926080"/>
          </a:xfrm>
          <a:prstGeom prst="rect">
            <a:avLst/>
          </a:prstGeom>
          <a:noFill/>
        </p:spPr>
        <p:txBody>
          <a:bodyPr wrap="square">
            <a:spAutoFit/>
          </a:bodyPr>
          <a:lstStyle/>
          <a:p>
            <a:r>
              <a:rPr b="1" sz="3000">
                <a:solidFill>
                  <a:srgbClr val="000000"/>
                </a:solidFill>
              </a:rPr>
              <a:t>The brief deck: appendix</a:t>
            </a:r>
          </a:p>
        </p:txBody>
      </p:sp>
      <p:sp>
        <p:nvSpPr>
          <p:cNvPr id="3" name="TextBox 2"/>
          <p:cNvSpPr txBox="1"/>
          <p:nvPr/>
        </p:nvSpPr>
        <p:spPr>
          <a:xfrm>
            <a:off x="731520" y="4480560"/>
            <a:ext cx="10698480" cy="1645920"/>
          </a:xfrm>
          <a:prstGeom prst="rect">
            <a:avLst/>
          </a:prstGeom>
          <a:noFill/>
        </p:spPr>
        <p:txBody>
          <a:bodyPr wrap="square">
            <a:spAutoFit/>
          </a:bodyPr>
          <a:lstStyle/>
          <a:p>
            <a:r>
              <a:rPr b="0" sz="1800">
                <a:solidFill>
                  <a:srgbClr val="000000"/>
                </a:solidFill>
              </a:rPr>
              <a:t>2026-09-24 · pack commit 12d578c3a02b · cycle of record scan_2026-09-10_rj4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Every rule version ever shipped (rules.REGISTRY, 54 versions), of which 24 are current: the rule a new cycle judges with.</a:t>
            </a:r>
          </a:p>
          <a:p>
            <a:r>
              <a:rPr sz="900"/>
              <a:t/>
            </a:r>
          </a:p>
          <a:p>
            <a:pPr/>
            <a:r>
              <a:rPr b="0" sz="1800">
                <a:solidFill>
                  <a:srgbClr val="000000"/>
                </a:solidFill>
              </a:rPr>
              <a:t>One slide per indicator sheet, one per rule group, and one corpus summary follow, generated from the pack when the deck is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A1: Product available as structured data (CSV/JSON/parquet), not PDF-only</a:t>
            </a:r>
          </a:p>
          <a:p>
            <a:r>
              <a:rPr sz="800"/>
              <a:t/>
            </a:r>
          </a:p>
          <a:p>
            <a:pPr/>
            <a:r>
              <a:rPr b="0" sz="1400">
                <a:solidFill>
                  <a:srgbClr val="000000"/>
                </a:solidFill>
              </a:rPr>
              <a:t>Record node ind:A1.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Machine-readable formats</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A1: RULE-A1-v4</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spec:A1</a:t>
            </a:r>
          </a:p>
          <a:p>
            <a:r>
              <a:rPr sz="800"/>
              <a:t/>
            </a:r>
          </a:p>
          <a:p>
            <a:pPr/>
            <a:r>
              <a:rPr b="0" sz="1400">
                <a:solidFill>
                  <a:srgbClr val="000000"/>
                </a:solidFill>
              </a:rPr>
              <a:t>collector: httpx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httpx&gt;=0.27</a:t>
            </a:r>
          </a:p>
          <a:p>
            <a:pPr/>
            <a:r>
              <a:rPr b="0" sz="1400">
                <a:solidFill>
                  <a:srgbClr val="000000"/>
                </a:solidFill>
              </a:rPr>
              <a:t>evidence_kind: response headers + link list + body sha256</a:t>
            </a:r>
          </a:p>
          <a:p>
            <a:pPr/>
            <a:r>
              <a:rPr b="0" sz="1400">
                <a:solidFill>
                  <a:srgbClr val="000000"/>
                </a:solidFill>
              </a:rPr>
              <a:t>indicator_code: A1</a:t>
            </a:r>
          </a:p>
          <a:p>
            <a:pPr/>
            <a:r>
              <a:rPr b="0" sz="1400">
                <a:solidFill>
                  <a:srgbClr val="000000"/>
                </a:solidFill>
              </a:rPr>
              <a:t>leg: A1</a:t>
            </a:r>
          </a:p>
          <a:p>
            <a:pPr/>
            <a:r>
              <a:rPr b="0" sz="1400">
                <a:solidFill>
                  <a:srgbClr val="000000"/>
                </a:solidFill>
              </a:rPr>
              <a:t>mode: auto</a:t>
            </a:r>
          </a:p>
          <a:p>
            <a:pPr/>
            <a:r>
              <a:rPr b="0" sz="1400">
                <a:solidFill>
                  <a:srgbClr val="000000"/>
                </a:solidFill>
              </a:rPr>
              <a:t>prior_art: usafacts-ai-ready-data-guide</a:t>
            </a:r>
          </a:p>
          <a:p>
            <a:pPr/>
            <a:r>
              <a:rPr b="0" sz="1400">
                <a:solidFill>
                  <a:srgbClr val="000000"/>
                </a:solidFill>
              </a:rPr>
              <a:t>rule_id: RULE-A1-v4</a:t>
            </a:r>
          </a:p>
          <a:p>
            <a:pPr/>
            <a:r>
              <a:rPr b="0" sz="1400">
                <a:solidFill>
                  <a:srgbClr val="000000"/>
                </a:solidFill>
              </a:rPr>
              <a:t>signal: HTTP GET the product page; extract every download link; for each, HEAD and read Content-Type and file extension. Structured iff any of csv/json/parquet/xlsx/xml; PDF-only iff every link is application/pdf.</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foundations-for-evidence-based-policymaking-act-of-2018-evid · federal · Foundations for Evidence-Based Policymaking Act of 2018 (Evidence Act) · Title II, the OPEN Government Data Act, amending 44 U.S.C. 3502: paragraph 18 defines machine-readable as "data in a format that can be easily processed by a computer without human intervention while ensuring no semantic meaning is lost", and paragraph 20 requires an open Government data asset to be machine-readable and available in an open format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m-25-05-phase-2-implementation-of-the-evidence-act-open-gove · federal · M-25-05: Phase 2 Implementation of the Evidence Act — Open Government Data Access and Management · section 5, attributes generally required for public data assets, i. Machine-Readable: "agencies must make each of their public data assets machine-readable", with the worked example that tabular data "should not provide this data as a scanned image or image-based PDF document, but rather should provide that public data asset in an appropriate format e.g. in a character-delimited format such as a CSV file"</a:t>
            </a:r>
          </a:p>
          <a:p>
            <a:pPr/>
            <a:r>
              <a:rPr b="0" sz="1400">
                <a:solidFill>
                  <a:srgbClr val="000000"/>
                </a:solidFill>
              </a:rPr>
              <a:t>w3c-dwbp-2017 · standard · Data on the Web Best Practices (W3C Recommendation, 31 January 2017) · BP 12, use machine-readable standardized data formats: "make data available in a machine-readable, standardized data format that is well suited to its intended or potential use", implemented as "CSV, XML, HDF5, JSON and RDF serialization syntaxes" and tested by "check if the data format conforms to a known machine-readable data format specification"; and BP 14, provide data in multiple formats, the not-PDF-only half</a:t>
            </a:r>
          </a:p>
          <a:p>
            <a:r>
              <a:rPr sz="800"/>
              <a:t/>
            </a:r>
          </a:p>
          <a:p>
            <a:pPr/>
            <a:r>
              <a:rPr b="0" sz="1400">
                <a:solidFill>
                  <a:srgbClr val="000000"/>
                </a:solidFill>
              </a:rPr>
              <a:t>Evidence cell, verbatim:</a:t>
            </a:r>
          </a:p>
          <a:p>
            <a:r>
              <a:rPr sz="800"/>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w3c-dwbp-2017 (BP 12, use machine-readable standardized data formats: "make data available in a machine-readable, standardized data format that is well suited to its intended or potential use", implemented as "CSV, XML, HDF5, JSON and RDF serialization syntaxes" and tested by "check if the data format conforms to a known machine-readable data format specification"; and BP 14, provide data in multiple formats, the not-PDF-only half); foundations-for-evidence-based-policymaking-act-of-2018-evid (Title II, the OPEN Government Data Act, amending 44 U.S.C. 3502: paragraph 18 defines machine-readable as "data in a format that can be easily processed by a computer without human intervention while ensuring no semantic meaning is lost", and paragraph 20 requires an open Government data asset to be machine-readable and available in an open format); m-25-05-phase-2-implementation-of-the-evidence-act-open-gove (section 5, attributes generally required for public data assets, i. Machine-Readable: "agencies must make each of their public data assets machine-readable", with the worked example that tabular data "should not provide this data as a scanned image or image-based PDF document, but rather should provide that public data asset in an appropriate format e.g. in a character-delimited format such as a CSV file"); the Commerce GenAI-Open-Data guidance named in this cell's earlier gap is still acquisition_blocked, batch-017, and is not what any of the three above stands in for</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act:a1-publish-a-structured-distribution · Publish the product as a structured download beside the PDF · only_pdf · RULE-A1-v4 · days · staff_time</a:t>
            </a:r>
          </a:p>
          <a:p>
            <a:pPr/>
            <a:r>
              <a:rPr b="0" sz="1400">
                <a:solidFill>
                  <a:srgbClr val="000000"/>
                </a:solidFill>
              </a:rPr>
              <a:t>act:a1-serve-the-data-files-with-their-own-media-type · Link a data file from the product page and serve it with its own media type · no_structured_link · RULE-A1-v4 · weeks · staff_time</a:t>
            </a:r>
          </a:p>
          <a:p>
            <a:r>
              <a:rPr sz="800"/>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A1 · product · 0 · 19 · 0 · 4 · 23</a:t>
            </a:r>
          </a:p>
          <a:p>
            <a:r>
              <a:rPr sz="800"/>
              <a:t/>
            </a:r>
          </a:p>
          <a:p>
            <a:pPr/>
            <a:r>
              <a:rPr b="1" sz="1400">
                <a:solidFill>
                  <a:srgbClr val="000000"/>
                </a:solidFill>
              </a:rPr>
              <a:t>Other record fields</a:t>
            </a:r>
          </a:p>
          <a:p>
            <a:r>
              <a:rPr sz="800"/>
              <a:t/>
            </a:r>
          </a:p>
          <a:p>
            <a:pPr/>
            <a:r>
              <a:rPr b="0" sz="1400">
                <a:solidFill>
                  <a:srgbClr val="000000"/>
                </a:solidFill>
              </a:rPr>
              <a:t>measured_by: {"counts": {"error": 3, "fail": 23, "not_applicable": 0, "pass": 0}, "cycle": "scan_2026-09-07", "definition": "at least one pass/fail/not_applicable Finding on an admitted, observable surface in a cycle with fired controls; error does not count", "legs": ["A1"],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rules.CURRENT['A1'] = RULE-A1-v4 (assessment/harness/scan/rules/__init__.py); measurement spec spec:A1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A2: Documented public API; auth model; rate limits stated</a:t>
            </a:r>
          </a:p>
          <a:p>
            <a:r>
              <a:rPr sz="800"/>
              <a:t/>
            </a:r>
          </a:p>
          <a:p>
            <a:pPr/>
            <a:r>
              <a:rPr b="0" sz="1400">
                <a:solidFill>
                  <a:srgbClr val="000000"/>
                </a:solidFill>
              </a:rPr>
              <a:t>Record node ind:A2.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Programmatic access</a:t>
            </a:r>
          </a:p>
          <a:p>
            <a:pPr/>
            <a:r>
              <a:rPr b="0" sz="1400">
                <a:solidFill>
                  <a:srgbClr val="000000"/>
                </a:solidFill>
              </a:rPr>
              <a:t>type: AUTO/DOC</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A2: RULE-A2-v3</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spec:A2</a:t>
            </a:r>
          </a:p>
          <a:p>
            <a:r>
              <a:rPr sz="800"/>
              <a:t/>
            </a:r>
          </a:p>
          <a:p>
            <a:pPr/>
            <a:r>
              <a:rPr b="0" sz="1400">
                <a:solidFill>
                  <a:srgbClr val="000000"/>
                </a:solidFill>
              </a:rPr>
              <a:t>collector: httpx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httpx&gt;=0.27</a:t>
            </a:r>
          </a:p>
          <a:p>
            <a:pPr/>
            <a:r>
              <a:rPr b="0" sz="1400">
                <a:solidFill>
                  <a:srgbClr val="000000"/>
                </a:solidFill>
              </a:rPr>
              <a:t>evidence_kind: OpenAPI document + response headers</a:t>
            </a:r>
          </a:p>
          <a:p>
            <a:pPr/>
            <a:r>
              <a:rPr b="0" sz="1400">
                <a:solidFill>
                  <a:srgbClr val="000000"/>
                </a:solidFill>
              </a:rPr>
              <a:t>fuji_metric: FsF-A1-03D</a:t>
            </a:r>
          </a:p>
          <a:p>
            <a:pPr/>
            <a:r>
              <a:rPr b="0" sz="1400">
                <a:solidFill>
                  <a:srgbClr val="000000"/>
                </a:solidFill>
              </a:rPr>
              <a:t>indicator_code: A2</a:t>
            </a:r>
          </a:p>
          <a:p>
            <a:pPr/>
            <a:r>
              <a:rPr b="0" sz="1400">
                <a:solidFill>
                  <a:srgbClr val="000000"/>
                </a:solidFill>
              </a:rPr>
              <a:t>leg: A2</a:t>
            </a:r>
          </a:p>
          <a:p>
            <a:pPr/>
            <a:r>
              <a:rPr b="0" sz="1400">
                <a:solidFill>
                  <a:srgbClr val="000000"/>
                </a:solidFill>
              </a:rPr>
              <a:t>mode: auto</a:t>
            </a:r>
          </a:p>
          <a:p>
            <a:pPr/>
            <a:r>
              <a:rPr b="0" sz="1400">
                <a:solidFill>
                  <a:srgbClr val="000000"/>
                </a:solidFill>
              </a:rPr>
              <a:t>prior_art: w3c-dwbp-2017</a:t>
            </a:r>
          </a:p>
          <a:p>
            <a:pPr/>
            <a:r>
              <a:rPr b="0" sz="1400">
                <a:solidFill>
                  <a:srgbClr val="000000"/>
                </a:solidFill>
              </a:rPr>
              <a:t>rule_id: RULE-A2-v3</a:t>
            </a:r>
          </a:p>
          <a:p>
            <a:pPr/>
            <a:r>
              <a:rPr b="0" sz="1400">
                <a:solidFill>
                  <a:srgbClr val="000000"/>
                </a:solidFill>
              </a:rPr>
              <a:t>signal: HTTP GET the documented API base and any OpenAPI/Swagger document; record auth scheme, declared rate limits, and whether the description is machine-readable.</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action · title · outcome · rule · effort · cost</a:t>
            </a:r>
          </a:p>
          <a:p>
            <a:pPr/>
            <a:r>
              <a:rPr b="0" sz="1400">
                <a:solidFill>
                  <a:srgbClr val="000000"/>
                </a:solidFill>
              </a:rPr>
              <a:t>act:a2-expose-an-api-and-publish-its-description · Expose the product through an API and publish the API's description · no_api_description · RULE-A2-v3 · quarter · procurement</a:t>
            </a:r>
          </a:p>
          <a:p>
            <a:pPr/>
            <a:r>
              <a:rPr b="0" sz="1400">
                <a:solidFill>
                  <a:srgbClr val="000000"/>
                </a:solidFill>
              </a:rPr>
              <a:t>act:a2-serve-a-parseable-api-description-at-the-documented-path · Serve a parseable OpenAPI description where the API is documented · served_but_not_an_api_description · RULE-A2-v3 · days · staff_time</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tool:openapi-spec-validator · open_source · coverage · openapi_spec_validator · the served API description validated against the OpenAPI schema</a:t>
            </a:r>
          </a:p>
          <a:p>
            <a:pPr/>
            <a:r>
              <a:rPr b="0" sz="1400">
                <a:solidFill>
                  <a:srgbClr val="000000"/>
                </a:solidFill>
              </a:rPr>
              <a:t>tool:prance · open_source · coverage · prance · the served API description validated against the OpenAPI schema</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A2 · product · 0 · 20 · 0 · 3 · 23</a:t>
            </a:r>
          </a:p>
          <a:p>
            <a:r>
              <a:rPr sz="800"/>
              <a:t/>
            </a:r>
          </a:p>
          <a:p>
            <a:pPr/>
            <a:r>
              <a:rPr b="1" sz="1400">
                <a:solidFill>
                  <a:srgbClr val="000000"/>
                </a:solidFill>
              </a:rPr>
              <a:t>Other record fields</a:t>
            </a:r>
          </a:p>
          <a:p>
            <a:r>
              <a:rPr sz="800"/>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measured_by: {"counts": {"error": 3, "fail": 23, "not_applicable": 0, "pass": 0}, "cycle": "scan_2026-09-07", "definition": "at least one pass/fail/not_applicable Finding on an admitted, observable surface in a cycle with fired controls; error does not count", "legs": ["A2"],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rules.CURRENT['A2'] = RULE-A2-v3 (assessment/harness/scan/rules/__init__.py); measurement spec spec:A2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A3: Full-product bulk download exists and is linked from product page</a:t>
            </a:r>
          </a:p>
          <a:p>
            <a:r>
              <a:rPr sz="800"/>
              <a:t/>
            </a:r>
          </a:p>
          <a:p>
            <a:pPr/>
            <a:r>
              <a:rPr b="0" sz="1400">
                <a:solidFill>
                  <a:srgbClr val="000000"/>
                </a:solidFill>
              </a:rPr>
              <a:t>Record node ind:A3.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Bulk access</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A3: RULE-A3-v6</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spec:A3</a:t>
            </a:r>
          </a:p>
          <a:p>
            <a:r>
              <a:rPr sz="800"/>
              <a:t/>
            </a:r>
          </a:p>
          <a:p>
            <a:pPr/>
            <a:r>
              <a:rPr b="0" sz="1400">
                <a:solidFill>
                  <a:srgbClr val="000000"/>
                </a:solidFill>
              </a:rPr>
              <a:t>collector: scrapy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scrapy&gt;=2.11</a:t>
            </a:r>
          </a:p>
          <a:p>
            <a:pPr/>
            <a:r>
              <a:rPr b="0" sz="1400">
                <a:solidFill>
                  <a:srgbClr val="000000"/>
                </a:solidFill>
              </a:rPr>
              <a:t>evidence_kind: link graph + Content-Length per candidate</a:t>
            </a:r>
          </a:p>
          <a:p>
            <a:pPr/>
            <a:r>
              <a:rPr b="0" sz="1400">
                <a:solidFill>
                  <a:srgbClr val="000000"/>
                </a:solidFill>
              </a:rPr>
              <a:t>indicator_code: A3</a:t>
            </a:r>
          </a:p>
          <a:p>
            <a:pPr/>
            <a:r>
              <a:rPr b="0" sz="1400">
                <a:solidFill>
                  <a:srgbClr val="000000"/>
                </a:solidFill>
              </a:rPr>
              <a:t>leg: A3</a:t>
            </a:r>
          </a:p>
          <a:p>
            <a:pPr/>
            <a:r>
              <a:rPr b="0" sz="1400">
                <a:solidFill>
                  <a:srgbClr val="000000"/>
                </a:solidFill>
              </a:rPr>
              <a:t>mode: auto</a:t>
            </a:r>
          </a:p>
          <a:p>
            <a:pPr/>
            <a:r>
              <a:rPr b="0" sz="1400">
                <a:solidFill>
                  <a:srgbClr val="000000"/>
                </a:solidFill>
              </a:rPr>
              <a:t>prior_art: w3c-dwbp-2017</a:t>
            </a:r>
          </a:p>
          <a:p>
            <a:pPr/>
            <a:r>
              <a:rPr b="0" sz="1400">
                <a:solidFill>
                  <a:srgbClr val="000000"/>
                </a:solidFill>
              </a:rPr>
              <a:t>rule_id: RULE-A3-v6</a:t>
            </a:r>
          </a:p>
          <a:p>
            <a:pPr/>
            <a:r>
              <a:rPr b="0" sz="1400">
                <a:solidFill>
                  <a:srgbClr val="000000"/>
                </a:solidFill>
              </a:rPr>
              <a:t>signal: Crawl the product page one hop; classify links as bulk (whole-product archive or full dataset file) vs filtered query.</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dcat-us-1-1-schema · federal · DCAT-US Schema v1.1 (Project Open Data Metadata Schema) - resources.data.gov · distribution → downloadURL, "must be the </a:t>
            </a:r>
            <a:r>
              <a:rPr b="1" sz="1400">
                <a:solidFill>
                  <a:srgbClr val="000000"/>
                </a:solidFill>
              </a:rPr>
              <a:t>direct</a:t>
            </a:r>
            <a:r>
              <a:rPr b="0" sz="1400">
                <a:solidFill>
                  <a:srgbClr val="000000"/>
                </a:solidFill>
              </a:rPr>
              <a:t> download URL", distinguished there from accessURL, which is an indirect means of access; the Project Open Data metadata schema whose implementation guidance is OMB M-13-13</a:t>
            </a:r>
          </a:p>
          <a:p>
            <a:pPr/>
            <a:r>
              <a:rPr b="0" sz="1400">
                <a:solidFill>
                  <a:srgbClr val="000000"/>
                </a:solidFill>
              </a:rPr>
              <a:t>w3c-dwbp-2017 · standard · Data on the Web Best Practices (W3C Recommendation, 31 January 2017) · BP 17, provide bulk download: "enable consumers to retrieve the full dataset with a single request"</a:t>
            </a:r>
          </a:p>
          <a:p>
            <a:pPr/>
            <a:r>
              <a:rPr b="0" sz="1400">
                <a:solidFill>
                  <a:srgbClr val="000000"/>
                </a:solidFill>
              </a:rPr>
              <a:t>wilkinson-2016-fair-guiding-principles · academic · The FAIR Guiding Principles for scientific data management and stewardship · A1 and A1.1: retrievable by their identifier using a standardized communications protocol that is open, free, and universally implementable</a:t>
            </a:r>
          </a:p>
          <a:p>
            <a:r>
              <a:rPr sz="800"/>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Evidence cell, verbatim:</a:t>
            </a:r>
          </a:p>
          <a:p>
            <a:r>
              <a:rPr sz="800"/>
              <a:t/>
            </a:r>
          </a:p>
          <a:p>
            <a:pPr/>
            <a:r>
              <a:rPr b="0" sz="1400">
                <a:solidFill>
                  <a:srgbClr val="000000"/>
                </a:solidFill>
              </a:rPr>
              <a:t>w3c-dwbp-2017 (BP 17, provide bulk download: "enable consumers to retrieve the full dataset with a single request"); wilkinson-2016-fair-guiding-principles (A1 and A1.1: retrievable by their identifier using a standardized communications protocol that is open, free, and universally implementable); dcat-us-1-1-schema (distribution → downloadURL, "must be the </a:t>
            </a:r>
            <a:r>
              <a:rPr b="1" sz="1400">
                <a:solidFill>
                  <a:srgbClr val="000000"/>
                </a:solidFill>
              </a:rPr>
              <a:t>direct</a:t>
            </a:r>
            <a:r>
              <a:rPr b="0" sz="1400">
                <a:solidFill>
                  <a:srgbClr val="000000"/>
                </a:solidFill>
              </a:rPr>
              <a:t> download URL", distinguished there from accessURL, which is an indirect means of access; the Project Open Data metadata schema whose implementation guidance is OMB M-13-13)</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act:a3-add-a-whole-product-download-beside-the-query-builder · Add a whole-product download beside the query builder · filtered_query_not_whole_product · RULE-A3-v6 · days · staff_time</a:t>
            </a:r>
          </a:p>
          <a:p>
            <a:pPr/>
            <a:r>
              <a:rPr b="0" sz="1400">
                <a:solidFill>
                  <a:srgbClr val="000000"/>
                </a:solidFill>
              </a:rPr>
              <a:t>act:a3-link-a-bulk-download-from-the-product-page · Link a bulk download of the product from the product page · no_whole_product_download · RULE-A3-v6 · days · staff_time</a:t>
            </a:r>
          </a:p>
          <a:p>
            <a:pPr/>
            <a:r>
              <a:rPr b="0" sz="1400">
                <a:solidFill>
                  <a:srgbClr val="000000"/>
                </a:solidFill>
              </a:rPr>
              <a:t>act:a3-publish-the-complete-file-not-a-sample · Publish the complete product, not a sample extract · below_bulk_floor · RULE-A3-v6 · days · staff_time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appendix/indicator_A3.md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A3 · product · 4 · 10 · 0 · 9 · 23</a:t>
            </a:r>
          </a:p>
          <a:p>
            <a:r>
              <a:rPr sz="800"/>
              <a:t/>
            </a:r>
          </a:p>
          <a:p>
            <a:pPr/>
            <a:r>
              <a:rPr b="1" sz="1400">
                <a:solidFill>
                  <a:srgbClr val="000000"/>
                </a:solidFill>
              </a:rPr>
              <a:t>Other record fields</a:t>
            </a:r>
          </a:p>
          <a:p>
            <a:r>
              <a:rPr sz="800"/>
              <a:t/>
            </a:r>
          </a:p>
          <a:p>
            <a:pPr/>
            <a:r>
              <a:rPr b="0" sz="1400">
                <a:solidFill>
                  <a:srgbClr val="000000"/>
                </a:solidFill>
              </a:rPr>
              <a:t>measured_by: {"counts": {"error": 3, "fail": 19, "not_applicable": 0, "pass": 4}, "cycle": "scan_2026-09-07", "definition": "at least one pass/fail/not_applicable Finding on an admitted, observable surface in a cycle with fired controls; error does not count", "legs": ["A3"],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rules.CURRENT['A3'] = RULE-A3-v6 (assessment/harness/scan/rules/__init__.py); measurement spec spec:A3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A4: robots.txt + AI-crawler policy permit retrieval; no soft-blocks on data paths</a:t>
            </a:r>
          </a:p>
          <a:p>
            <a:r>
              <a:rPr sz="800"/>
              <a:t/>
            </a:r>
          </a:p>
          <a:p>
            <a:pPr/>
            <a:r>
              <a:rPr b="0" sz="1400">
                <a:solidFill>
                  <a:srgbClr val="000000"/>
                </a:solidFill>
              </a:rPr>
              <a:t>Record node ind:A4.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Crawler/agent access</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A4: RULE-A4-v1</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spec:A4</a:t>
            </a:r>
          </a:p>
          <a:p>
            <a:r>
              <a:rPr sz="800"/>
              <a:t/>
            </a:r>
          </a:p>
          <a:p>
            <a:pPr/>
            <a:r>
              <a:rPr b="0" sz="1400">
                <a:solidFill>
                  <a:srgbClr val="000000"/>
                </a:solidFill>
              </a:rPr>
              <a:t>collector: protego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protego&gt;=0.3</a:t>
            </a:r>
          </a:p>
          <a:p>
            <a:pPr/>
            <a:r>
              <a:rPr b="0" sz="1400">
                <a:solidFill>
                  <a:srgbClr val="000000"/>
                </a:solidFill>
              </a:rPr>
              <a:t>decision: {"alternative": "Read A4 as a compliance question and absence becomes pass. If the operator prefers that reading it is a v2, not an edit.", "decided_by": "RULE-A4-v1", "decision": "Absence is fail. RFC 9309 is clear that absence PERMITS retrieval, so a rule reading the crawler's question would return pass; A4 does not ask what a crawler may do, it asks whether the agency has DECLARED a policy, and a host that has declared nothing has not declared permission. The reading matters: it flips the verdict on every real surface with no robots.txt and no soft-blocks, and both control fixtures land on their stated verdicts either way.", "question": "The signal says to fetch and evaluate robots.txt but does not settle the verdict when no robots.txt is served at all.", "recorded_by": "cc_tasks/2026-09-06_scan_targets.md", "why_here": "The review returned spec_underspecified: a different reasonable implementation would return a different verdict on some real surface, and neither control fixture can see the difference."}</a:t>
            </a:r>
          </a:p>
          <a:p>
            <a:pPr/>
            <a:r>
              <a:rPr b="0" sz="1400">
                <a:solidFill>
                  <a:srgbClr val="000000"/>
                </a:solidFill>
              </a:rPr>
              <a:t>evidence_kind: robots.txt body + sha256 + per-UA verdict</a:t>
            </a:r>
          </a:p>
          <a:p>
            <a:pPr/>
            <a:r>
              <a:rPr b="0" sz="1400">
                <a:solidFill>
                  <a:srgbClr val="000000"/>
                </a:solidFill>
              </a:rPr>
              <a:t>indicator_code: A4</a:t>
            </a:r>
          </a:p>
          <a:p>
            <a:pPr/>
            <a:r>
              <a:rPr b="0" sz="1400">
                <a:solidFill>
                  <a:srgbClr val="000000"/>
                </a:solidFill>
              </a:rPr>
              <a:t>leg: A4</a:t>
            </a:r>
          </a:p>
          <a:p>
            <a:pPr/>
            <a:r>
              <a:rPr b="0" sz="1400">
                <a:solidFill>
                  <a:srgbClr val="000000"/>
                </a:solidFill>
              </a:rPr>
              <a:t>mode: auto</a:t>
            </a:r>
          </a:p>
          <a:p>
            <a:pPr/>
            <a:r>
              <a:rPr b="0" sz="1400">
                <a:solidFill>
                  <a:srgbClr val="000000"/>
                </a:solidFill>
              </a:rPr>
              <a:t>prior_art: rfc-9309-robots-exclusion-protocol; openai-crawlers-bots</a:t>
            </a:r>
          </a:p>
          <a:p>
            <a:pPr/>
            <a:r>
              <a:rPr b="0" sz="1400">
                <a:solidFill>
                  <a:srgbClr val="000000"/>
                </a:solidFill>
              </a:rPr>
              <a:t>rule_id: RULE-A4-v1</a:t>
            </a:r>
          </a:p>
          <a:p>
            <a:pPr/>
            <a:r>
              <a:rPr b="0" sz="1400">
                <a:solidFill>
                  <a:srgbClr val="000000"/>
                </a:solidFill>
              </a:rPr>
              <a:t>signal: HTTP GET /robots.txt; parse; evaluate Allow/Disallow for the product path per user-agent in the AI-crawler list (GPTBot, ClaudeBot, PerplexityBot, Google-Extended, CCBot, Bingbot).</a:t>
            </a:r>
          </a:p>
          <a:p>
            <a:r>
              <a:rPr sz="800"/>
              <a:t/>
            </a:r>
          </a:p>
          <a:p>
            <a:pPr/>
            <a:r>
              <a:rPr b="1" sz="1400">
                <a:solidFill>
                  <a:srgbClr val="000000"/>
                </a:solidFill>
              </a:rPr>
              <a:t>Evidence</a:t>
            </a:r>
          </a:p>
          <a:p>
            <a:r>
              <a:rPr sz="800"/>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doc_id · doc_type · title · locator (evidence cell)</a:t>
            </a:r>
          </a:p>
          <a:p>
            <a:pPr/>
            <a:r>
              <a:rPr b="0" sz="1400">
                <a:solidFill>
                  <a:srgbClr val="000000"/>
                </a:solidFill>
              </a:rPr>
              <a:t>anthropic-crawler-support-article · industry · Does Anthropic crawl data from the web, and how can site owners block the crawler? (Anthropic support) · general support; no pinpoint</a:t>
            </a:r>
          </a:p>
          <a:p>
            <a:pPr/>
            <a:r>
              <a:rPr b="0" sz="1400">
                <a:solidFill>
                  <a:srgbClr val="000000"/>
                </a:solidFill>
              </a:rPr>
              <a:t>cloudflare-ai-crawl-control-manage-crawlers · industry · Cloudflare AI Crawl Control: Manage AI crawlers · general support; no pinpoint</a:t>
            </a:r>
          </a:p>
          <a:p>
            <a:pPr/>
            <a:r>
              <a:rPr b="0" sz="1400">
                <a:solidFill>
                  <a:srgbClr val="000000"/>
                </a:solidFill>
              </a:rPr>
              <a:t>google-robots-txt-intro · industry · Google Search Central: Introduction to robots.txt · general support; no pinpoint</a:t>
            </a:r>
          </a:p>
          <a:p>
            <a:pPr/>
            <a:r>
              <a:rPr b="0" sz="1400">
                <a:solidFill>
                  <a:srgbClr val="000000"/>
                </a:solidFill>
              </a:rPr>
              <a:t>openai-crawlers-bots · industry · OpenAI: Overview of OpenAI crawlers (developers.openai.com/api/docs/bots) · general support; no pinpoint</a:t>
            </a:r>
          </a:p>
          <a:p>
            <a:pPr/>
            <a:r>
              <a:rPr b="0" sz="1400">
                <a:solidFill>
                  <a:srgbClr val="000000"/>
                </a:solidFill>
              </a:rPr>
              <a:t>perplexity-crawlers · industry · Perplexity crawlers (docs.perplexity.ai) · general support; no pinpoint</a:t>
            </a:r>
          </a:p>
          <a:p>
            <a:pPr/>
            <a:r>
              <a:rPr b="0" sz="1400">
                <a:solidFill>
                  <a:srgbClr val="000000"/>
                </a:solidFill>
              </a:rPr>
              <a:t>rfc-9309-robots-exclusion-protocol · standard · RFC 9309: Robots Exclusion Protocol · general support; no pinpoint</a:t>
            </a:r>
          </a:p>
          <a:p>
            <a:r>
              <a:rPr sz="800"/>
              <a:t/>
            </a:r>
          </a:p>
          <a:p>
            <a:pPr/>
            <a:r>
              <a:rPr b="0" sz="1400">
                <a:solidFill>
                  <a:srgbClr val="000000"/>
                </a:solidFill>
              </a:rPr>
              <a:t>Evidence cell, verbatim:</a:t>
            </a:r>
          </a:p>
          <a:p>
            <a:r>
              <a:rPr sz="800"/>
              <a:t/>
            </a:r>
          </a:p>
          <a:p>
            <a:pPr/>
            <a:r>
              <a:rPr b="0" sz="1400">
                <a:solidFill>
                  <a:srgbClr val="000000"/>
                </a:solidFill>
              </a:rPr>
              <a:t>rfc-9309-robots-exclusion-protocol; google-robots-txt-intro; openai-crawlers-bots; anthropic-crawler-support-article; perplexity-crawlers; cloudflare-ai-crawl-control-manage-crawlers</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act:a4-allow-the-data-paths-for-named-ai-crawlers · Allow the product's data paths for the AI crawlers you intend to serve · robots_disallows_ai_crawlers · RULE-A4-v1 · hours · none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act:a4-serve-a-robots-txt-that-names-ai-crawlers · Serve a robots.txt and state the policy for AI crawlers in it · no_robots_txt · RULE-A4-v1 · days · staff_time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A4 · tierA · 12 · 1 · 0 · 3 · 16</a:t>
            </a:r>
          </a:p>
          <a:p>
            <a:pPr/>
            <a:r>
              <a:rPr b="0" sz="1400">
                <a:solidFill>
                  <a:srgbClr val="000000"/>
                </a:solidFill>
              </a:rPr>
              <a:t>A4 · tierC · 3 · 0 · 0 · 0 · 3</a:t>
            </a:r>
          </a:p>
          <a:p>
            <a:r>
              <a:rPr sz="800"/>
              <a:t/>
            </a:r>
          </a:p>
          <a:p>
            <a:pPr/>
            <a:r>
              <a:rPr b="1" sz="1400">
                <a:solidFill>
                  <a:srgbClr val="000000"/>
                </a:solidFill>
              </a:rPr>
              <a:t>Other record fields</a:t>
            </a:r>
          </a:p>
          <a:p>
            <a:r>
              <a:rPr sz="800"/>
              <a:t/>
            </a:r>
          </a:p>
          <a:p>
            <a:pPr/>
            <a:r>
              <a:rPr b="0" sz="1400">
                <a:solidFill>
                  <a:srgbClr val="000000"/>
                </a:solidFill>
              </a:rPr>
              <a:t>measured_by: {"counts": {"error": 3, "fail": 4, "not_applicable": 0, "pass": 19}, "cycle": "scan_2026-09-07", "definition": "at least one pass/fail/not_applicable Finding on an admitted, observable surface in a cycle with fired controls; error does not count", "legs": ["A4"],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rules.CURRENT['A4'] = RULE-A4-v1 (assessment/harness/scan/rules/__init__.py); measurement spec spec:A4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A5: llms.txt (or equivalent) present; sitemap covers data products</a:t>
            </a:r>
          </a:p>
          <a:p>
            <a:r>
              <a:rPr sz="800"/>
              <a:t/>
            </a:r>
          </a:p>
          <a:p>
            <a:pPr/>
            <a:r>
              <a:rPr b="0" sz="1400">
                <a:solidFill>
                  <a:srgbClr val="000000"/>
                </a:solidFill>
              </a:rPr>
              <a:t>Record node ind:A5.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Discoverability surface</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A5: RULE-A5-v2</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spec:A5</a:t>
            </a:r>
          </a:p>
          <a:p>
            <a:r>
              <a:rPr sz="800"/>
              <a:t/>
            </a:r>
          </a:p>
          <a:p>
            <a:pPr/>
            <a:r>
              <a:rPr b="0" sz="1400">
                <a:solidFill>
                  <a:srgbClr val="000000"/>
                </a:solidFill>
              </a:rPr>
              <a:t>collector: ultimate-sitemap-parser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ultimate-sitemap-parser&gt;=1.0</a:t>
            </a:r>
          </a:p>
          <a:p>
            <a:pPr/>
            <a:r>
              <a:rPr b="0" sz="1400">
                <a:solidFill>
                  <a:srgbClr val="000000"/>
                </a:solidFill>
              </a:rPr>
              <a:t>decision: {"alternative": "Treat llms.txt as an alternative satisfier. That is a change to what the indicator MEANS, not to how it is measured, and belongs to the operator.", "decided_by": "RULE-A5-v1", "decision": "A covering sitemap is the SOLE pass path. A served llms.txt is recorded as evidence and cannot satisfy the leg on its own. Rationale: the sitemap is the only one of the three with a standardised way to assert that a specific URL is covered; llms.txt has no such semantics, and accepting its mere presence would score having the file rather than being discoverable. Consequence: a site whose llms.txt lists the data product but which serves no sitemap gets fail, where an implementation reading the indicator's 'llms.txt (or equivalent) present' as an alternative satisfier would return pass.", "question": "The signal says to fetch /llms.txt and /.well-known/ alongside the sitemap but states a coverage test only for the sitemap, leaving unsettled what a served llms.txt contributes to the verdict.", "recorded_by": "cc_tasks/2026-09-06_scan_targets.md", "why_here": "The review returned spec_underspecified: a different reasonable implementation would return a different verdict on some real surface, and neither control fixture can see the difference."}</a:t>
            </a:r>
          </a:p>
          <a:p>
            <a:pPr/>
            <a:r>
              <a:rPr b="0" sz="1400">
                <a:solidFill>
                  <a:srgbClr val="000000"/>
                </a:solidFill>
              </a:rPr>
              <a:t>evidence_kind: sitemap tree + coverage verdict for the product URL</a:t>
            </a:r>
          </a:p>
          <a:p>
            <a:pPr/>
            <a:r>
              <a:rPr b="0" sz="1400">
                <a:solidFill>
                  <a:srgbClr val="000000"/>
                </a:solidFill>
              </a:rPr>
              <a:t>indicator_code: A5</a:t>
            </a:r>
          </a:p>
          <a:p>
            <a:pPr/>
            <a:r>
              <a:rPr b="0" sz="1400">
                <a:solidFill>
                  <a:srgbClr val="000000"/>
                </a:solidFill>
              </a:rPr>
              <a:t>leg: A5</a:t>
            </a:r>
          </a:p>
          <a:p>
            <a:pPr/>
            <a:r>
              <a:rPr b="0" sz="1400">
                <a:solidFill>
                  <a:srgbClr val="000000"/>
                </a:solidFill>
              </a:rPr>
              <a:t>mode: auto</a:t>
            </a:r>
          </a:p>
          <a:p>
            <a:pPr/>
            <a:r>
              <a:rPr b="0" sz="1400">
                <a:solidFill>
                  <a:srgbClr val="000000"/>
                </a:solidFill>
              </a:rPr>
              <a:t>prior_art: sitemaps-protocol; llmstxt-proposal</a:t>
            </a:r>
          </a:p>
          <a:p>
            <a:pPr/>
            <a:r>
              <a:rPr b="0" sz="1400">
                <a:solidFill>
                  <a:srgbClr val="000000"/>
                </a:solidFill>
              </a:rPr>
              <a:t>rule_id: RULE-A5-v2</a:t>
            </a:r>
          </a:p>
          <a:p>
            <a:pPr/>
            <a:r>
              <a:rPr b="0" sz="1400">
                <a:solidFill>
                  <a:srgbClr val="000000"/>
                </a:solidFill>
              </a:rPr>
              <a:t>signal: HTTP GET /sitemap.xml (and the path robots.txt declares), /llms.txt, /.well-known/; parse the sitemap and test whether the product URL is covered.</a:t>
            </a:r>
          </a:p>
          <a:p>
            <a:r>
              <a:rPr sz="800"/>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llmstxt-proposal · standard · The /llms.txt file (llmstxt.org) · general support; no pinpoint</a:t>
            </a:r>
          </a:p>
          <a:p>
            <a:pPr/>
            <a:r>
              <a:rPr b="0" sz="1400">
                <a:solidFill>
                  <a:srgbClr val="000000"/>
                </a:solidFill>
              </a:rPr>
              <a:t>sitemaps-protocol · standard · Sitemaps XML format (sitemaps.org protocol) · general support; no pinpoint</a:t>
            </a:r>
          </a:p>
          <a:p>
            <a:r>
              <a:rPr sz="800"/>
              <a:t/>
            </a:r>
          </a:p>
          <a:p>
            <a:pPr/>
            <a:r>
              <a:rPr b="0" sz="1400">
                <a:solidFill>
                  <a:srgbClr val="000000"/>
                </a:solidFill>
              </a:rPr>
              <a:t>Evidence cell, verbatim:</a:t>
            </a:r>
          </a:p>
          <a:p>
            <a:r>
              <a:rPr sz="800"/>
              <a:t/>
            </a:r>
          </a:p>
          <a:p>
            <a:pPr/>
            <a:r>
              <a:rPr b="0" sz="1400">
                <a:solidFill>
                  <a:srgbClr val="000000"/>
                </a:solidFill>
              </a:rPr>
              <a:t>llmstxt-proposal; sitemaps-protocol</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act:a5-list-the-product-url-in-the-sitemap · List the product URL in the discovery file that is already served · discovery_file_omits_product · RULE-A5-v2 · hours · none</a:t>
            </a:r>
          </a:p>
          <a:p>
            <a:pPr/>
            <a:r>
              <a:rPr b="0" sz="1400">
                <a:solidFill>
                  <a:srgbClr val="000000"/>
                </a:solidFill>
              </a:rPr>
              <a:t>act:a5-publish-a-sitemap-and-point-robots-txt-at-it · Publish a sitemap and point robots.txt at it · no_discovery_file · RULE-A5-v2 · days · staff_time</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tool:scrapy · open_source · coverage · bounded_crawl · the product URLs a declared sitemap actually lists</a:t>
            </a:r>
          </a:p>
          <a:p>
            <a:pPr/>
            <a:r>
              <a:rPr b="0" sz="1400">
                <a:solidFill>
                  <a:srgbClr val="000000"/>
                </a:solidFill>
              </a:rPr>
              <a:t>tool:ultimate-sitemap-parser · open_source · coverage · sitemap_walk · the product URLs a declared sitemap actually lists</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A5 · tierA · 3 · 10 · 0 · 3 · 16</a:t>
            </a:r>
          </a:p>
          <a:p>
            <a:pPr/>
            <a:r>
              <a:rPr b="0" sz="1400">
                <a:solidFill>
                  <a:srgbClr val="000000"/>
                </a:solidFill>
              </a:rPr>
              <a:t>A5 · tierC · 0 · 3 · 0 · 0 · 3</a:t>
            </a:r>
          </a:p>
          <a:p>
            <a:r>
              <a:rPr sz="800"/>
              <a:t/>
            </a:r>
          </a:p>
          <a:p>
            <a:pPr/>
            <a:r>
              <a:rPr b="1" sz="1400">
                <a:solidFill>
                  <a:srgbClr val="000000"/>
                </a:solidFill>
              </a:rPr>
              <a:t>Other record fields</a:t>
            </a:r>
          </a:p>
          <a:p>
            <a:r>
              <a:rPr sz="800"/>
              <a:t/>
            </a:r>
          </a:p>
          <a:p>
            <a:pPr/>
            <a:r>
              <a:rPr b="0" sz="1400">
                <a:solidFill>
                  <a:srgbClr val="000000"/>
                </a:solidFill>
              </a:rPr>
              <a:t>measured_by: {"counts": {"error": 3, "fail": 21, "not_applicable": 0, "pass": 2}, "cycle": "scan_2026-09-07", "definition": "at least one pass/fail/not_applicable Finding on an admitted, observable surface in a cycle with fired controls; error does not count", "legs": ["A5"],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rules.CURRENT['A5'] = RULE-A5-v2 (assessment/harness/scan/rules/__init__.py); measurement spec spec:A5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A6</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A6: schema.org/Dataset (or DCAT/Croissant) markup valid on product pages</a:t>
            </a:r>
          </a:p>
          <a:p>
            <a:r>
              <a:rPr sz="800"/>
              <a:t/>
            </a:r>
          </a:p>
          <a:p>
            <a:pPr/>
            <a:r>
              <a:rPr b="0" sz="1400">
                <a:solidFill>
                  <a:srgbClr val="000000"/>
                </a:solidFill>
              </a:rPr>
              <a:t>Record node ind:A6.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Structured markup</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A6: RULE-A6-v2</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spec:A6</a:t>
            </a:r>
          </a:p>
          <a:p>
            <a:r>
              <a:rPr sz="800"/>
              <a:t/>
            </a:r>
          </a:p>
          <a:p>
            <a:pPr/>
            <a:r>
              <a:rPr b="0" sz="1400">
                <a:solidFill>
                  <a:srgbClr val="000000"/>
                </a:solidFill>
              </a:rPr>
              <a:t>collector: extruct + pyshacl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extruct&gt;=0.17</a:t>
            </a:r>
          </a:p>
          <a:p>
            <a:pPr/>
            <a:r>
              <a:rPr b="0" sz="1400">
                <a:solidFill>
                  <a:srgbClr val="000000"/>
                </a:solidFill>
              </a:rPr>
              <a:t>evidence_kind: extracted graph + SHACL report</a:t>
            </a:r>
          </a:p>
          <a:p>
            <a:pPr/>
            <a:r>
              <a:rPr b="0" sz="1400">
                <a:solidFill>
                  <a:srgbClr val="000000"/>
                </a:solidFill>
              </a:rPr>
              <a:t>fuji_metric: FsF-F4-01M, FsF-I1-01M</a:t>
            </a:r>
          </a:p>
          <a:p>
            <a:pPr/>
            <a:r>
              <a:rPr b="0" sz="1400">
                <a:solidFill>
                  <a:srgbClr val="000000"/>
                </a:solidFill>
              </a:rPr>
              <a:t>indicator_code: A6</a:t>
            </a:r>
          </a:p>
          <a:p>
            <a:pPr/>
            <a:r>
              <a:rPr b="0" sz="1400">
                <a:solidFill>
                  <a:srgbClr val="000000"/>
                </a:solidFill>
              </a:rPr>
              <a:t>leg: A6</a:t>
            </a:r>
          </a:p>
          <a:p>
            <a:pPr/>
            <a:r>
              <a:rPr b="0" sz="1400">
                <a:solidFill>
                  <a:srgbClr val="000000"/>
                </a:solidFill>
              </a:rPr>
              <a:t>mode: auto</a:t>
            </a:r>
          </a:p>
          <a:p>
            <a:pPr/>
            <a:r>
              <a:rPr b="0" sz="1400">
                <a:solidFill>
                  <a:srgbClr val="000000"/>
                </a:solidFill>
              </a:rPr>
              <a:t>prior_art: schema-org-dataset; w3c-dcat-3; mlcommons-croissant-spec</a:t>
            </a:r>
          </a:p>
          <a:p>
            <a:pPr/>
            <a:r>
              <a:rPr b="0" sz="1400">
                <a:solidFill>
                  <a:srgbClr val="000000"/>
                </a:solidFill>
              </a:rPr>
              <a:t>rule_id: RULE-A6-v2</a:t>
            </a:r>
          </a:p>
          <a:p>
            <a:pPr/>
            <a:r>
              <a:rPr b="0" sz="1400">
                <a:solidFill>
                  <a:srgbClr val="000000"/>
                </a:solidFill>
              </a:rPr>
              <a:t>signal: Extract embedded JSON-LD / microdata / RDFa from the product page; test for schema.org Dataset or DCAT; validate the DCAT graph against DCAT-AP SHACL shapes.</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croissant-akhtar-2024-paper · academic · Croissant: A Metadata Format for ML-Ready Datasets · general support; no pinpoint</a:t>
            </a:r>
          </a:p>
          <a:p>
            <a:pPr/>
            <a:r>
              <a:rPr b="0" sz="1400">
                <a:solidFill>
                  <a:srgbClr val="000000"/>
                </a:solidFill>
              </a:rPr>
              <a:t>mlcommons-croissant-spec · standard · Croissant Format Specification (MLCommons) · general support; no pinpoint</a:t>
            </a:r>
          </a:p>
          <a:p>
            <a:pPr/>
            <a:r>
              <a:rPr b="0" sz="1400">
                <a:solidFill>
                  <a:srgbClr val="000000"/>
                </a:solidFill>
              </a:rPr>
              <a:t>schema-org-dataset · standard · schema.org: Dataset · general support; no pinpoint</a:t>
            </a:r>
          </a:p>
          <a:p>
            <a:pPr/>
            <a:r>
              <a:rPr b="0" sz="1400">
                <a:solidFill>
                  <a:srgbClr val="000000"/>
                </a:solidFill>
              </a:rPr>
              <a:t>w3c-dcat-3 · standard · Data Catalog Vocabulary (DCAT) - Version 3 (W3C Recommendation) · general support; no pinpoint</a:t>
            </a:r>
          </a:p>
          <a:p>
            <a:r>
              <a:rPr sz="800"/>
              <a:t/>
            </a:r>
          </a:p>
          <a:p>
            <a:pPr/>
            <a:r>
              <a:rPr b="0" sz="1400">
                <a:solidFill>
                  <a:srgbClr val="000000"/>
                </a:solidFill>
              </a:rPr>
              <a:t>Evidence cell, verbatim:</a:t>
            </a:r>
          </a:p>
          <a:p>
            <a:r>
              <a:rPr sz="800"/>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schema-org-dataset; w3c-dcat-3; mlcommons-croissant-spec; croissant-akhtar-2024-paper</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act:a6-embed-json-ld-on-the-product-page · Embed JSON-LD describing the product on the product page · no_structured_markup · RULE-A6-v2 · hours · none</a:t>
            </a:r>
          </a:p>
          <a:p>
            <a:pPr/>
            <a:r>
              <a:rPr b="0" sz="1400">
                <a:solidFill>
                  <a:srgbClr val="000000"/>
                </a:solidFill>
              </a:rPr>
              <a:t>act:a6-make-the-dataset-markup-conform-to-the-profile · Make the Dataset markup conform to the profile it declares · shapes_violation · RULE-A6-v2 · hours · none</a:t>
            </a:r>
          </a:p>
          <a:p>
            <a:pPr/>
            <a:r>
              <a:rPr b="0" sz="1400">
                <a:solidFill>
                  <a:srgbClr val="000000"/>
                </a:solidFill>
              </a:rPr>
              <a:t>act:a6-type-the-product-page-as-a-dataset · Type the product page's existing markup as a Dataset · markup_without_dataset_type · RULE-A6-v2 · hours · none</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tool:extruct · open_source · coverage · extruct_at_scale · Dataset markup on every page of a URL inventory, not on the one surface fetched</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A6 · product · 1 · 18 · 0 · 4 · 23</a:t>
            </a:r>
          </a:p>
          <a:p>
            <a:r>
              <a:rPr sz="800"/>
              <a:t/>
            </a:r>
          </a:p>
          <a:p>
            <a:pPr/>
            <a:r>
              <a:rPr b="1" sz="1400">
                <a:solidFill>
                  <a:srgbClr val="000000"/>
                </a:solidFill>
              </a:rPr>
              <a:t>Other record fields</a:t>
            </a:r>
          </a:p>
          <a:p>
            <a:r>
              <a:rPr sz="800"/>
              <a:t/>
            </a:r>
          </a:p>
          <a:p>
            <a:pPr/>
            <a:r>
              <a:rPr b="0" sz="1400">
                <a:solidFill>
                  <a:srgbClr val="000000"/>
                </a:solidFill>
              </a:rPr>
              <a:t>measured_by: {"counts": {"error": 3, "fail": 23, "not_applicable": 0, "pass": 0}, "cycle": "scan_2026-09-07", "definition": "at least one pass/fail/not_applicable Finding on an admitted, observable surface in a cycle with fired controls; error does not count", "legs": ["A6"],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rules.CURRENT['A6'] = RULE-A6-v2 (assessment/harness/scan/rules/__init__.py); measurement spec spec:A6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A7</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appendix/indicator_A7.md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A7: Persistent URLs/DOIs for products and vintages</a:t>
            </a:r>
          </a:p>
          <a:p>
            <a:r>
              <a:rPr sz="800"/>
              <a:t/>
            </a:r>
          </a:p>
          <a:p>
            <a:pPr/>
            <a:r>
              <a:rPr b="0" sz="1400">
                <a:solidFill>
                  <a:srgbClr val="000000"/>
                </a:solidFill>
              </a:rPr>
              <a:t>Record node ind:A7.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Stable identifiers</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O</a:t>
            </a:r>
          </a:p>
          <a:p>
            <a:pPr/>
            <a:r>
              <a:rPr b="0" sz="1400">
                <a:solidFill>
                  <a:srgbClr val="000000"/>
                </a:solidFill>
              </a:rPr>
              <a:t>measurement basis: open_tool</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A7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appendix/indicator_A7.md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tool:wayback-cdx-server · hosted_free · tier · wayback_cdx · a product or vintage URL's capture history and the status it answered at each capture</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A7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appendix/indicator_A7.md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Other record fields</a:t>
            </a:r>
          </a:p>
          <a:p>
            <a:r>
              <a:rPr sz="800"/>
              <a:t/>
            </a:r>
          </a:p>
          <a:p>
            <a:pPr/>
            <a:r>
              <a:rPr b="0" sz="1400">
                <a:solidFill>
                  <a:srgbClr val="000000"/>
                </a:solidFill>
              </a:rPr>
              <a:t>tier_note: No harness path runs it under this project's manners, evidence retention and re-derivation discipline, which is what keeps this O rather than M (DN-005 §2.2). Nothing was measured when the tier was assigned. The index reaches the persistent-URL half of the definition. A DOI's persistence is its resolver's, not the archive's: a rule built on this document would record the DOI clause as unmeasured unless it also reads the resolver. The predecessor's M candidate (assessment/harness/probes/d1_stable_urls.py, not a rule in rules.CURRENT) stands beside this and is not displaced by it.</a:t>
            </a:r>
          </a:p>
          <a:p>
            <a:pPr/>
            <a:r>
              <a:rPr b="0" sz="1400">
                <a:solidFill>
                  <a:srgbClr val="000000"/>
                </a:solidFill>
              </a:rPr>
              <a:t>tier_rule: cc_tasks/2026-09-18_tool_docs_ingest.md decision 2</a:t>
            </a:r>
          </a:p>
          <a:p>
            <a:pPr/>
            <a:r>
              <a:rPr b="0" sz="1400">
                <a:solidFill>
                  <a:srgbClr val="000000"/>
                </a:solidFill>
              </a:rPr>
              <a:t>tier_source: corpus/tools/wayback-cdx-server/README.md (doc_id wayback-cdx-server-api-readme), 'Basic Usage': "the only required param for the CDX server is the </a:t>
            </a:r>
            <a:r>
              <a:rPr b="1" sz="1400">
                <a:solidFill>
                  <a:srgbClr val="000000"/>
                </a:solidFill>
              </a:rPr>
              <a:t>url</a:t>
            </a:r>
            <a:r>
              <a:rPr b="0" sz="1400">
                <a:solidFill>
                  <a:srgbClr val="000000"/>
                </a:solidFill>
              </a:rPr>
              <a:t> param", returning one row per capture with the fields ["urlkey","timestamp","original","mimetype","statuscode","digest","length"]; 'Filtering': "Results may be filtered by timestamp using </a:t>
            </a:r>
            <a:r>
              <a:rPr b="1" sz="1400">
                <a:solidFill>
                  <a:srgbClr val="000000"/>
                </a:solidFill>
              </a:rPr>
              <a:t>from=</a:t>
            </a:r>
            <a:r>
              <a:rPr b="0" sz="1400">
                <a:solidFill>
                  <a:srgbClr val="000000"/>
                </a:solidFill>
              </a:rPr>
              <a:t> and </a:t>
            </a:r>
            <a:r>
              <a:rPr b="1" sz="1400">
                <a:solidFill>
                  <a:srgbClr val="000000"/>
                </a:solidFill>
              </a:rPr>
              <a:t>to=</a:t>
            </a:r>
            <a:r>
              <a:rPr b="0" sz="1400">
                <a:solidFill>
                  <a:srgbClr val="000000"/>
                </a:solidFill>
              </a:rPr>
              <a:t> params" and "</a:t>
            </a:r>
            <a:r>
              <a:rPr b="1" sz="1400">
                <a:solidFill>
                  <a:srgbClr val="000000"/>
                </a:solidFill>
              </a:rPr>
              <a:t>filter=</a:t>
            </a:r>
            <a:r>
              <a:rPr b="0" sz="1400">
                <a:solidFill>
                  <a:srgbClr val="000000"/>
                </a:solidFill>
              </a:rPr>
              <a:t>[!]*field*:*regex*", for which "It is often useful to filter by *mimetype* or *statuscode*" — a product or vintage URL's capture history, with the status it answered at each capture, over a declared date range; definition of ind:A7: "Persistent URLs/DOIs for products and vintages"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A8</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appendix/indicator_A8.md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A8: Release date machine-readable; latest-vintage pointer resolvable</a:t>
            </a:r>
          </a:p>
          <a:p>
            <a:r>
              <a:rPr sz="800"/>
              <a:t/>
            </a:r>
          </a:p>
          <a:p>
            <a:pPr/>
            <a:r>
              <a:rPr b="0" sz="1400">
                <a:solidFill>
                  <a:srgbClr val="000000"/>
                </a:solidFill>
              </a:rPr>
              <a:t>Record node ind:A8.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Timeliness of surface</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A8: RULE-A8-v4</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spec:A8</a:t>
            </a:r>
          </a:p>
          <a:p>
            <a:r>
              <a:rPr sz="800"/>
              <a:t/>
            </a:r>
          </a:p>
          <a:p>
            <a:pPr/>
            <a:r>
              <a:rPr b="0" sz="1400">
                <a:solidFill>
                  <a:srgbClr val="000000"/>
                </a:solidFill>
              </a:rPr>
              <a:t>collector: httpx + extruct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A8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appendix/indicator_A8.md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httpx&gt;=0.27</a:t>
            </a:r>
          </a:p>
          <a:p>
            <a:pPr/>
            <a:r>
              <a:rPr b="0" sz="1400">
                <a:solidFill>
                  <a:srgbClr val="000000"/>
                </a:solidFill>
              </a:rPr>
              <a:t>evidence_kind: headers + markup date fields</a:t>
            </a:r>
          </a:p>
          <a:p>
            <a:pPr/>
            <a:r>
              <a:rPr b="0" sz="1400">
                <a:solidFill>
                  <a:srgbClr val="000000"/>
                </a:solidFill>
              </a:rPr>
              <a:t>indicator_code: A8</a:t>
            </a:r>
          </a:p>
          <a:p>
            <a:pPr/>
            <a:r>
              <a:rPr b="0" sz="1400">
                <a:solidFill>
                  <a:srgbClr val="000000"/>
                </a:solidFill>
              </a:rPr>
              <a:t>leg: A8</a:t>
            </a:r>
          </a:p>
          <a:p>
            <a:pPr/>
            <a:r>
              <a:rPr b="0" sz="1400">
                <a:solidFill>
                  <a:srgbClr val="000000"/>
                </a:solidFill>
              </a:rPr>
              <a:t>mode: auto</a:t>
            </a:r>
          </a:p>
          <a:p>
            <a:pPr/>
            <a:r>
              <a:rPr b="0" sz="1400">
                <a:solidFill>
                  <a:srgbClr val="000000"/>
                </a:solidFill>
              </a:rPr>
              <a:t>prior_art: w3c-dwbp-2017</a:t>
            </a:r>
          </a:p>
          <a:p>
            <a:pPr/>
            <a:r>
              <a:rPr b="0" sz="1400">
                <a:solidFill>
                  <a:srgbClr val="000000"/>
                </a:solidFill>
              </a:rPr>
              <a:t>rule_id: RULE-A8-v4</a:t>
            </a:r>
          </a:p>
          <a:p>
            <a:pPr/>
            <a:r>
              <a:rPr b="0" sz="1400">
                <a:solidFill>
                  <a:srgbClr val="000000"/>
                </a:solidFill>
              </a:rPr>
              <a:t>signal: Read Last-Modified and any dcterms:modified / schema.org dateModified in the markup; test whether a latest-vintage pointer resolves.</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dcat-us-1-1-schema · federal · DCAT-US Schema v1.1 (Project Open Data Metadata Schema) - resources.data.gov · the modified field, required "yes, always": "most recent date on which the dataset was changed, updated or modified", as an ISO 8601 date; and the accrualPeriodicity field, the publishing frequency as an ISO 8601 repeating duration</a:t>
            </a:r>
          </a:p>
          <a:p>
            <a:pPr/>
            <a:r>
              <a:rPr b="0" sz="1400">
                <a:solidFill>
                  <a:srgbClr val="000000"/>
                </a:solidFill>
              </a:rPr>
              <a:t>omb-m-23-22-digital-first-public-experience · federal · OMB M-23-22: Delivering a Digital-First Public Experience · indicate timeliness of content: agencies "should indicate when content on static, public-facing websites was created or last updated by including temporal information in line with content or by using 'Last Modified' in the HTTP header, in metadata tags, or in XML sitemaps"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A8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appendix/indicator_A8.md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w3c-dwbp-2017 · standard · Data on the Web Best Practices (W3C Recommendation, 31 January 2017) · BP 7, provide a version indicator: "assign and indicate a version number or date for each dataset", whose intended outcome is that "humans and software agents will easily be able to determine which version of a dataset they are working with" and whose implementation note is that "the URI used to request the latest version of the data should not change as the versions change", which is the latest-vintage pointer; and BP 21, provide data up to date: "make data available in an up-to-date manner, and make the update frequency explicit"</a:t>
            </a:r>
          </a:p>
          <a:p>
            <a:r>
              <a:rPr sz="800"/>
              <a:t/>
            </a:r>
          </a:p>
          <a:p>
            <a:pPr/>
            <a:r>
              <a:rPr b="0" sz="1400">
                <a:solidFill>
                  <a:srgbClr val="000000"/>
                </a:solidFill>
              </a:rPr>
              <a:t>Evidence cell, verbatim:</a:t>
            </a:r>
          </a:p>
          <a:p>
            <a:r>
              <a:rPr sz="800"/>
              <a:t/>
            </a:r>
          </a:p>
          <a:p>
            <a:pPr/>
            <a:r>
              <a:rPr b="0" sz="1400">
                <a:solidFill>
                  <a:srgbClr val="000000"/>
                </a:solidFill>
              </a:rPr>
              <a:t>w3c-dwbp-2017 (BP 7, provide a version indicator: "assign and indicate a version number or date for each dataset", whose intended outcome is that "humans and software agents will easily be able to determine which version of a dataset they are working with" and whose implementation note is that "the URI used to request the latest version of the data should not change as the versions change", which is the latest-vintage pointer; and BP 21, provide data up to date: "make data available in an up-to-date manner, and make the update frequency explicit"); dcat-us-1-1-schema (the modified field, required "yes, always": "most recent date on which the dataset was changed, updated or modified", as an ISO 8601 date; and the accrualPeriodicity field, the publishing frequency as an ISO 8601 repeating duration); omb-m-23-22-digital-first-public-experience (indicate timeliness of content: agencies "should indicate when content on static, public-facing websites was created or last updated by including temporal information in line with content or by using 'Last Modified' in the HTTP header, in metadata tags, or in XML sitemaps")</a:t>
            </a:r>
          </a:p>
          <a:p>
            <a:r>
              <a:rPr sz="800"/>
              <a:t/>
            </a:r>
          </a:p>
          <a:p>
            <a:pPr/>
            <a:r>
              <a:rPr b="1" sz="1400">
                <a:solidFill>
                  <a:srgbClr val="000000"/>
                </a:solidFill>
              </a:rPr>
              <a:t>Actions (prescriptions)</a:t>
            </a:r>
          </a:p>
          <a:p>
            <a:r>
              <a:rPr sz="800"/>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A8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appendix/indicator_A8.md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action · title · outcome · rule · effort · cost</a:t>
            </a:r>
          </a:p>
          <a:p>
            <a:pPr/>
            <a:r>
              <a:rPr b="0" sz="1400">
                <a:solidFill>
                  <a:srgbClr val="000000"/>
                </a:solidFill>
              </a:rPr>
              <a:t>act:a8-declare-the-product-vintage-in-the-markup · Declare the product's vintage in the markup, not only in a file header · last_modified_header_only · RULE-A8-v4 · hours · none</a:t>
            </a:r>
          </a:p>
          <a:p>
            <a:pPr/>
            <a:r>
              <a:rPr b="0" sz="1400">
                <a:solidFill>
                  <a:srgbClr val="000000"/>
                </a:solidFill>
              </a:rPr>
              <a:t>act:a8-make-the-latest-pointer-resolve · Make the latest-vintage pointer resolve · latest_vintage_pointer_unresolved · RULE-A8-v4 · weeks · staff_time</a:t>
            </a:r>
          </a:p>
          <a:p>
            <a:pPr/>
            <a:r>
              <a:rPr b="0" sz="1400">
                <a:solidFill>
                  <a:srgbClr val="000000"/>
                </a:solidFill>
              </a:rPr>
              <a:t>act:a8-publish-a-release-date-for-the-product · Publish a release date for the product · no_declared_date · RULE-A8-v4 · hours · none</a:t>
            </a:r>
          </a:p>
          <a:p>
            <a:pPr/>
            <a:r>
              <a:rPr b="0" sz="1400">
                <a:solidFill>
                  <a:srgbClr val="000000"/>
                </a:solidFill>
              </a:rPr>
              <a:t>act:a8-serve-a-stable-latest-url-on-the-product-host · Serve a stable 'latest' URL for the product on its own host · no_latest_vintage_pointer · RULE-A8-v4 · weeks · staff_time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A8 · product · 1 · 18 · 0 · 4 · 23</a:t>
            </a:r>
          </a:p>
          <a:p>
            <a:r>
              <a:rPr sz="800"/>
              <a:t/>
            </a:r>
          </a:p>
          <a:p>
            <a:pPr/>
            <a:r>
              <a:rPr b="1" sz="1400">
                <a:solidFill>
                  <a:srgbClr val="000000"/>
                </a:solidFill>
              </a:rPr>
              <a:t>Other record fields</a:t>
            </a:r>
          </a:p>
          <a:p>
            <a:r>
              <a:rPr sz="800"/>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A8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appendix/indicator_A8.md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measured_by: {"counts": {"error": 3, "fail": 23, "not_applicable": 0, "pass": 0}, "cycle": "scan_2026-09-07", "definition": "at least one pass/fail/not_applicable Finding on an admitted, observable surface in a cycle with fired controls; error does not count", "legs": ["A8"],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rules.CURRENT['A8'] = RULE-A8-v4 (assessment/harness/scan/rules/__init__.py); measurement spec spec:A8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A9</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appendix/indicator_A9.md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A9: Product exposes a machine-first entry point (documented API plus MCP/A2A-class endpoint or equivalent agent protocol); human pages derivable from it</a:t>
            </a:r>
          </a:p>
          <a:p>
            <a:r>
              <a:rPr sz="800"/>
              <a:t/>
            </a:r>
          </a:p>
          <a:p>
            <a:pPr/>
            <a:r>
              <a:rPr b="0" sz="1400">
                <a:solidFill>
                  <a:srgbClr val="000000"/>
                </a:solidFill>
              </a:rPr>
              <a:t>Record node ind:A9.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M2M agent surface</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 frontier_deep track, as_of 2026-01</a:t>
            </a:r>
          </a:p>
          <a:p>
            <a:pPr/>
            <a:r>
              <a:rPr b="0" sz="1400">
                <a:solidFill>
                  <a:srgbClr val="000000"/>
                </a:solidFill>
              </a:rPr>
              <a:t>candidate (DD-054): no</a:t>
            </a:r>
          </a:p>
          <a:p>
            <a:pPr/>
            <a:r>
              <a:rPr b="0" sz="1400">
                <a:solidFill>
                  <a:srgbClr val="000000"/>
                </a:solidFill>
              </a:rPr>
              <a:t>current rule: A9: RULE-A9-v1</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spec:A9</a:t>
            </a:r>
          </a:p>
          <a:p>
            <a:r>
              <a:rPr sz="800"/>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A9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appendix/indicator_A9.md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as_of: 2026-01</a:t>
            </a:r>
          </a:p>
          <a:p>
            <a:pPr/>
            <a:r>
              <a:rPr b="0" sz="1400">
                <a:solidFill>
                  <a:srgbClr val="000000"/>
                </a:solidFill>
              </a:rPr>
              <a:t>collector: httpx</a:t>
            </a:r>
          </a:p>
          <a:p>
            <a:pPr/>
            <a:r>
              <a:rPr b="0" sz="1400">
                <a:solidFill>
                  <a:srgbClr val="000000"/>
                </a:solidFill>
              </a:rPr>
              <a:t>collector_pin: httpx&gt;=0.27</a:t>
            </a:r>
          </a:p>
          <a:p>
            <a:pPr/>
            <a:r>
              <a:rPr b="0" sz="1400">
                <a:solidFill>
                  <a:srgbClr val="000000"/>
                </a:solidFill>
              </a:rPr>
              <a:t>decision: {"alternative": "Parse the descriptor (validate as OpenAPI / MCP / llms.txt). Worth doing when A9 stops being frontier and enters a score; until then it would buy precision nobody is reading.", "decided_by": "RULE-A9-v1", "decision": "A non-HTML content type on a 2xx response with a non-empty body. The descriptor is NOT parsed. Rationale: A9 is FRONTIER (as_of 2026-01) and is reported, never scored, so the cheapest test that excludes the failure the control fixture caught — a soft-404 HTML shell counted as an agent surface — is the right one for now. Consequence: a text/plain 'Not Found' body, or a JSON error blob, passes; an implementation that parsed the descriptor would fail those same real surfaces.", "question": "The signal names which paths to probe but does not settle what counts as a served machine-first entry point.", "recorded_by": "cc_tasks/2026-09-06_scan_targets.md", "why_here": "The review returned spec_underspecified: a different reasonable implementation would return a different verdict on some real surface, and neither control fixture can see the difference."}</a:t>
            </a:r>
          </a:p>
          <a:p>
            <a:pPr/>
            <a:r>
              <a:rPr b="0" sz="1400">
                <a:solidFill>
                  <a:srgbClr val="000000"/>
                </a:solidFill>
              </a:rPr>
              <a:t>evidence_kind: probe matrix + any served descriptor</a:t>
            </a:r>
          </a:p>
          <a:p>
            <a:pPr/>
            <a:r>
              <a:rPr b="0" sz="1400">
                <a:solidFill>
                  <a:srgbClr val="000000"/>
                </a:solidFill>
              </a:rPr>
              <a:t>frontier: True</a:t>
            </a:r>
          </a:p>
          <a:p>
            <a:pPr/>
            <a:r>
              <a:rPr b="0" sz="1400">
                <a:solidFill>
                  <a:srgbClr val="000000"/>
                </a:solidFill>
              </a:rPr>
              <a:t>indicator_code: A9</a:t>
            </a:r>
          </a:p>
          <a:p>
            <a:pPr/>
            <a:r>
              <a:rPr b="0" sz="1400">
                <a:solidFill>
                  <a:srgbClr val="000000"/>
                </a:solidFill>
              </a:rPr>
              <a:t>leg: A9</a:t>
            </a:r>
          </a:p>
          <a:p>
            <a:pPr/>
            <a:r>
              <a:rPr b="0" sz="1400">
                <a:solidFill>
                  <a:srgbClr val="000000"/>
                </a:solidFill>
              </a:rPr>
              <a:t>mode: auto</a:t>
            </a:r>
          </a:p>
          <a:p>
            <a:pPr/>
            <a:r>
              <a:rPr b="0" sz="1400">
                <a:solidFill>
                  <a:srgbClr val="000000"/>
                </a:solidFill>
              </a:rPr>
              <a:t>prior_art: wilkinson-2016-fair-guiding-principles; fcsm-25-03</a:t>
            </a:r>
          </a:p>
          <a:p>
            <a:pPr/>
            <a:r>
              <a:rPr b="0" sz="1400">
                <a:solidFill>
                  <a:srgbClr val="000000"/>
                </a:solidFill>
              </a:rPr>
              <a:t>rule_id: RULE-A9-v1</a:t>
            </a:r>
          </a:p>
          <a:p>
            <a:pPr/>
            <a:r>
              <a:rPr b="0" sz="1400">
                <a:solidFill>
                  <a:srgbClr val="000000"/>
                </a:solidFill>
              </a:rPr>
              <a:t>signal: Probe for a machine-first entry point: OpenAPI at the documented base, /.well-known/mcp or an advertised MCP/A2A endpoint, /llms.txt.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A9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appendix/indicator_A9.md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wilkinson-2016-fair-guiding-principles · academic · The FAIR Guiding Principles for scientific data management and stewardship · general support; no pinpoint</a:t>
            </a:r>
          </a:p>
          <a:p>
            <a:r>
              <a:rPr sz="800"/>
              <a:t/>
            </a:r>
          </a:p>
          <a:p>
            <a:pPr/>
            <a:r>
              <a:rPr b="0" sz="1400">
                <a:solidFill>
                  <a:srgbClr val="000000"/>
                </a:solidFill>
              </a:rPr>
              <a:t>Evidence cell, verbatim:</a:t>
            </a:r>
          </a:p>
          <a:p>
            <a:r>
              <a:rPr sz="800"/>
              <a:t/>
            </a:r>
          </a:p>
          <a:p>
            <a:pPr/>
            <a:r>
              <a:rPr b="0" sz="1400">
                <a:solidFill>
                  <a:srgbClr val="000000"/>
                </a:solidFill>
              </a:rPr>
              <a:t>wilkinson-2016-fair-guiding-principles; internal existence proof: fss-policy-kg (MCP server)</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act:a9-publish-a-machine-first-entry-point · Publish a machine-first entry point for the product · no_machine_first_path · RULE-A9-v1 · days · staff_time</a:t>
            </a:r>
          </a:p>
          <a:p>
            <a:pPr/>
            <a:r>
              <a:rPr b="0" sz="1400">
                <a:solidFill>
                  <a:srgbClr val="000000"/>
                </a:solidFill>
              </a:rPr>
              <a:t>act:a9-return-a-machine-format-at-the-machine-path · Return a machine format at the paths advertised for machines · machine_path_answers_html · RULE-A9-v1 · weeks · staff_time</a:t>
            </a:r>
          </a:p>
          <a:p>
            <a:r>
              <a:rPr sz="800"/>
              <a:t/>
            </a:r>
          </a:p>
          <a:p>
            <a:pPr/>
            <a:r>
              <a:rPr b="1" sz="1400">
                <a:solidFill>
                  <a:srgbClr val="000000"/>
                </a:solidFill>
              </a:rPr>
              <a:t>Requirements (what stands between it and a verdict)</a:t>
            </a:r>
          </a:p>
          <a:p>
            <a:r>
              <a:rPr sz="800"/>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A9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appendix/indicator_A9.md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A9 · product · 0 · 20 · 0 · 3 · 23</a:t>
            </a:r>
          </a:p>
          <a:p>
            <a:r>
              <a:rPr sz="800"/>
              <a:t/>
            </a:r>
          </a:p>
          <a:p>
            <a:pPr/>
            <a:r>
              <a:rPr b="1" sz="1400">
                <a:solidFill>
                  <a:srgbClr val="000000"/>
                </a:solidFill>
              </a:rPr>
              <a:t>Other record fields</a:t>
            </a:r>
          </a:p>
          <a:p>
            <a:r>
              <a:rPr sz="800"/>
              <a:t/>
            </a:r>
          </a:p>
          <a:p>
            <a:pPr/>
            <a:r>
              <a:rPr b="0" sz="1400">
                <a:solidFill>
                  <a:srgbClr val="000000"/>
                </a:solidFill>
              </a:rPr>
              <a:t>as_of: 2026-01</a:t>
            </a:r>
          </a:p>
          <a:p>
            <a:pPr/>
            <a:r>
              <a:rPr b="0" sz="1400">
                <a:solidFill>
                  <a:srgbClr val="000000"/>
                </a:solidFill>
              </a:rPr>
              <a:t>frontier: True</a:t>
            </a:r>
          </a:p>
          <a:p>
            <a:pPr/>
            <a:r>
              <a:rPr b="0" sz="1400">
                <a:solidFill>
                  <a:srgbClr val="000000"/>
                </a:solidFill>
              </a:rPr>
              <a:t>measured_by: {"counts": {"error": 3, "fail": 23, "not_applicable": 0, "pass": 0}, "cycle": "scan_2026-09-07", "definition": "at least one pass/fail/not_applicable Finding on an admitted, observable surface in a cycle with fired controls; error does not count", "legs": ["A9"],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rules.CURRENT['A9'] = RULE-A9-v1 (assessment/harness/scan/rules/__init__.py); measurement spec spec:A9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A10</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appendix/indicator_A10.md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A10: Interactive data tools expose stable, directly-requestable deep links; meaningful states are not fragment-only or session-dependent; invalid routes return true 404/410, not HTTP-200 shell (soft-404); page-specific content present in raw HTML before JS execution</a:t>
            </a:r>
          </a:p>
          <a:p>
            <a:r>
              <a:rPr sz="800"/>
              <a:t/>
            </a:r>
          </a:p>
          <a:p>
            <a:pPr/>
            <a:r>
              <a:rPr b="0" sz="1400">
                <a:solidFill>
                  <a:srgbClr val="000000"/>
                </a:solidFill>
              </a:rPr>
              <a:t>Record node ind:A10.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Application/data-tool machine surface</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stub</a:t>
            </a:r>
          </a:p>
          <a:p>
            <a:pPr/>
            <a:r>
              <a:rPr b="0" sz="1400">
                <a:solidFill>
                  <a:srgbClr val="000000"/>
                </a:solidFill>
              </a:rPr>
              <a:t>candidate (DD-054): no</a:t>
            </a:r>
          </a:p>
          <a:p>
            <a:pPr/>
            <a:r>
              <a:rPr b="0" sz="1400">
                <a:solidFill>
                  <a:srgbClr val="000000"/>
                </a:solidFill>
              </a:rPr>
              <a:t>current rule: A10: RULE-A10-v3</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A10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appendix/indicator_A10.md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collector: lighthouse</a:t>
            </a:r>
          </a:p>
          <a:p>
            <a:pPr/>
            <a:r>
              <a:rPr b="0" sz="1400">
                <a:solidFill>
                  <a:srgbClr val="000000"/>
                </a:solidFill>
              </a:rPr>
              <a:t>collector_pin: lighthouse-cli&gt;=12</a:t>
            </a:r>
          </a:p>
          <a:p>
            <a:pPr/>
            <a:r>
              <a:rPr b="0" sz="1400">
                <a:solidFill>
                  <a:srgbClr val="000000"/>
                </a:solidFill>
              </a:rPr>
              <a:t>evidence_kind: status codes + raw HTML + rendered DOM</a:t>
            </a:r>
          </a:p>
          <a:p>
            <a:pPr/>
            <a:r>
              <a:rPr b="0" sz="1400">
                <a:solidFill>
                  <a:srgbClr val="000000"/>
                </a:solidFill>
              </a:rPr>
              <a:t>indicator_code: A10</a:t>
            </a:r>
          </a:p>
          <a:p>
            <a:pPr/>
            <a:r>
              <a:rPr b="0" sz="1400">
                <a:solidFill>
                  <a:srgbClr val="000000"/>
                </a:solidFill>
              </a:rPr>
              <a:t>leg: A10</a:t>
            </a:r>
          </a:p>
          <a:p>
            <a:pPr/>
            <a:r>
              <a:rPr b="0" sz="1400">
                <a:solidFill>
                  <a:srgbClr val="000000"/>
                </a:solidFill>
              </a:rPr>
              <a:t>mode: auto</a:t>
            </a:r>
          </a:p>
          <a:p>
            <a:pPr/>
            <a:r>
              <a:rPr b="0" sz="1400">
                <a:solidFill>
                  <a:srgbClr val="000000"/>
                </a:solidFill>
              </a:rPr>
              <a:t>prior_art: internal draft: FSS Machine Diagnostic spec (operator-held)</a:t>
            </a:r>
          </a:p>
          <a:p>
            <a:pPr/>
            <a:r>
              <a:rPr b="0" sz="1400">
                <a:solidFill>
                  <a:srgbClr val="000000"/>
                </a:solidFill>
              </a:rPr>
              <a:t>rule_id: RULE-A10-v3</a:t>
            </a:r>
          </a:p>
          <a:p>
            <a:pPr/>
            <a:r>
              <a:rPr b="0" sz="1400">
                <a:solidFill>
                  <a:srgbClr val="000000"/>
                </a:solidFill>
              </a:rPr>
              <a:t>signal: For an interactive data tool: request a deep link and an invalid route; compare status codes and pre-JS HTML; a soft-404 is HTTP 200 with an error shell. Render once to compare pre- and post-JS DOM.</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w3c-dwbp-2017 · standard · Data on the Web Best Practices (W3C Recommendation, 31 January 2017) · BP 9, persistent URIs as identifiers of datasets: "developers may build URIs into their code and so it is important that those URIs persist and that they dereference to the same resource over time"; and BP 27, preserve identifiers: a dereference that leads to "the infamous 404" must tell the client whether the absence is permanent or temporary, which is the property a soft-404 destroys</a:t>
            </a:r>
          </a:p>
          <a:p>
            <a:pPr/>
            <a:r>
              <a:rPr b="0" sz="1400">
                <a:solidFill>
                  <a:srgbClr val="000000"/>
                </a:solidFill>
              </a:rPr>
              <a:t>wilkinson-2016-fair-guiding-principles · academic · The FAIR Guiding Principles for scientific data management and stewardship · F1: globally unique and persistent identifier; A2: metadata accessible even when the data are no longer available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A10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appendix/indicator_A10.md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Evidence cell, verbatim:</a:t>
            </a:r>
          </a:p>
          <a:p>
            <a:r>
              <a:rPr sz="800"/>
              <a:t/>
            </a:r>
          </a:p>
          <a:p>
            <a:pPr/>
            <a:r>
              <a:rPr b="0" sz="1400">
                <a:solidFill>
                  <a:srgbClr val="000000"/>
                </a:solidFill>
              </a:rPr>
              <a:t>w3c-dwbp-2017 (BP 9, persistent URIs as identifiers of datasets: "developers may build URIs into their code and so it is important that those URIs persist and that they dereference to the same resource over time"; and BP 27, preserve identifiers: a dereference that leads to "the infamous 404" must tell the client whether the absence is permanent or temporary, which is the property a soft-404 destroys); wilkinson-2016-fair-guiding-principles (F1: globally unique and persistent identifier; A2: metadata accessible even when the data are no longer available); internal draft: FSS Machine Diagnostic spec (SEO SME, 2026-09, operator-held; admission gated)</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act:a10-make-the-product-deep-link-resolve · Make the product's own deep link resolve · deep_link_error_status · RULE-A10-v3 · weeks · staff_time</a:t>
            </a:r>
          </a:p>
          <a:p>
            <a:pPr/>
            <a:r>
              <a:rPr b="0" sz="1400">
                <a:solidFill>
                  <a:srgbClr val="000000"/>
                </a:solidFill>
              </a:rPr>
              <a:t>act:a10-return-a-real-status-for-routes-that-do-not-exist · Return a real HTTP status for routes that do not exist · soft_404 · RULE-A10-v3 · weeks · staff_time</a:t>
            </a:r>
          </a:p>
          <a:p>
            <a:pPr/>
            <a:r>
              <a:rPr b="0" sz="1400">
                <a:solidFill>
                  <a:srgbClr val="000000"/>
                </a:solidFill>
              </a:rPr>
              <a:t>act:a10-serve-the-product-content-before-javascript-runs · Serve the product's content in the first response, before JavaScript runs · client_rendered_shell · RULE-A10-v3 · weeks · staff_time</a:t>
            </a:r>
          </a:p>
          <a:p>
            <a:r>
              <a:rPr sz="800"/>
              <a:t/>
            </a:r>
          </a:p>
          <a:p>
            <a:pPr/>
            <a:r>
              <a:rPr b="1" sz="1400">
                <a:solidFill>
                  <a:srgbClr val="000000"/>
                </a:solidFill>
              </a:rPr>
              <a:t>Requirements (what stands between it and a verdict)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A10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appendix/indicator_A10.md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A10 · tierA · 12 · 1 · 0 · 3 · 16</a:t>
            </a:r>
          </a:p>
          <a:p>
            <a:pPr/>
            <a:r>
              <a:rPr b="0" sz="1400">
                <a:solidFill>
                  <a:srgbClr val="000000"/>
                </a:solidFill>
              </a:rPr>
              <a:t>A10 · tierC · 3 · 0 · 0 · 0 · 3</a:t>
            </a:r>
          </a:p>
          <a:p>
            <a:r>
              <a:rPr sz="800"/>
              <a:t/>
            </a:r>
          </a:p>
          <a:p>
            <a:pPr/>
            <a:r>
              <a:rPr b="1" sz="1400">
                <a:solidFill>
                  <a:srgbClr val="000000"/>
                </a:solidFill>
              </a:rPr>
              <a:t>Other record fields</a:t>
            </a:r>
          </a:p>
          <a:p>
            <a:r>
              <a:rPr sz="800"/>
              <a:t/>
            </a:r>
          </a:p>
          <a:p>
            <a:pPr/>
            <a:r>
              <a:rPr b="0" sz="1400">
                <a:solidFill>
                  <a:srgbClr val="000000"/>
                </a:solidFill>
              </a:rPr>
              <a:t>measured_by: {"counts": {"error": 3, "fail": 7, "not_applicable": 0, "pass": 16}, "cycle": "scan_2026-09-07", "definition": "at least one pass/fail/not_applicable Finding on an admitted, observable surface in a cycle with fired controls; error does not count", "legs": ["A10"],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rules.CURRENT['A10'] = RULE-A10-v3 (assessment/harness/scan/rules/__init__.py); measurement spec spec:A10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A11: A4 upgraded from declared-policy check to three-layer comparison: declared (robots.txt/meta directives) vs enforced (edge/WAF/bot-management treatment) vs observed (actual crawler request logs). A mismatch between layers is itself the finding, not an error state</a:t>
            </a:r>
          </a:p>
          <a:p>
            <a:r>
              <a:rPr sz="800"/>
              <a:t/>
            </a:r>
          </a:p>
          <a:p>
            <a:pPr/>
            <a:r>
              <a:rPr b="0" sz="1400">
                <a:solidFill>
                  <a:srgbClr val="000000"/>
                </a:solidFill>
              </a:rPr>
              <a:t>Record node ind:A11.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Effective crawler access (declared / enforced / observed)</a:t>
            </a:r>
          </a:p>
          <a:p>
            <a:pPr/>
            <a:r>
              <a:rPr b="0" sz="1400">
                <a:solidFill>
                  <a:srgbClr val="000000"/>
                </a:solidFill>
              </a:rPr>
              <a:t>type: AUTO + agency_instrumented</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stub</a:t>
            </a:r>
          </a:p>
          <a:p>
            <a:pPr/>
            <a:r>
              <a:rPr b="0" sz="1400">
                <a:solidFill>
                  <a:srgbClr val="000000"/>
                </a:solidFill>
              </a:rPr>
              <a:t>candidate (DD-054): no</a:t>
            </a:r>
          </a:p>
          <a:p>
            <a:pPr/>
            <a:r>
              <a:rPr b="0" sz="1400">
                <a:solidFill>
                  <a:srgbClr val="000000"/>
                </a:solidFill>
              </a:rPr>
              <a:t>current rule: A11-declared: RULE-A11-declared-v2</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spec:A11-declared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appendix/indicator_A11.md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collector: protego</a:t>
            </a:r>
          </a:p>
          <a:p>
            <a:pPr/>
            <a:r>
              <a:rPr b="0" sz="1400">
                <a:solidFill>
                  <a:srgbClr val="000000"/>
                </a:solidFill>
              </a:rPr>
              <a:t>collector_pin: protego&gt;=0.3</a:t>
            </a:r>
          </a:p>
          <a:p>
            <a:pPr/>
            <a:r>
              <a:rPr b="0" sz="1400">
                <a:solidFill>
                  <a:srgbClr val="000000"/>
                </a:solidFill>
              </a:rPr>
              <a:t>evidence_kind: robots.txt + meta-robots + per-UA declared verdict</a:t>
            </a:r>
          </a:p>
          <a:p>
            <a:pPr/>
            <a:r>
              <a:rPr b="0" sz="1400">
                <a:solidFill>
                  <a:srgbClr val="000000"/>
                </a:solidFill>
              </a:rPr>
              <a:t>indicator_code: A11</a:t>
            </a:r>
          </a:p>
          <a:p>
            <a:pPr/>
            <a:r>
              <a:rPr b="0" sz="1400">
                <a:solidFill>
                  <a:srgbClr val="000000"/>
                </a:solidFill>
              </a:rPr>
              <a:t>leg: A11-declared</a:t>
            </a:r>
          </a:p>
          <a:p>
            <a:pPr/>
            <a:r>
              <a:rPr b="0" sz="1400">
                <a:solidFill>
                  <a:srgbClr val="000000"/>
                </a:solidFill>
              </a:rPr>
              <a:t>mode: auto</a:t>
            </a:r>
          </a:p>
          <a:p>
            <a:pPr/>
            <a:r>
              <a:rPr b="0" sz="1400">
                <a:solidFill>
                  <a:srgbClr val="000000"/>
                </a:solidFill>
              </a:rPr>
              <a:t>prior_art: rfc-9309-robots-exclusion-protocol; cloudflare-ai-crawl-control-manage-crawlers</a:t>
            </a:r>
          </a:p>
          <a:p>
            <a:pPr/>
            <a:r>
              <a:rPr b="0" sz="1400">
                <a:solidFill>
                  <a:srgbClr val="000000"/>
                </a:solidFill>
              </a:rPr>
              <a:t>rule_id: RULE-A11-declared-v2</a:t>
            </a:r>
          </a:p>
          <a:p>
            <a:pPr/>
            <a:r>
              <a:rPr b="0" sz="1400">
                <a:solidFill>
                  <a:srgbClr val="000000"/>
                </a:solidFill>
              </a:rPr>
              <a:t>signal: The DECLARED layer only: robots.txt and meta-robots directives for the product path. The enforced and observed layers need edge/WAF logs and are agency_instrumented.</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cloudflare-ai-crawl-control-manage-crawlers · industry · Cloudflare AI Crawl Control: Manage AI crawlers · general support; no pinpoint</a:t>
            </a:r>
          </a:p>
          <a:p>
            <a:pPr/>
            <a:r>
              <a:rPr b="0" sz="1400">
                <a:solidFill>
                  <a:srgbClr val="000000"/>
                </a:solidFill>
              </a:rPr>
              <a:t>rfc-9309-robots-exclusion-protocol · standard · RFC 9309: Robots Exclusion Protocol · general support; no pinpoint</a:t>
            </a:r>
          </a:p>
          <a:p>
            <a:r>
              <a:rPr sz="800"/>
              <a:t/>
            </a:r>
          </a:p>
          <a:p>
            <a:pPr/>
            <a:r>
              <a:rPr b="0" sz="1400">
                <a:solidFill>
                  <a:srgbClr val="000000"/>
                </a:solidFill>
              </a:rPr>
              <a:t>Evidence cell, verbatim:</a:t>
            </a:r>
          </a:p>
          <a:p>
            <a:r>
              <a:rPr sz="800"/>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cloudflare-ai-crawl-control-manage-crawlers; rfc-9309-robots-exclusion-protocol; internal draft: FSS Machine Diagnostic spec (as above)</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act:a11-declare-a-crawler-policy-for-the-product-path · Declare a crawler policy for the product path · nothing_declared · RULE-A11-declared-v2 · days · staff_time</a:t>
            </a:r>
          </a:p>
          <a:p>
            <a:pPr/>
            <a:r>
              <a:rPr b="0" sz="1400">
                <a:solidFill>
                  <a:srgbClr val="000000"/>
                </a:solidFill>
              </a:rPr>
              <a:t>act:a11-permit-the-ai-crawlers-you-intend-to-serve-on-the-product-path · Permit, in robots.txt, the AI crawlers the product is meant to reach · robots_disallows_ai_crawlers · RULE-A11-declared-v2 · hours · none</a:t>
            </a:r>
          </a:p>
          <a:p>
            <a:pPr/>
            <a:r>
              <a:rPr b="0" sz="1400">
                <a:solidFill>
                  <a:srgbClr val="000000"/>
                </a:solidFill>
              </a:rPr>
              <a:t>act:a11-resolve-the-meta-robots-directive-that-contradicts-robots-txt · Resolve the meta-robots directive that contradicts robots.txt · meta_robots_contradicts_robots_txt · RULE-A11-declared-v2 · hours · none</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pre:cloudflare-zone-account · site_owner_account · unmeasured_half · cloudflare_zone · declared policy compared with what the edge enforced and which crawlers came</a:t>
            </a:r>
          </a:p>
          <a:p>
            <a:pPr/>
            <a:r>
              <a:rPr b="0" sz="1400">
                <a:solidFill>
                  <a:srgbClr val="000000"/>
                </a:solidFill>
              </a:rPr>
              <a:t>pre:edge-and-crawler-request-logs · agency_records · unmeasured_half · agency_logs · declared policy compared with what the edge enforced and which crawlers came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tool:cloudflare-ai-crawl-control · platform_account · unmeasured_half · cloudflare_zone · declared policy compared with what the edge enforced and which crawlers came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A11-declared · tierA · 11 · 2 · 0 · 3 · 16</a:t>
            </a:r>
          </a:p>
          <a:p>
            <a:pPr/>
            <a:r>
              <a:rPr b="0" sz="1400">
                <a:solidFill>
                  <a:srgbClr val="000000"/>
                </a:solidFill>
              </a:rPr>
              <a:t>A11-declared · tierC · 3 · 0 · 0 · 0 · 3</a:t>
            </a:r>
          </a:p>
          <a:p>
            <a:r>
              <a:rPr sz="800"/>
              <a:t/>
            </a:r>
          </a:p>
          <a:p>
            <a:pPr/>
            <a:r>
              <a:rPr b="1" sz="1400">
                <a:solidFill>
                  <a:srgbClr val="000000"/>
                </a:solidFill>
              </a:rPr>
              <a:t>Other record fields</a:t>
            </a:r>
          </a:p>
          <a:p>
            <a:r>
              <a:rPr sz="800"/>
              <a:t/>
            </a:r>
          </a:p>
          <a:p>
            <a:pPr/>
            <a:r>
              <a:rPr b="0" sz="1400">
                <a:solidFill>
                  <a:srgbClr val="000000"/>
                </a:solidFill>
              </a:rPr>
              <a:t>measured_by: {"counts": {"error": 3, "fail": 4, "not_applicable": 0, "pass": 19}, "cycle": "scan_2026-09-07", "definition": "at least one pass/fail/not_applicable Finding on an admitted, observable surface in a cycle with fired controls; error does not count", "legs": ["A11-declared"], "params_hash": "4a1350802619fe8ff65c0fc38cce128298278d0d2787b24cd6cfa3a17eb656f4", "qualifying_findings": 23, "recorded_by": "cc_tasks/2026-09-07_scan_run.md"}</a:t>
            </a:r>
          </a:p>
          <a:p>
            <a:pPr/>
            <a:r>
              <a:rPr b="0" sz="1400">
                <a:solidFill>
                  <a:srgbClr val="000000"/>
                </a:solidFill>
              </a:rPr>
              <a:t>tier_note: The rule measures the DECLARED layer only (leg A11-declared). The enforced and observed layers need edge or WAF logs and crawler request logs, which spec spec:A11-declared places at agency_instrumented.</a:t>
            </a:r>
          </a:p>
          <a:p>
            <a:pPr/>
            <a:r>
              <a:rPr b="0" sz="1400">
                <a:solidFill>
                  <a:srgbClr val="000000"/>
                </a:solidFill>
              </a:rPr>
              <a:t>tier_rule: cc_tasks/2026-09-17_measurement_tiers.md decision 2 rule 1</a:t>
            </a:r>
          </a:p>
          <a:p>
            <a:pPr/>
            <a:r>
              <a:rPr b="0" sz="1400">
                <a:solidFill>
                  <a:srgbClr val="000000"/>
                </a:solidFill>
              </a:rPr>
              <a:t>tier_source: rules.CURRENT['A11-declared'] = RULE-A11-declared-v2 (assessment/harness/scan/rules/__init__.py); measurement spec spec:A11-declared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A12: An identified, robots-compliant machine client that robots.txt permits is served (not refused by a WAF or bot manager)</a:t>
            </a:r>
          </a:p>
          <a:p>
            <a:r>
              <a:rPr sz="800"/>
              <a:t/>
            </a:r>
          </a:p>
          <a:p>
            <a:pPr/>
            <a:r>
              <a:rPr b="0" sz="1400">
                <a:solidFill>
                  <a:srgbClr val="000000"/>
                </a:solidFill>
              </a:rPr>
              <a:t>Record node ind:A12. Every value below is a field of that node or of an edge or node it reaches, printed verbatim.</a:t>
            </a:r>
          </a:p>
          <a:p>
            <a:r>
              <a:rPr sz="800"/>
              <a:t/>
            </a:r>
          </a:p>
          <a:p>
            <a:pPr/>
            <a:r>
              <a:rPr b="0" sz="1400">
                <a:solidFill>
                  <a:srgbClr val="000000"/>
                </a:solidFill>
              </a:rPr>
              <a:t>criterion: A</a:t>
            </a:r>
          </a:p>
          <a:p>
            <a:pPr/>
            <a:r>
              <a:rPr b="0" sz="1400">
                <a:solidFill>
                  <a:srgbClr val="000000"/>
                </a:solidFill>
              </a:rPr>
              <a:t>construct: Access policy coherence</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specified</a:t>
            </a:r>
          </a:p>
          <a:p>
            <a:pPr/>
            <a:r>
              <a:rPr b="0" sz="1400">
                <a:solidFill>
                  <a:srgbClr val="000000"/>
                </a:solidFill>
              </a:rPr>
              <a:t>status: candidate</a:t>
            </a:r>
          </a:p>
          <a:p>
            <a:pPr/>
            <a:r>
              <a:rPr b="0" sz="1400">
                <a:solidFill>
                  <a:srgbClr val="000000"/>
                </a:solidFill>
              </a:rPr>
              <a:t>candidate (DD-054): yes</a:t>
            </a:r>
          </a:p>
          <a:p>
            <a:pPr/>
            <a:r>
              <a:rPr b="0" sz="1400">
                <a:solidFill>
                  <a:srgbClr val="000000"/>
                </a:solidFill>
              </a:rPr>
              <a:t>current rule: A12: RULE-A12-v3</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spec:A12</a:t>
            </a:r>
          </a:p>
          <a:p>
            <a:r>
              <a:rPr sz="800"/>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 http + robots</a:t>
            </a:r>
          </a:p>
          <a:p>
            <a:pPr/>
            <a:r>
              <a:rPr b="0" sz="1400">
                <a:solidFill>
                  <a:srgbClr val="000000"/>
                </a:solidFill>
              </a:rPr>
              <a:t>collector_pin: httpx&gt;=0.27 + protego (scripts/scan_preflight.py)</a:t>
            </a:r>
          </a:p>
          <a:p>
            <a:pPr/>
            <a:r>
              <a:rPr b="0" sz="1400">
                <a:solidFill>
                  <a:srgbClr val="000000"/>
                </a:solidFill>
              </a:rPr>
              <a:t>evidence_kind: robots.txt body + per-UA verdict + the response status for the same path</a:t>
            </a:r>
          </a:p>
          <a:p>
            <a:pPr/>
            <a:r>
              <a:rPr b="0" sz="1400">
                <a:solidFill>
                  <a:srgbClr val="000000"/>
                </a:solidFill>
              </a:rPr>
              <a:t>indicator_code: A12</a:t>
            </a:r>
          </a:p>
          <a:p>
            <a:pPr/>
            <a:r>
              <a:rPr b="0" sz="1400">
                <a:solidFill>
                  <a:srgbClr val="000000"/>
                </a:solidFill>
              </a:rPr>
              <a:t>leg: A12</a:t>
            </a:r>
          </a:p>
          <a:p>
            <a:pPr/>
            <a:r>
              <a:rPr b="0" sz="1400">
                <a:solidFill>
                  <a:srgbClr val="000000"/>
                </a:solidFill>
              </a:rPr>
              <a:t>mode: auto</a:t>
            </a:r>
          </a:p>
          <a:p>
            <a:pPr/>
            <a:r>
              <a:rPr b="0" sz="1400">
                <a:solidFill>
                  <a:srgbClr val="000000"/>
                </a:solidFill>
              </a:rPr>
              <a:t>prior_art: RFC 9309 (what a declaration means); cloudflare-ai-crawl-control-manage-crawlers (what an enforcing layer does)</a:t>
            </a:r>
          </a:p>
          <a:p>
            <a:pPr/>
            <a:r>
              <a:rPr b="0" sz="1400">
                <a:solidFill>
                  <a:srgbClr val="000000"/>
                </a:solidFill>
              </a:rPr>
              <a:t>recorded_by: cc_tasks/2026-09-06_scan_targets.md</a:t>
            </a:r>
          </a:p>
          <a:p>
            <a:pPr/>
            <a:r>
              <a:rPr b="0" sz="1400">
                <a:solidFill>
                  <a:srgbClr val="000000"/>
                </a:solidFill>
              </a:rPr>
              <a:t>rule_id: RULE-A12-v3</a:t>
            </a:r>
          </a:p>
          <a:p>
            <a:pPr/>
            <a:r>
              <a:rPr b="0" sz="1400">
                <a:solidFill>
                  <a:srgbClr val="000000"/>
                </a:solidFill>
              </a:rPr>
              <a:t>signal: Per host: GET /robots.txt and parse it; then GET the product path under the identified UA. Coherent iff robots.txt permits the path for this UA AND the host serves it. Incoherent iff robots.txt permits and the host answers a status in manners.unobservable_statuses (401/403/407/429). A robots.txt that DISALLOWS the path is not incoherence — it is A4's measurement, and this indicator is not_applicable there.</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cloudflare-ai-crawl-control-manage-crawlers · industry · Cloudflare AI Crawl Control: Manage AI crawlers · the enforcing layer this indicator detects from outside</a:t>
            </a:r>
          </a:p>
          <a:p>
            <a:pPr/>
            <a:r>
              <a:rPr b="0" sz="1400">
                <a:solidFill>
                  <a:srgbClr val="000000"/>
                </a:solidFill>
              </a:rPr>
              <a:t>rfc-9309-robots-exclusion-protocol · standard · RFC 9309: Robots Exclusion Protocol · the declared layer's semantics</a:t>
            </a:r>
          </a:p>
          <a:p>
            <a:r>
              <a:rPr sz="800"/>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Internal references: internal:cc_tasks/2026-09-06_harness_scaffold_RESULT.md §5, internal:docs/design_decisions.md DD-052 §6a, internal:state/scan_preflight_2026-09.json.</a:t>
            </a:r>
          </a:p>
          <a:p>
            <a:r>
              <a:rPr sz="800"/>
              <a:t/>
            </a:r>
          </a:p>
          <a:p>
            <a:pPr/>
            <a:r>
              <a:rPr b="0" sz="1400">
                <a:solidFill>
                  <a:srgbClr val="000000"/>
                </a:solidFill>
              </a:rPr>
              <a:t>Evidence cell, verbatim:</a:t>
            </a:r>
          </a:p>
          <a:p>
            <a:r>
              <a:rPr sz="800"/>
              <a:t/>
            </a:r>
          </a:p>
          <a:p>
            <a:pPr/>
            <a:r>
              <a:rPr b="0" sz="1400">
                <a:solidFill>
                  <a:srgbClr val="000000"/>
                </a:solidFill>
              </a:rPr>
              <a:t>rfc-9309-robots-exclusion-protocol (the declared layer's semantics); cloudflare-ai-crawl-control-manage-crawlers (the enforcing layer this indicator detects from outside)</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act:a12-align-the-edge-with-the-declaration · Align the edge or bot manager with what robots.txt declares · declared_permits_enforced_refuses · RULE-A12-v3 · weeks · staff_time</a:t>
            </a:r>
          </a:p>
          <a:p>
            <a:pPr/>
            <a:r>
              <a:rPr b="0" sz="1400">
                <a:solidFill>
                  <a:srgbClr val="000000"/>
                </a:solidFill>
              </a:rPr>
              <a:t>act:a12-publish-a-robots-txt-group-an-identified-client-matches · Publish a robots.txt group that an identified machine client matches · nothing_declared_for_this_client · RULE-A12-v3 · hours · none</a:t>
            </a:r>
          </a:p>
          <a:p>
            <a:pPr/>
            <a:r>
              <a:rPr b="0" sz="1400">
                <a:solidFill>
                  <a:srgbClr val="000000"/>
                </a:solidFill>
              </a:rPr>
              <a:t>act:a12-serve-robots-txt-to-every-client · Serve /robots.txt to every client, including ones the edge does not recognise · robots_itself_refused · RULE-A12-v3 · weeks · staff_time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A12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appendix/indicator_A12.md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A12 · tierA · 12 · 4 · 0 · 0 · 16</a:t>
            </a:r>
          </a:p>
          <a:p>
            <a:pPr/>
            <a:r>
              <a:rPr b="0" sz="1400">
                <a:solidFill>
                  <a:srgbClr val="000000"/>
                </a:solidFill>
              </a:rPr>
              <a:t>A12 · tierC · 3 · 0 · 0 · 0 · 3</a:t>
            </a:r>
          </a:p>
          <a:p>
            <a:r>
              <a:rPr sz="800"/>
              <a:t/>
            </a:r>
          </a:p>
          <a:p>
            <a:pPr/>
            <a:r>
              <a:rPr b="1" sz="1400">
                <a:solidFill>
                  <a:srgbClr val="000000"/>
                </a:solidFill>
              </a:rPr>
              <a:t>Other record fields</a:t>
            </a:r>
          </a:p>
          <a:p>
            <a:r>
              <a:rPr sz="800"/>
              <a:t/>
            </a:r>
          </a:p>
          <a:p>
            <a:pPr/>
            <a:r>
              <a:rPr b="0" sz="1400">
                <a:solidFill>
                  <a:srgbClr val="000000"/>
                </a:solidFill>
              </a:rPr>
              <a:t>candidate_rationale: The public-observable leg of A11's enforced layer. A11 places enforced and observed access at agency_instrumented because a WAF is not visible from outside; that holds in general and fails for the one case where robots.txt PERMITS a path and the host REFUSES a compliant client asking for it. The disagreement between the two declared and enforced layers is then observable at the public tier with no edge logs at all.</a:t>
            </a:r>
          </a:p>
          <a:p>
            <a:pPr/>
            <a:r>
              <a:rPr b="0" sz="1400">
                <a:solidFill>
                  <a:srgbClr val="000000"/>
                </a:solidFill>
              </a:rPr>
              <a:t>tier_note: A CANDIDATE indicator (DD-054): its rule runs and enters no framework numerator until the operator adopts it.</a:t>
            </a:r>
          </a:p>
          <a:p>
            <a:pPr/>
            <a:r>
              <a:rPr b="0" sz="1400">
                <a:solidFill>
                  <a:srgbClr val="000000"/>
                </a:solidFill>
              </a:rPr>
              <a:t>tier_rule: cc_tasks/2026-09-17_measurement_tiers.md decision 2 rule 1</a:t>
            </a:r>
          </a:p>
          <a:p>
            <a:pPr/>
            <a:r>
              <a:rPr b="0" sz="1400">
                <a:solidFill>
                  <a:srgbClr val="000000"/>
                </a:solidFill>
              </a:rPr>
              <a:t>tier_source: rules.CURRENT['A12'] = RULE-A12-v3 (assessment/harness/scan/rules/__init__.py); measurement spec spec:A12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B1: Comprehensive variable-level metadata (labels, definitions, units, universes)</a:t>
            </a:r>
          </a:p>
          <a:p>
            <a:r>
              <a:rPr sz="800"/>
              <a:t/>
            </a:r>
          </a:p>
          <a:p>
            <a:pPr/>
            <a:r>
              <a:rPr b="0" sz="1400">
                <a:solidFill>
                  <a:srgbClr val="000000"/>
                </a:solidFill>
              </a:rPr>
              <a:t>Record node ind:B1. Every value below is a field of that node or of an edge or node it reaches, printed verbatim.</a:t>
            </a:r>
          </a:p>
          <a:p>
            <a:r>
              <a:rPr sz="800"/>
              <a:t/>
            </a:r>
          </a:p>
          <a:p>
            <a:pPr/>
            <a:r>
              <a:rPr b="0" sz="1400">
                <a:solidFill>
                  <a:srgbClr val="000000"/>
                </a:solidFill>
              </a:rPr>
              <a:t>criterion: B</a:t>
            </a:r>
          </a:p>
          <a:p>
            <a:pPr/>
            <a:r>
              <a:rPr b="0" sz="1400">
                <a:solidFill>
                  <a:srgbClr val="000000"/>
                </a:solidFill>
              </a:rPr>
              <a:t>construct: Variable-level semantics</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harness_built</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B1: RULE-B1-v2</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spec:B1</a:t>
            </a:r>
          </a:p>
          <a:p>
            <a:r>
              <a:rPr sz="800"/>
              <a:t/>
            </a:r>
          </a:p>
          <a:p>
            <a:pPr/>
            <a:r>
              <a:rPr b="0" sz="1400">
                <a:solidFill>
                  <a:srgbClr val="000000"/>
                </a:solidFill>
              </a:rPr>
              <a:t>collector: dcat-record-fields and schema-terms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assessment/harness/scan/collectors/v2clauses.py dcat_record_fields (scheme 1) over D4's observation; assessment/harness/scan/rules/_schema_terms.py over A6's (parsed.raw, extruct&gt;=0.17)</a:t>
            </a:r>
          </a:p>
          <a:p>
            <a:pPr/>
            <a:r>
              <a:rPr b="0" sz="1400">
                <a:solidFill>
                  <a:srgbClr val="000000"/>
                </a:solidFill>
              </a:rPr>
              <a:t>evidence_kind: D4's catalog document + per-record field profile; A6's extracted markup</a:t>
            </a:r>
          </a:p>
          <a:p>
            <a:pPr/>
            <a:r>
              <a:rPr b="0" sz="1400">
                <a:solidFill>
                  <a:srgbClr val="000000"/>
                </a:solidFill>
              </a:rPr>
              <a:t>indicator_code: B1</a:t>
            </a:r>
          </a:p>
          <a:p>
            <a:pPr/>
            <a:r>
              <a:rPr b="0" sz="1400">
                <a:solidFill>
                  <a:srgbClr val="000000"/>
                </a:solidFill>
              </a:rPr>
              <a:t>leg: B1</a:t>
            </a:r>
          </a:p>
          <a:p>
            <a:pPr/>
            <a:r>
              <a:rPr b="0" sz="1400">
                <a:solidFill>
                  <a:srgbClr val="000000"/>
                </a:solidFill>
              </a:rPr>
              <a:t>mode: auto</a:t>
            </a:r>
          </a:p>
          <a:p>
            <a:pPr/>
            <a:r>
              <a:rPr b="0" sz="1400">
                <a:solidFill>
                  <a:srgbClr val="000000"/>
                </a:solidFill>
              </a:rPr>
              <a:t>prior_art: dcat-us-1-1-schema; schema-org-dataset</a:t>
            </a:r>
          </a:p>
          <a:p>
            <a:pPr/>
            <a:r>
              <a:rPr b="0" sz="1400">
                <a:solidFill>
                  <a:srgbClr val="000000"/>
                </a:solidFill>
              </a:rPr>
              <a:t>rule_id: RULE-B1-v2</a:t>
            </a:r>
          </a:p>
          <a:p>
            <a:pPr/>
            <a:r>
              <a:rPr b="0" sz="1400">
                <a:solidFill>
                  <a:srgbClr val="000000"/>
                </a:solidFill>
              </a:rPr>
              <a:t>signal: On D4's /data.json observation, test whether every catalog record for the product links a data dictionary (DCAT-US describedBy, on the dataset or a distribution); on A6's markup of the product page, test whether a schema.org Dataset lists variableMeasured. Either half passes the leg.</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fcsm-25-03 · federal · FCSM 25-03: AI-Ready Federal Statistical Data — An Extension of Communicating Data Quality · general support; no pinpoint</a:t>
            </a:r>
          </a:p>
          <a:p>
            <a:r>
              <a:rPr sz="800"/>
              <a:t/>
            </a:r>
          </a:p>
          <a:p>
            <a:pPr/>
            <a:r>
              <a:rPr b="0" sz="1400">
                <a:solidFill>
                  <a:srgbClr val="000000"/>
                </a:solidFill>
              </a:rPr>
              <a:t>Evidence cell, verbatim:</a:t>
            </a:r>
          </a:p>
          <a:p>
            <a:r>
              <a:rPr sz="800"/>
              <a:t/>
            </a:r>
          </a:p>
          <a:p>
            <a:pPr/>
            <a:r>
              <a:rPr b="0" sz="1400">
                <a:solidFill>
                  <a:srgbClr val="000000"/>
                </a:solidFill>
              </a:rPr>
              <a:t>fcsm-25-03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appendix/indicator_B1.md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act:b1-link-the-data-dictionary-from-the-catalog-record · Link the data dictionary from the product's catalog record · no_data_dictionary · RULE-B1-v2 · hours · none</a:t>
            </a:r>
          </a:p>
          <a:p>
            <a:pPr/>
            <a:r>
              <a:rPr b="0" sz="1400">
                <a:solidFill>
                  <a:srgbClr val="000000"/>
                </a:solidFill>
              </a:rPr>
              <a:t>act:b1-list-the-variables-measured-in-the-page-markup · List the product's variables in its page markup · no_variable_measured · RULE-B1-v2 · hours · none</a:t>
            </a:r>
          </a:p>
          <a:p>
            <a:pPr/>
            <a:r>
              <a:rPr b="0" sz="1400">
                <a:solidFill>
                  <a:srgbClr val="000000"/>
                </a:solidFill>
              </a:rPr>
              <a:t>act:b1-publish-the-products-record-with-its-data-dictionary · Publish the product's catalog record with a link to its data dictionary · no_product_record · RULE-B1-v2 · days · staff_time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0" sz="1400">
                <a:solidFill>
                  <a:srgbClr val="000000"/>
                </a:solidFill>
              </a:rPr>
              <a:t>requirement_none_reason: The unmeasured half is whether the linked dictionary or the listed variables are 'comprehensive', a judgement about their contents. No admitted document defines a test for it, so what stands in the way is an instrument this project has not specified — not a tool, an account or anything the body holds.</a:t>
            </a:r>
          </a:p>
          <a:p>
            <a:r>
              <a:rPr sz="800"/>
              <a:t/>
            </a:r>
          </a:p>
          <a:p>
            <a:pPr/>
            <a:r>
              <a:rPr b="1" sz="1400">
                <a:solidFill>
                  <a:srgbClr val="000000"/>
                </a:solidFill>
              </a:rPr>
              <a:t>Verdicts on the cycle of record (scan_2026-09-10_rj4)</a:t>
            </a:r>
          </a:p>
          <a:p>
            <a:r>
              <a:rPr sz="800"/>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leg · matrix · pass · fail · not_applicable · error · cells</a:t>
            </a:r>
          </a:p>
          <a:p>
            <a:pPr/>
            <a:r>
              <a:rPr b="0" sz="1400">
                <a:solidFill>
                  <a:srgbClr val="000000"/>
                </a:solidFill>
              </a:rPr>
              <a:t>B1 · product · 0 · 18 · 0 · 5 · 23</a:t>
            </a:r>
          </a:p>
          <a:p>
            <a:r>
              <a:rPr sz="800"/>
              <a:t/>
            </a:r>
          </a:p>
          <a:p>
            <a:pPr/>
            <a:r>
              <a:rPr b="1" sz="1400">
                <a:solidFill>
                  <a:srgbClr val="000000"/>
                </a:solidFill>
              </a:rPr>
              <a:t>Other record fields</a:t>
            </a:r>
          </a:p>
          <a:p>
            <a:r>
              <a:rPr sz="800"/>
              <a:t/>
            </a:r>
          </a:p>
          <a:p>
            <a:pPr/>
            <a:r>
              <a:rPr b="0" sz="1400">
                <a:solidFill>
                  <a:srgbClr val="000000"/>
                </a:solidFill>
              </a:rPr>
              <a:t>tier_note: The rule reads both halves: every catalog record for the product links a data dictionary (DCAT-US describedBy), or the product page's schema.org Dataset lists variableMeasured; either passes the leg. The contents of the dictionary or of the listed variables, and whether they are 'comprehensive', are not measured.</a:t>
            </a:r>
          </a:p>
          <a:p>
            <a:pPr/>
            <a:r>
              <a:rPr b="0" sz="1400">
                <a:solidFill>
                  <a:srgbClr val="000000"/>
                </a:solidFill>
              </a:rPr>
              <a:t>tier_rule: cc_tasks/2026-09-17_measurement_tiers.md decision 2 rule 1</a:t>
            </a:r>
          </a:p>
          <a:p>
            <a:pPr/>
            <a:r>
              <a:rPr b="0" sz="1400">
                <a:solidFill>
                  <a:srgbClr val="000000"/>
                </a:solidFill>
              </a:rPr>
              <a:t>tier_source: rules.CURRENT['B1'] = RULE-B1-v2 (assessment/harness/scan/rules/__init__.py); measurement spec spec:B1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B2: Concept/term definitions published, versioned, linked from variables</a:t>
            </a:r>
          </a:p>
          <a:p>
            <a:r>
              <a:rPr sz="800"/>
              <a:t/>
            </a:r>
          </a:p>
          <a:p>
            <a:pPr/>
            <a:r>
              <a:rPr b="0" sz="1400">
                <a:solidFill>
                  <a:srgbClr val="000000"/>
                </a:solidFill>
              </a:rPr>
              <a:t>Record node ind:B2. Every value below is a field of that node or of an edge or node it reaches, printed verbatim.</a:t>
            </a:r>
          </a:p>
          <a:p>
            <a:r>
              <a:rPr sz="800"/>
              <a:t/>
            </a:r>
          </a:p>
          <a:p>
            <a:pPr/>
            <a:r>
              <a:rPr b="0" sz="1400">
                <a:solidFill>
                  <a:srgbClr val="000000"/>
                </a:solidFill>
              </a:rPr>
              <a:t>criterion: B</a:t>
            </a:r>
          </a:p>
          <a:p>
            <a:pPr/>
            <a:r>
              <a:rPr b="0" sz="1400">
                <a:solidFill>
                  <a:srgbClr val="000000"/>
                </a:solidFill>
              </a:rPr>
              <a:t>construct: Definitions surface</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harness_built</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B2: RULE-B2-v1</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spec:B2</a:t>
            </a:r>
          </a:p>
          <a:p>
            <a:r>
              <a:rPr sz="800"/>
              <a:t/>
            </a:r>
          </a:p>
          <a:p>
            <a:pPr/>
            <a:r>
              <a:rPr b="0" sz="1400">
                <a:solidFill>
                  <a:srgbClr val="000000"/>
                </a:solidFill>
              </a:rPr>
              <a:t>collector: schema-terms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assessment/harness/scan/rules/_schema_terms.py over structured_data.fetch's A6 observation (parsed.raw, extruct&gt;=0.17)</a:t>
            </a:r>
          </a:p>
          <a:p>
            <a:pPr/>
            <a:r>
              <a:rPr b="0" sz="1400">
                <a:solidFill>
                  <a:srgbClr val="000000"/>
                </a:solidFill>
              </a:rPr>
              <a:t>evidence_kind: A6's extracted markup</a:t>
            </a:r>
          </a:p>
          <a:p>
            <a:pPr/>
            <a:r>
              <a:rPr b="0" sz="1400">
                <a:solidFill>
                  <a:srgbClr val="000000"/>
                </a:solidFill>
              </a:rPr>
              <a:t>indicator_code: B2</a:t>
            </a:r>
          </a:p>
          <a:p>
            <a:pPr/>
            <a:r>
              <a:rPr b="0" sz="1400">
                <a:solidFill>
                  <a:srgbClr val="000000"/>
                </a:solidFill>
              </a:rPr>
              <a:t>leg: B2</a:t>
            </a:r>
          </a:p>
          <a:p>
            <a:pPr/>
            <a:r>
              <a:rPr b="0" sz="1400">
                <a:solidFill>
                  <a:srgbClr val="000000"/>
                </a:solidFill>
              </a:rPr>
              <a:t>mode: auto</a:t>
            </a:r>
          </a:p>
          <a:p>
            <a:pPr/>
            <a:r>
              <a:rPr b="0" sz="1400">
                <a:solidFill>
                  <a:srgbClr val="000000"/>
                </a:solidFill>
              </a:rPr>
              <a:t>note: The 'versioned' clause has no field in any admitted document and is recorded as unmeasured on every verdict.</a:t>
            </a:r>
          </a:p>
          <a:p>
            <a:pPr/>
            <a:r>
              <a:rPr b="0" sz="1400">
                <a:solidFill>
                  <a:srgbClr val="000000"/>
                </a:solidFill>
              </a:rPr>
              <a:t>prior_art: schema-org-definedterm; schema-org-dataset</a:t>
            </a:r>
          </a:p>
          <a:p>
            <a:pPr/>
            <a:r>
              <a:rPr b="0" sz="1400">
                <a:solidFill>
                  <a:srgbClr val="000000"/>
                </a:solidFill>
              </a:rPr>
              <a:t>rule_id: RULE-B2-v1</a:t>
            </a:r>
          </a:p>
          <a:p>
            <a:pPr/>
            <a:r>
              <a:rPr b="0" sz="1400">
                <a:solidFill>
                  <a:srgbClr val="000000"/>
                </a:solidFill>
              </a:rPr>
              <a:t>signal: On A6's markup of the product page, test whether a schema.org DefinedTerm is reached from a Dataset and every such term carries termCode, inDefinedTermSet and description.</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schema-org-definedterm · standard · schema.org: DefinedTerm · general support; no pinpoint</a:t>
            </a:r>
          </a:p>
          <a:p>
            <a:pPr/>
            <a:r>
              <a:rPr b="0" sz="1400">
                <a:solidFill>
                  <a:srgbClr val="000000"/>
                </a:solidFill>
              </a:rPr>
              <a:t>w3c-dcat-3 · standard · Data Catalog Vocabulary (DCAT) - Version 3 (W3C Recommendation) · general support; no pinpoint</a:t>
            </a:r>
          </a:p>
          <a:p>
            <a:r>
              <a:rPr sz="800"/>
              <a:t/>
            </a:r>
          </a:p>
          <a:p>
            <a:pPr/>
            <a:r>
              <a:rPr b="0" sz="1400">
                <a:solidFill>
                  <a:srgbClr val="000000"/>
                </a:solidFill>
              </a:rPr>
              <a:t>Evidence cell, verbatim:</a:t>
            </a:r>
          </a:p>
          <a:p>
            <a:r>
              <a:rPr sz="800"/>
              <a:t/>
            </a:r>
          </a:p>
          <a:p>
            <a:pPr/>
            <a:r>
              <a:rPr b="0" sz="1400">
                <a:solidFill>
                  <a:srgbClr val="000000"/>
                </a:solidFill>
              </a:rPr>
              <a:t>schema-org-definedterm; w3c-dcat-3; internal: this KG's Definition layer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appendix/indicator_B2.md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act:b2-give-each-defined-term-a-code-set-and-definition · Give each linked defined term a code, a term set and a definition · terms_incomplete · RULE-B2-v1 · hours · none</a:t>
            </a:r>
          </a:p>
          <a:p>
            <a:pPr/>
            <a:r>
              <a:rPr b="0" sz="1400">
                <a:solidFill>
                  <a:srgbClr val="000000"/>
                </a:solidFill>
              </a:rPr>
              <a:t>act:b2-link-defined-terms-from-the-variables · Link the defined terms from the product's variables · terms_not_linked · RULE-B2-v1 · hours · none</a:t>
            </a:r>
          </a:p>
          <a:p>
            <a:pPr/>
            <a:r>
              <a:rPr b="0" sz="1400">
                <a:solidFill>
                  <a:srgbClr val="000000"/>
                </a:solidFill>
              </a:rPr>
              <a:t>act:b2-publish-concept-definitions-as-defined-terms · Publish the product's concept definitions as schema.org DefinedTerms · no_defined_terms · RULE-B2-v1 · hours · none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0" sz="1400">
                <a:solidFill>
                  <a:srgbClr val="000000"/>
                </a:solidFill>
              </a:rPr>
              <a:t>requirement_none_reason: The 'versioned' clause has no field in any admitted document. What is missing is a standard to test against, not a tool or a grant.</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B2 · product · 0 · 19 · 0 · 4 · 23</a:t>
            </a:r>
          </a:p>
          <a:p>
            <a:r>
              <a:rPr sz="800"/>
              <a:t/>
            </a:r>
          </a:p>
          <a:p>
            <a:pPr/>
            <a:r>
              <a:rPr b="1" sz="1400">
                <a:solidFill>
                  <a:srgbClr val="000000"/>
                </a:solidFill>
              </a:rPr>
              <a:t>Other record fields</a:t>
            </a:r>
          </a:p>
          <a:p>
            <a:r>
              <a:rPr sz="800"/>
              <a:t/>
            </a:r>
          </a:p>
          <a:p>
            <a:pPr/>
            <a:r>
              <a:rPr b="0" sz="1400">
                <a:solidFill>
                  <a:srgbClr val="000000"/>
                </a:solidFill>
              </a:rPr>
              <a:t>tier_note: The rule measures the published and linked clauses: a schema.org DefinedTerm reached from the product page's Dataset, carrying termCode, inDefinedTermSet and description. The 'versioned' clause has no field in any admitted document and is recorded as unmeasured on every verdict.</a:t>
            </a:r>
          </a:p>
          <a:p>
            <a:pPr/>
            <a:r>
              <a:rPr b="0" sz="1400">
                <a:solidFill>
                  <a:srgbClr val="000000"/>
                </a:solidFill>
              </a:rPr>
              <a:t>tier_rule: cc_tasks/2026-09-17_measurement_tiers.md decision 2 rule 1</a:t>
            </a:r>
          </a:p>
          <a:p>
            <a:pPr/>
            <a:r>
              <a:rPr b="0" sz="1400">
                <a:solidFill>
                  <a:srgbClr val="000000"/>
                </a:solidFill>
              </a:rPr>
              <a:t>tier_source: rules.CURRENT['B2'] = RULE-B2-v1 (assessment/harness/scan/rules/__init__.py); measurement spec spec:B2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B3: Methodology docs in structured text (not PDF-only); summarizable by retrieval</a:t>
            </a:r>
          </a:p>
          <a:p>
            <a:r>
              <a:rPr sz="800"/>
              <a:t/>
            </a:r>
          </a:p>
          <a:p>
            <a:pPr/>
            <a:r>
              <a:rPr b="0" sz="1400">
                <a:solidFill>
                  <a:srgbClr val="000000"/>
                </a:solidFill>
              </a:rPr>
              <a:t>Record node ind:B3. Every value below is a field of that node or of an edge or node it reaches, printed verbatim.</a:t>
            </a:r>
          </a:p>
          <a:p>
            <a:r>
              <a:rPr sz="800"/>
              <a:t/>
            </a:r>
          </a:p>
          <a:p>
            <a:pPr/>
            <a:r>
              <a:rPr b="0" sz="1400">
                <a:solidFill>
                  <a:srgbClr val="000000"/>
                </a:solidFill>
              </a:rPr>
              <a:t>criterion: B</a:t>
            </a:r>
          </a:p>
          <a:p>
            <a:pPr/>
            <a:r>
              <a:rPr b="0" sz="1400">
                <a:solidFill>
                  <a:srgbClr val="000000"/>
                </a:solidFill>
              </a:rPr>
              <a:t>construct: Methodology legibility</a:t>
            </a:r>
          </a:p>
          <a:p>
            <a:pPr/>
            <a:r>
              <a:rPr b="0" sz="1400">
                <a:solidFill>
                  <a:srgbClr val="000000"/>
                </a:solidFill>
              </a:rPr>
              <a:t>type: AUTO/DOC</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B3: RULE-B3-v3</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spec:B3</a:t>
            </a:r>
          </a:p>
          <a:p>
            <a:r>
              <a:rPr sz="800"/>
              <a:t/>
            </a:r>
          </a:p>
          <a:p>
            <a:pPr/>
            <a:r>
              <a:rPr b="0" sz="1400">
                <a:solidFill>
                  <a:srgbClr val="000000"/>
                </a:solidFill>
              </a:rPr>
              <a:t>collector: httpx</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httpx&gt;=0.27</a:t>
            </a:r>
          </a:p>
          <a:p>
            <a:pPr/>
            <a:r>
              <a:rPr b="0" sz="1400">
                <a:solidFill>
                  <a:srgbClr val="000000"/>
                </a:solidFill>
              </a:rPr>
              <a:t>evidence_kind: Content-Type + body sha256</a:t>
            </a:r>
          </a:p>
          <a:p>
            <a:pPr/>
            <a:r>
              <a:rPr b="0" sz="1400">
                <a:solidFill>
                  <a:srgbClr val="000000"/>
                </a:solidFill>
              </a:rPr>
              <a:t>indicator_code: B3</a:t>
            </a:r>
          </a:p>
          <a:p>
            <a:pPr/>
            <a:r>
              <a:rPr b="0" sz="1400">
                <a:solidFill>
                  <a:srgbClr val="000000"/>
                </a:solidFill>
              </a:rPr>
              <a:t>leg: B3</a:t>
            </a:r>
          </a:p>
          <a:p>
            <a:pPr/>
            <a:r>
              <a:rPr b="0" sz="1400">
                <a:solidFill>
                  <a:srgbClr val="000000"/>
                </a:solidFill>
              </a:rPr>
              <a:t>mode: auto</a:t>
            </a:r>
          </a:p>
          <a:p>
            <a:pPr/>
            <a:r>
              <a:rPr b="0" sz="1400">
                <a:solidFill>
                  <a:srgbClr val="000000"/>
                </a:solidFill>
              </a:rPr>
              <a:t>note: NOT in the task's §3 list; derived from the framework as public-tier and AUTO/DOC. Reported as a discrepancy.</a:t>
            </a:r>
          </a:p>
          <a:p>
            <a:pPr/>
            <a:r>
              <a:rPr b="0" sz="1400">
                <a:solidFill>
                  <a:srgbClr val="000000"/>
                </a:solidFill>
              </a:rPr>
              <a:t>prior_art: fcsm-25-03</a:t>
            </a:r>
          </a:p>
          <a:p>
            <a:pPr/>
            <a:r>
              <a:rPr b="0" sz="1400">
                <a:solidFill>
                  <a:srgbClr val="000000"/>
                </a:solidFill>
              </a:rPr>
              <a:t>rule_id: RULE-B3-v3</a:t>
            </a:r>
          </a:p>
          <a:p>
            <a:pPr/>
            <a:r>
              <a:rPr b="0" sz="1400">
                <a:solidFill>
                  <a:srgbClr val="000000"/>
                </a:solidFill>
              </a:rPr>
              <a:t>signal: Fetch the methodology document; test whether it is structured text (HTML/markdown) or PDF-only, and whether it is retrievable without JS.</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bing-webmaster-guidelines · industry · Bing Webmaster Guidelines · section 8, allow efficient crawling and rendering, which lists "hiding critical content behind client-side rendering" among the things to avoid and states that "content that cannot be reliably rendered may not be indexed or selected for grounding results", which is the served-without-script-execution half</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omb-m-23-22-digital-first-public-experience · federal · OMB M-23-22: Delivering a Digital-First Public Experience · default to HTML: agencies "should default to creating and publishing content in an HTML format in lieu of publishing content in other electronic document formats that are designed for printing or preserving and protecting the content and layout of the document e.g. PDF and DOCX formats", and "an agency should develop online content in a non-HTML format only if necessitated by a specific user need", which is the structured-text, not-PDF-only half</a:t>
            </a:r>
          </a:p>
          <a:p>
            <a:pPr/>
            <a:r>
              <a:rPr b="0" sz="1400">
                <a:solidFill>
                  <a:srgbClr val="000000"/>
                </a:solidFill>
              </a:rPr>
              <a:t>w3c-dwbp-2017 · standard · Data on the Web Best Practices (W3C Recommendation, 31 January 2017) · BP 5, provide data provenance information, intended outcome "software agents will be able to automatically process provenance information"; and BP 6, provide data quality information, intended outcome "humans and software agents will be able to assess the quality and therefore suitability of a dataset for their application" - why a methodology statement has to be machine-processable rather than merely published</a:t>
            </a:r>
          </a:p>
          <a:p>
            <a:r>
              <a:rPr sz="800"/>
              <a:t/>
            </a:r>
          </a:p>
          <a:p>
            <a:pPr/>
            <a:r>
              <a:rPr b="0" sz="1400">
                <a:solidFill>
                  <a:srgbClr val="000000"/>
                </a:solidFill>
              </a:rPr>
              <a:t>Evidence cell, verbatim:</a:t>
            </a:r>
          </a:p>
          <a:p>
            <a:r>
              <a:rPr sz="800"/>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omb-m-23-22-digital-first-public-experience (default to HTML: agencies "should default to creating and publishing content in an HTML format in lieu of publishing content in other electronic document formats that are designed for printing or preserving and protecting the content and layout of the document e.g. PDF and DOCX formats", and "an agency should develop online content in a non-HTML format only if necessitated by a specific user need", which is the structured-text, not-PDF-only half); bing-webmaster-guidelines (section 8, allow efficient crawling and rendering, which lists "hiding critical content behind client-side rendering" among the things to avoid and states that "content that cannot be reliably rendered may not be indexed or selected for grounding results", which is the served-without-script-execution half); w3c-dwbp-2017 (BP 5, provide data provenance information, intended outcome "software agents will be able to automatically process provenance information"; and BP 6, provide data quality information, intended outcome "humans and software agents will be able to assess the quality and therefore suitability of a dataset for their application" - why a methodology statement has to be machine-processable rather than merely published)</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act:b3-link-the-methodology-from-the-product-page · Link the methodology from the product page · no_methodology_link · RULE-B3-v3 · hours · none</a:t>
            </a:r>
          </a:p>
          <a:p>
            <a:pPr/>
            <a:r>
              <a:rPr b="0" sz="1400">
                <a:solidFill>
                  <a:srgbClr val="000000"/>
                </a:solidFill>
              </a:rPr>
              <a:t>act:b3-publish-a-methodology-document-reachable-from-the-product · Publish a methodology document reachable from the product surface · no_structured_text_methodology · RULE-B3-v3 · days · staff_time</a:t>
            </a:r>
          </a:p>
          <a:p>
            <a:pPr/>
            <a:r>
              <a:rPr b="0" sz="1400">
                <a:solidFill>
                  <a:srgbClr val="000000"/>
                </a:solidFill>
              </a:rPr>
              <a:t>act:b3-publish-the-methodology-in-structured-text · Publish the methodology in structured text beside the PDF · methodology_pdf_only · RULE-B3-v3 · days · staff_time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act:b3-serve-the-methodology-without-javascript · Serve the methodology document without requiring JavaScript · methodology_requires_js · RULE-B3-v3 · weeks · staff_time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B3 · product · 3 · 16 · 0 · 4 · 23</a:t>
            </a:r>
          </a:p>
          <a:p>
            <a:r>
              <a:rPr sz="800"/>
              <a:t/>
            </a:r>
          </a:p>
          <a:p>
            <a:pPr/>
            <a:r>
              <a:rPr b="1" sz="1400">
                <a:solidFill>
                  <a:srgbClr val="000000"/>
                </a:solidFill>
              </a:rPr>
              <a:t>Other record fields</a:t>
            </a:r>
          </a:p>
          <a:p>
            <a:r>
              <a:rPr sz="800"/>
              <a:t/>
            </a:r>
          </a:p>
          <a:p>
            <a:pPr/>
            <a:r>
              <a:rPr b="0" sz="1400">
                <a:solidFill>
                  <a:srgbClr val="000000"/>
                </a:solidFill>
              </a:rPr>
              <a:t>measured_by: {"counts": {"error": 3, "fail": 19, "not_applicable": 0, "pass": 4}, "cycle": "scan_2026-09-07", "definition": "at least one pass/fail/not_applicable Finding on an admitted, observable surface in a cycle with fired controls; error does not count", "legs": ["B3"],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rules.CURRENT['B3'] = RULE-B3-v3 (assessment/harness/scan/rules/__init__.py); measurement spec spec:B3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B4: Data-quality attributes (error measures, suppression rules, revisions policy) published as metadata, not prose</a:t>
            </a:r>
          </a:p>
          <a:p>
            <a:r>
              <a:rPr sz="800"/>
              <a:t/>
            </a:r>
          </a:p>
          <a:p>
            <a:pPr/>
            <a:r>
              <a:rPr b="0" sz="1400">
                <a:solidFill>
                  <a:srgbClr val="000000"/>
                </a:solidFill>
              </a:rPr>
              <a:t>Record node ind:B4. Every value below is a field of that node or of an edge or node it reaches, printed verbatim.</a:t>
            </a:r>
          </a:p>
          <a:p>
            <a:r>
              <a:rPr sz="800"/>
              <a:t/>
            </a:r>
          </a:p>
          <a:p>
            <a:pPr/>
            <a:r>
              <a:rPr b="0" sz="1400">
                <a:solidFill>
                  <a:srgbClr val="000000"/>
                </a:solidFill>
              </a:rPr>
              <a:t>criterion: B</a:t>
            </a:r>
          </a:p>
          <a:p>
            <a:pPr/>
            <a:r>
              <a:rPr b="0" sz="1400">
                <a:solidFill>
                  <a:srgbClr val="000000"/>
                </a:solidFill>
              </a:rPr>
              <a:t>construct: Quality metadata</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harness_built</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B4: RULE-B4-v1</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spec:B4</a:t>
            </a:r>
          </a:p>
          <a:p>
            <a:r>
              <a:rPr sz="800"/>
              <a:t/>
            </a:r>
          </a:p>
          <a:p>
            <a:pPr/>
            <a:r>
              <a:rPr b="0" sz="1400">
                <a:solidFill>
                  <a:srgbClr val="000000"/>
                </a:solidFill>
              </a:rPr>
              <a:t>collector: dcat-record-fields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assessment/harness/scan/collectors/v2clauses.py dcat_record_fields (scheme 1), over dcat.fetch_catalog's D4 observation</a:t>
            </a:r>
          </a:p>
          <a:p>
            <a:pPr/>
            <a:r>
              <a:rPr b="0" sz="1400">
                <a:solidFill>
                  <a:srgbClr val="000000"/>
                </a:solidFill>
              </a:rPr>
              <a:t>evidence_kind: D4's catalog document + per-record field profile</a:t>
            </a:r>
          </a:p>
          <a:p>
            <a:pPr/>
            <a:r>
              <a:rPr b="0" sz="1400">
                <a:solidFill>
                  <a:srgbClr val="000000"/>
                </a:solidFill>
              </a:rPr>
              <a:t>indicator_code: B4</a:t>
            </a:r>
          </a:p>
          <a:p>
            <a:pPr/>
            <a:r>
              <a:rPr b="0" sz="1400">
                <a:solidFill>
                  <a:srgbClr val="000000"/>
                </a:solidFill>
              </a:rPr>
              <a:t>leg: B4</a:t>
            </a:r>
          </a:p>
          <a:p>
            <a:pPr/>
            <a:r>
              <a:rPr b="0" sz="1400">
                <a:solidFill>
                  <a:srgbClr val="000000"/>
                </a:solidFill>
              </a:rPr>
              <a:t>mode: auto</a:t>
            </a:r>
          </a:p>
          <a:p>
            <a:pPr/>
            <a:r>
              <a:rPr b="0" sz="1400">
                <a:solidFill>
                  <a:srgbClr val="000000"/>
                </a:solidFill>
              </a:rPr>
              <a:t>note: The suppression-rules clause has no field in any admitted document and is recorded as unmeasured on every verdict.</a:t>
            </a:r>
          </a:p>
          <a:p>
            <a:pPr/>
            <a:r>
              <a:rPr b="0" sz="1400">
                <a:solidFill>
                  <a:srgbClr val="000000"/>
                </a:solidFill>
              </a:rPr>
              <a:t>prior_art: dcat-us-3-dataset-schema</a:t>
            </a:r>
          </a:p>
          <a:p>
            <a:pPr/>
            <a:r>
              <a:rPr b="0" sz="1400">
                <a:solidFill>
                  <a:srgbClr val="000000"/>
                </a:solidFill>
              </a:rPr>
              <a:t>rule_id: RULE-B4-v1</a:t>
            </a:r>
          </a:p>
          <a:p>
            <a:pPr/>
            <a:r>
              <a:rPr b="0" sz="1400">
                <a:solidFill>
                  <a:srgbClr val="000000"/>
                </a:solidFill>
              </a:rPr>
              <a:t>signal: On D4's /data.json observation, test whether every catalog record for the product carries a quality measurement (hasQualityMeasurement) and revision metadata (versionNotes, previousVersion or hasCurrentVersion).</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fcsm-20-04-a-framework-for-data-quality · federal · FCSM 20-04: A Framework for Data Quality · general support; no pinpoint</a:t>
            </a:r>
          </a:p>
          <a:p>
            <a:pPr/>
            <a:r>
              <a:rPr b="0" sz="1400">
                <a:solidFill>
                  <a:srgbClr val="000000"/>
                </a:solidFill>
              </a:rPr>
              <a:t>fcsm-23-02-a-framework-for-data-quality-case-studies · federal · FCSM 23-02: A Framework for Data Quality: Case Studies · general support; no pinpoint</a:t>
            </a:r>
          </a:p>
          <a:p>
            <a:r>
              <a:rPr sz="800"/>
              <a:t/>
            </a:r>
          </a:p>
          <a:p>
            <a:pPr/>
            <a:r>
              <a:rPr b="0" sz="1400">
                <a:solidFill>
                  <a:srgbClr val="000000"/>
                </a:solidFill>
              </a:rPr>
              <a:t>Evidence cell, verbatim:</a:t>
            </a:r>
          </a:p>
          <a:p>
            <a:r>
              <a:rPr sz="800"/>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fcsm-23-02-a-framework-for-data-quality-case-studies; fcsm-20-04-a-framework-for-data-quality</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act:b4-publish-quality-measurements-as-metadata · Publish the product's quality measurements as catalog metadata · quality_measurement_absent · RULE-B4-v1 · hours · none</a:t>
            </a:r>
          </a:p>
          <a:p>
            <a:pPr/>
            <a:r>
              <a:rPr b="0" sz="1400">
                <a:solidFill>
                  <a:srgbClr val="000000"/>
                </a:solidFill>
              </a:rPr>
              <a:t>act:b4-publish-the-products-record-with-quality-metadata · Publish the product's catalog record with its quality and revision metadata · no_product_record · RULE-B4-v1 · days · staff_time</a:t>
            </a:r>
          </a:p>
          <a:p>
            <a:pPr/>
            <a:r>
              <a:rPr b="0" sz="1400">
                <a:solidFill>
                  <a:srgbClr val="000000"/>
                </a:solidFill>
              </a:rPr>
              <a:t>act:b4-state-what-changed-from-the-previous-version · State what changed from the previous version in the catalog record · revision_metadata_absent · RULE-B4-v1 · hours · none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0" sz="1400">
                <a:solidFill>
                  <a:srgbClr val="000000"/>
                </a:solidFill>
              </a:rPr>
              <a:t>requirement_none_reason: The suppression-rules clause has no field in any admitted document (the failed search is on ind:G5.tier_unassigned_reason). What is missing is a standard, not a tool or a grant.</a:t>
            </a:r>
          </a:p>
          <a:p>
            <a:r>
              <a:rPr sz="800"/>
              <a:t/>
            </a:r>
          </a:p>
          <a:p>
            <a:pPr/>
            <a:r>
              <a:rPr b="1" sz="1400">
                <a:solidFill>
                  <a:srgbClr val="000000"/>
                </a:solidFill>
              </a:rPr>
              <a:t>Verdicts on the cycle of record (scan_2026-09-10_rj4)</a:t>
            </a:r>
          </a:p>
          <a:p>
            <a:r>
              <a:rPr sz="800"/>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leg · matrix · pass · fail · not_applicable · error · cells</a:t>
            </a:r>
          </a:p>
          <a:p>
            <a:pPr/>
            <a:r>
              <a:rPr b="0" sz="1400">
                <a:solidFill>
                  <a:srgbClr val="000000"/>
                </a:solidFill>
              </a:rPr>
              <a:t>B4 · product · 0 · 19 · 0 · 4 · 23</a:t>
            </a:r>
          </a:p>
          <a:p>
            <a:r>
              <a:rPr sz="800"/>
              <a:t/>
            </a:r>
          </a:p>
          <a:p>
            <a:pPr/>
            <a:r>
              <a:rPr b="1" sz="1400">
                <a:solidFill>
                  <a:srgbClr val="000000"/>
                </a:solidFill>
              </a:rPr>
              <a:t>Other record fields</a:t>
            </a:r>
          </a:p>
          <a:p>
            <a:r>
              <a:rPr sz="800"/>
              <a:t/>
            </a:r>
          </a:p>
          <a:p>
            <a:pPr/>
            <a:r>
              <a:rPr b="0" sz="1400">
                <a:solidFill>
                  <a:srgbClr val="000000"/>
                </a:solidFill>
              </a:rPr>
              <a:t>tier_note: The rule measures the error-measure clause (hasQualityMeasurement) and the revisions-policy clause (versionNotes / previousVersion / hasCurrentVersion) on the product's catalog record. The suppression-rules clause has no field in any admitted document and is recorded as unmeasured.</a:t>
            </a:r>
          </a:p>
          <a:p>
            <a:pPr/>
            <a:r>
              <a:rPr b="0" sz="1400">
                <a:solidFill>
                  <a:srgbClr val="000000"/>
                </a:solidFill>
              </a:rPr>
              <a:t>tier_rule: cc_tasks/2026-09-17_measurement_tiers.md decision 2 rule 1</a:t>
            </a:r>
          </a:p>
          <a:p>
            <a:pPr/>
            <a:r>
              <a:rPr b="0" sz="1400">
                <a:solidFill>
                  <a:srgbClr val="000000"/>
                </a:solidFill>
              </a:rPr>
              <a:t>tier_source: rules.CURRENT['B4'] = RULE-B4-v1 (assessment/harness/scan/rules/__init__.py); measurement spec spec:B4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B5: Same concept ⇒ same identifier across products/vintages</a:t>
            </a:r>
          </a:p>
          <a:p>
            <a:r>
              <a:rPr sz="800"/>
              <a:t/>
            </a:r>
          </a:p>
          <a:p>
            <a:pPr/>
            <a:r>
              <a:rPr b="0" sz="1400">
                <a:solidFill>
                  <a:srgbClr val="000000"/>
                </a:solidFill>
              </a:rPr>
              <a:t>Record node ind:B5. Every value below is a field of that node or of an edge or node it reaches, printed verbatim.</a:t>
            </a:r>
          </a:p>
          <a:p>
            <a:r>
              <a:rPr sz="800"/>
              <a:t/>
            </a:r>
          </a:p>
          <a:p>
            <a:pPr/>
            <a:r>
              <a:rPr b="0" sz="1400">
                <a:solidFill>
                  <a:srgbClr val="000000"/>
                </a:solidFill>
              </a:rPr>
              <a:t>criterion: B</a:t>
            </a:r>
          </a:p>
          <a:p>
            <a:pPr/>
            <a:r>
              <a:rPr b="0" sz="1400">
                <a:solidFill>
                  <a:srgbClr val="000000"/>
                </a:solidFill>
              </a:rPr>
              <a:t>construct: Semantic consistency</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harness_built</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B5: RULE-B5-v1</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spec:B5</a:t>
            </a:r>
          </a:p>
          <a:p>
            <a:r>
              <a:rPr sz="800"/>
              <a:t/>
            </a:r>
          </a:p>
          <a:p>
            <a:pPr/>
            <a:r>
              <a:rPr b="0" sz="1400">
                <a:solidFill>
                  <a:srgbClr val="000000"/>
                </a:solidFill>
              </a:rPr>
              <a:t>collector: schema-terms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assessment/harness/scan/rules/_schema_terms.py over structured_data.fetch's A6 observation (parsed.raw, extruct&gt;=0.17)</a:t>
            </a:r>
          </a:p>
          <a:p>
            <a:pPr/>
            <a:r>
              <a:rPr b="0" sz="1400">
                <a:solidFill>
                  <a:srgbClr val="000000"/>
                </a:solidFill>
              </a:rPr>
              <a:t>evidence_kind: A6's extracted markup, every product surface of the body</a:t>
            </a:r>
          </a:p>
          <a:p>
            <a:pPr/>
            <a:r>
              <a:rPr b="0" sz="1400">
                <a:solidFill>
                  <a:srgbClr val="000000"/>
                </a:solidFill>
              </a:rPr>
              <a:t>indicator_code: B5</a:t>
            </a:r>
          </a:p>
          <a:p>
            <a:pPr/>
            <a:r>
              <a:rPr b="0" sz="1400">
                <a:solidFill>
                  <a:srgbClr val="000000"/>
                </a:solidFill>
              </a:rPr>
              <a:t>leg: B5</a:t>
            </a:r>
          </a:p>
          <a:p>
            <a:pPr/>
            <a:r>
              <a:rPr b="0" sz="1400">
                <a:solidFill>
                  <a:srgbClr val="000000"/>
                </a:solidFill>
              </a:rPr>
              <a:t>mode: auto</a:t>
            </a:r>
          </a:p>
          <a:p>
            <a:pPr/>
            <a:r>
              <a:rPr b="0" sz="1400">
                <a:solidFill>
                  <a:srgbClr val="000000"/>
                </a:solidFill>
              </a:rPr>
              <a:t>note: Judged per body (rules.body_groups), on the body's well-known row. The cross-vintage half is unmeasured until a second cycle with term codes.</a:t>
            </a:r>
          </a:p>
          <a:p>
            <a:pPr/>
            <a:r>
              <a:rPr b="0" sz="1400">
                <a:solidFill>
                  <a:srgbClr val="000000"/>
                </a:solidFill>
              </a:rPr>
              <a:t>prior_art: schema-org-definedterm</a:t>
            </a:r>
          </a:p>
          <a:p>
            <a:pPr/>
            <a:r>
              <a:rPr b="0" sz="1400">
                <a:solidFill>
                  <a:srgbClr val="000000"/>
                </a:solidFill>
              </a:rPr>
              <a:t>rule_id: RULE-B5-v1</a:t>
            </a:r>
          </a:p>
          <a:p>
            <a:pPr/>
            <a:r>
              <a:rPr b="0" sz="1400">
                <a:solidFill>
                  <a:srgbClr val="000000"/>
                </a:solidFill>
              </a:rPr>
              <a:t>signal: Once per body, over A6's markup of every product surface of the body on one cycle: test whether each concept (a DefinedTerm name) coded on two or more products carries one identifier (termCode within inDefinedTermSet).</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act:b5-code-the-bodys-concepts-in-one-term-set · Code the body's concepts in one published term set · no_term_codes · RULE-B5-v1 · days · staff_time</a:t>
            </a:r>
          </a:p>
          <a:p>
            <a:pPr/>
            <a:r>
              <a:rPr b="0" sz="1400">
                <a:solidFill>
                  <a:srgbClr val="000000"/>
                </a:solidFill>
              </a:rPr>
              <a:t>act:b5-name-the-set-each-term-code-belongs-to · Name the term set each term code belongs to · codes_without_set · RULE-B5-v1 · hours · none</a:t>
            </a:r>
          </a:p>
          <a:p>
            <a:pPr/>
            <a:r>
              <a:rPr b="0" sz="1400">
                <a:solidFill>
                  <a:srgbClr val="000000"/>
                </a:solidFill>
              </a:rPr>
              <a:t>act:b5-use-one-identifier-per-concept · Use one identifier for each concept across the body's products · codes_not_shared_across_products · RULE-B5-v1 · days · staff_time</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pre:second-scan-cycle · second_cycle · unmeasured_half · second_cycle · one concept carrying one identifier across two vintages</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B5 · product · 0 · 19 · 0 · 4 · 23</a:t>
            </a:r>
          </a:p>
          <a:p>
            <a:r>
              <a:rPr sz="800"/>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Other record fields</a:t>
            </a:r>
          </a:p>
          <a:p>
            <a:r>
              <a:rPr sz="800"/>
              <a:t/>
            </a:r>
          </a:p>
          <a:p>
            <a:pPr/>
            <a:r>
              <a:rPr b="0" sz="1400">
                <a:solidFill>
                  <a:srgbClr val="000000"/>
                </a:solidFill>
              </a:rPr>
              <a:t>tier_note: The rule compares the body's product pages on one cycle: a concept (a DefinedTerm's name) coded on two or more products must carry one identifier (termCode within inDefinedTermSet). Judged once per body, on its well-known row. The cross-vintage half is unmeasured_until: second cycle with term codes.</a:t>
            </a:r>
          </a:p>
          <a:p>
            <a:pPr/>
            <a:r>
              <a:rPr b="0" sz="1400">
                <a:solidFill>
                  <a:srgbClr val="000000"/>
                </a:solidFill>
              </a:rPr>
              <a:t>tier_rule: cc_tasks/2026-09-17_measurement_tiers.md decision 2 rule 1</a:t>
            </a:r>
          </a:p>
          <a:p>
            <a:pPr/>
            <a:r>
              <a:rPr b="0" sz="1400">
                <a:solidFill>
                  <a:srgbClr val="000000"/>
                </a:solidFill>
              </a:rPr>
              <a:t>tier_source: rules.CURRENT['B5'] = RULE-B5-v1 (assessment/harness/scan/rules/__init__.py); measurement spec spec:B5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B6</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B6: Plain-language product summary present and current (the retrieval target)</a:t>
            </a:r>
          </a:p>
          <a:p>
            <a:r>
              <a:rPr sz="800"/>
              <a:t/>
            </a:r>
          </a:p>
          <a:p>
            <a:pPr/>
            <a:r>
              <a:rPr b="0" sz="1400">
                <a:solidFill>
                  <a:srgbClr val="000000"/>
                </a:solidFill>
              </a:rPr>
              <a:t>Record node ind:B6. Every value below is a field of that node or of an edge or node it reaches, printed verbatim.</a:t>
            </a:r>
          </a:p>
          <a:p>
            <a:r>
              <a:rPr sz="800"/>
              <a:t/>
            </a:r>
          </a:p>
          <a:p>
            <a:pPr/>
            <a:r>
              <a:rPr b="0" sz="1400">
                <a:solidFill>
                  <a:srgbClr val="000000"/>
                </a:solidFill>
              </a:rPr>
              <a:t>criterion: B</a:t>
            </a:r>
          </a:p>
          <a:p>
            <a:pPr/>
            <a:r>
              <a:rPr b="0" sz="1400">
                <a:solidFill>
                  <a:srgbClr val="000000"/>
                </a:solidFill>
              </a:rPr>
              <a:t>construct: NL affordances</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unassigned</a:t>
            </a:r>
          </a:p>
          <a:p>
            <a:pPr/>
            <a:r>
              <a:rPr b="0" sz="1400">
                <a:solidFill>
                  <a:srgbClr val="000000"/>
                </a:solidFill>
              </a:rPr>
              <a:t>measurement basis: </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appendix/indicator_B6.md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B6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appendix/indicator_B6.md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tier_rule: cc_tasks/2026-09-17_unassigned_indicators.md decision 2, no test reaches it</a:t>
            </a:r>
          </a:p>
          <a:p>
            <a:pPr/>
            <a:r>
              <a:rPr b="0" sz="1400">
                <a:solidFill>
                  <a:srgbClr val="000000"/>
                </a:solidFill>
              </a:rPr>
              <a:t>tier_unassigned_reason: cc_tasks/2026-09-17_unassigned_indicators.md decision 4: the G1 precedent does not carry it. G1's act is a preservation score — a pinned consumer restates a captured surface and the restatement is scored for what it kept (DD-036 §2). B6 asks two different questions about the surface itself: whether the summary is plain language, a readability property of the text and not of a restatement, and whether it is current, a freshness comparison against the product's own modified date. Neither is a preservation score, so B6 needs a different instrument and stays unassigned. The 'current' half is the closer of the two to a structured-field test: DCAT-US 3 modified on the dataset against the summary page's own date.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C1: Benchmark question set per product; answer accuracy of a retrieval-paired model vs published values</a:t>
            </a:r>
          </a:p>
          <a:p>
            <a:r>
              <a:rPr sz="800"/>
              <a:t/>
            </a:r>
          </a:p>
          <a:p>
            <a:pPr/>
            <a:r>
              <a:rPr b="0" sz="1400">
                <a:solidFill>
                  <a:srgbClr val="000000"/>
                </a:solidFill>
              </a:rPr>
              <a:t>Record node ind:C1. Every value below is a field of that node or of an edge or node it reaches, printed verbatim.</a:t>
            </a:r>
          </a:p>
          <a:p>
            <a:r>
              <a:rPr sz="800"/>
              <a:t/>
            </a:r>
          </a:p>
          <a:p>
            <a:pPr/>
            <a:r>
              <a:rPr b="0" sz="1400">
                <a:solidFill>
                  <a:srgbClr val="000000"/>
                </a:solidFill>
              </a:rPr>
              <a:t>criterion: C</a:t>
            </a:r>
          </a:p>
          <a:p>
            <a:pPr/>
            <a:r>
              <a:rPr b="0" sz="1400">
                <a:solidFill>
                  <a:srgbClr val="000000"/>
                </a:solidFill>
              </a:rPr>
              <a:t>construct: Retrieval-grounded QA accuracy</a:t>
            </a:r>
          </a:p>
          <a:p>
            <a:pPr/>
            <a:r>
              <a:rPr b="0" sz="1400">
                <a:solidFill>
                  <a:srgbClr val="000000"/>
                </a:solidFill>
              </a:rPr>
              <a:t>type: EVAL</a:t>
            </a:r>
          </a:p>
          <a:p>
            <a:pPr/>
            <a:r>
              <a:rPr b="0" sz="1400">
                <a:solidFill>
                  <a:srgbClr val="000000"/>
                </a:solidFill>
              </a:rPr>
              <a:t>access tier (tier): paid</a:t>
            </a:r>
          </a:p>
          <a:p>
            <a:pPr/>
            <a:r>
              <a:rPr b="0" sz="1400">
                <a:solidFill>
                  <a:srgbClr val="000000"/>
                </a:solidFill>
              </a:rPr>
              <a:t>measurement tier: M</a:t>
            </a:r>
          </a:p>
          <a:p>
            <a:pPr/>
            <a:r>
              <a:rPr b="0" sz="1400">
                <a:solidFill>
                  <a:srgbClr val="000000"/>
                </a:solidFill>
              </a:rPr>
              <a:t>measurement basis: evaluation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appendix/indicator_C1.md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pPr/>
            <a:r>
              <a:rPr b="0" sz="1400">
                <a:solidFill>
                  <a:srgbClr val="000000"/>
                </a:solidFill>
              </a:rPr>
              <a:t>from-accuracy-to-readiness-metrics-and-benchmarks-for-human · academic · From Accuracy to Readiness: Metrics and Benchmarks for Human-AI Decision-Making · general support; no pinpoint</a:t>
            </a:r>
          </a:p>
          <a:p>
            <a:r>
              <a:rPr sz="800"/>
              <a:t/>
            </a:r>
          </a:p>
          <a:p>
            <a:pPr/>
            <a:r>
              <a:rPr b="0" sz="1400">
                <a:solidFill>
                  <a:srgbClr val="000000"/>
                </a:solidFill>
              </a:rPr>
              <a:t>Evidence cell, verbatim:</a:t>
            </a:r>
          </a:p>
          <a:p>
            <a:r>
              <a:rPr sz="800"/>
              <a:t/>
            </a:r>
          </a:p>
          <a:p>
            <a:pPr/>
            <a:r>
              <a:rPr b="0" sz="1400">
                <a:solidFill>
                  <a:srgbClr val="000000"/>
                </a:solidFill>
              </a:rPr>
              <a:t>from-accuracy-to-readiness-metrics-and-benchmarks-for-human</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pre:product-question-benchmark · benchmark_set · tier · benchmark · answer accuracy of a retrieval-paired model against published values</a:t>
            </a:r>
          </a:p>
          <a:p>
            <a:r>
              <a:rPr sz="800"/>
              <a:t/>
            </a:r>
          </a:p>
          <a:p>
            <a:pPr/>
            <a:r>
              <a:rPr b="1" sz="1400">
                <a:solidFill>
                  <a:srgbClr val="000000"/>
                </a:solidFill>
              </a:rPr>
              <a:t>Verdicts on the cycle of record (scan_2026-09-10_rj4)</a:t>
            </a:r>
          </a:p>
          <a:p>
            <a:r>
              <a:rPr sz="800"/>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No such instrument exists yet.</a:t>
            </a:r>
          </a:p>
          <a:p>
            <a:pPr/>
            <a:r>
              <a:rPr b="0" sz="1400">
                <a:solidFill>
                  <a:srgbClr val="000000"/>
                </a:solidFill>
              </a:rPr>
              <a:t>tier_rule: cc_tasks/2026-09-17_measurement_tiers.md decision 2 rule 5</a:t>
            </a:r>
          </a:p>
          <a:p>
            <a:pPr/>
            <a:r>
              <a:rPr b="0" sz="1400">
                <a:solidFill>
                  <a:srgbClr val="000000"/>
                </a:solidFill>
              </a:rPr>
              <a:t>tier_source: definition of ind:C1 in framework/ai_readiness_framework.json: "Benchmark question set per product; answer accuracy of a retrieval-paired model vs published values"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C2: Entailment-judged: do model statements about the product entail from product text? (probe protocol, re-aimed)</a:t>
            </a:r>
          </a:p>
          <a:p>
            <a:r>
              <a:rPr sz="800"/>
              <a:t/>
            </a:r>
          </a:p>
          <a:p>
            <a:pPr/>
            <a:r>
              <a:rPr b="0" sz="1400">
                <a:solidFill>
                  <a:srgbClr val="000000"/>
                </a:solidFill>
              </a:rPr>
              <a:t>Record node ind:C2. Every value below is a field of that node or of an edge or node it reaches, printed verbatim.</a:t>
            </a:r>
          </a:p>
          <a:p>
            <a:r>
              <a:rPr sz="800"/>
              <a:t/>
            </a:r>
          </a:p>
          <a:p>
            <a:pPr/>
            <a:r>
              <a:rPr b="0" sz="1400">
                <a:solidFill>
                  <a:srgbClr val="000000"/>
                </a:solidFill>
              </a:rPr>
              <a:t>criterion: C</a:t>
            </a:r>
          </a:p>
          <a:p>
            <a:pPr/>
            <a:r>
              <a:rPr b="0" sz="1400">
                <a:solidFill>
                  <a:srgbClr val="000000"/>
                </a:solidFill>
              </a:rPr>
              <a:t>construct: Faithfulness of AI restatement</a:t>
            </a:r>
          </a:p>
          <a:p>
            <a:pPr/>
            <a:r>
              <a:rPr b="0" sz="1400">
                <a:solidFill>
                  <a:srgbClr val="000000"/>
                </a:solidFill>
              </a:rPr>
              <a:t>type: EVAL</a:t>
            </a:r>
          </a:p>
          <a:p>
            <a:pPr/>
            <a:r>
              <a:rPr b="0" sz="1400">
                <a:solidFill>
                  <a:srgbClr val="000000"/>
                </a:solidFill>
              </a:rPr>
              <a:t>access tier (tier): paid</a:t>
            </a:r>
          </a:p>
          <a:p>
            <a:pPr/>
            <a:r>
              <a:rPr b="0" sz="1400">
                <a:solidFill>
                  <a:srgbClr val="000000"/>
                </a:solidFill>
              </a:rPr>
              <a:t>measurement tier: M</a:t>
            </a:r>
          </a:p>
          <a:p>
            <a:pPr/>
            <a:r>
              <a:rPr b="0" sz="1400">
                <a:solidFill>
                  <a:srgbClr val="000000"/>
                </a:solidFill>
              </a:rPr>
              <a:t>measurement basis: evaluation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appendix/indicator_C2.md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0" sz="1400">
                <a:solidFill>
                  <a:srgbClr val="000000"/>
                </a:solidFill>
              </a:rPr>
              <a:t>internal: probe protocol, 2026-08-27_chunked_vs_wholedoc_verdict.md</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pre:entailment-probe-set · benchmark_set · tier · probe_protocol · entailment of model statements about the product from the product's own text</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Other record fields</a:t>
            </a:r>
          </a:p>
          <a:p>
            <a:r>
              <a:rPr sz="800"/>
              <a:t/>
            </a:r>
          </a:p>
          <a:p>
            <a:pPr/>
            <a:r>
              <a:rPr b="0" sz="1400">
                <a:solidFill>
                  <a:srgbClr val="000000"/>
                </a:solidFill>
              </a:rPr>
              <a:t>tier_note: The definition names the probe protocol, 're-aimed', as the instrument; it has not been re-aimed at a data product.</a:t>
            </a:r>
          </a:p>
          <a:p>
            <a:pPr/>
            <a:r>
              <a:rPr b="0" sz="1400">
                <a:solidFill>
                  <a:srgbClr val="000000"/>
                </a:solidFill>
              </a:rPr>
              <a:t>tier_rule: cc_tasks/2026-09-17_measurement_tiers.md decision 2 rule 5</a:t>
            </a:r>
          </a:p>
          <a:p>
            <a:pPr/>
            <a:r>
              <a:rPr b="0" sz="1400">
                <a:solidFill>
                  <a:srgbClr val="000000"/>
                </a:solidFill>
              </a:rPr>
              <a:t>tier_source: definition of ind:C2 in framework/ai_readiness_framework.json: "Entailment-judged: do model statements about the product entail from product text?"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C3: Version/vintage disambiguation: does retrieval return the vintage asked for?</a:t>
            </a:r>
          </a:p>
          <a:p>
            <a:r>
              <a:rPr sz="800"/>
              <a:t/>
            </a:r>
          </a:p>
          <a:p>
            <a:pPr/>
            <a:r>
              <a:rPr b="0" sz="1400">
                <a:solidFill>
                  <a:srgbClr val="000000"/>
                </a:solidFill>
              </a:rPr>
              <a:t>Record node ind:C3. Every value below is a field of that node or of an edge or node it reaches, printed verbatim.</a:t>
            </a:r>
          </a:p>
          <a:p>
            <a:r>
              <a:rPr sz="800"/>
              <a:t/>
            </a:r>
          </a:p>
          <a:p>
            <a:pPr/>
            <a:r>
              <a:rPr b="0" sz="1400">
                <a:solidFill>
                  <a:srgbClr val="000000"/>
                </a:solidFill>
              </a:rPr>
              <a:t>criterion: C</a:t>
            </a:r>
          </a:p>
          <a:p>
            <a:pPr/>
            <a:r>
              <a:rPr b="0" sz="1400">
                <a:solidFill>
                  <a:srgbClr val="000000"/>
                </a:solidFill>
              </a:rPr>
              <a:t>construct: Value-drift resistance</a:t>
            </a:r>
          </a:p>
          <a:p>
            <a:pPr/>
            <a:r>
              <a:rPr b="0" sz="1400">
                <a:solidFill>
                  <a:srgbClr val="000000"/>
                </a:solidFill>
              </a:rPr>
              <a:t>type: EVAL</a:t>
            </a:r>
          </a:p>
          <a:p>
            <a:pPr/>
            <a:r>
              <a:rPr b="0" sz="1400">
                <a:solidFill>
                  <a:srgbClr val="000000"/>
                </a:solidFill>
              </a:rPr>
              <a:t>access tier (tier): paid</a:t>
            </a:r>
          </a:p>
          <a:p>
            <a:pPr/>
            <a:r>
              <a:rPr b="0" sz="1400">
                <a:solidFill>
                  <a:srgbClr val="000000"/>
                </a:solidFill>
              </a:rPr>
              <a:t>measurement tier: M</a:t>
            </a:r>
          </a:p>
          <a:p>
            <a:pPr/>
            <a:r>
              <a:rPr b="0" sz="1400">
                <a:solidFill>
                  <a:srgbClr val="000000"/>
                </a:solidFill>
              </a:rPr>
              <a:t>measurement basis: evaluation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appendix/indicator_C3.md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pre:vintage-disambiguation-set · benchmark_set · tier · benchmark · whether retrieval returns the vintage a question asks for</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appendix/indicator_C3.md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tier_note: No such instrument exists yet.</a:t>
            </a:r>
          </a:p>
          <a:p>
            <a:pPr/>
            <a:r>
              <a:rPr b="0" sz="1400">
                <a:solidFill>
                  <a:srgbClr val="000000"/>
                </a:solidFill>
              </a:rPr>
              <a:t>tier_rule: cc_tasks/2026-09-17_measurement_tiers.md decision 2 rule 5</a:t>
            </a:r>
          </a:p>
          <a:p>
            <a:pPr/>
            <a:r>
              <a:rPr b="0" sz="1400">
                <a:solidFill>
                  <a:srgbClr val="000000"/>
                </a:solidFill>
              </a:rPr>
              <a:t>tier_source: definition of ind:C3 in framework/ai_readiness_framework.json: "does retrieval return the vintage asked for?"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C4: Generative engines citing the product cite the authoritative page (not aggregators)</a:t>
            </a:r>
          </a:p>
          <a:p>
            <a:r>
              <a:rPr sz="800"/>
              <a:t/>
            </a:r>
          </a:p>
          <a:p>
            <a:pPr/>
            <a:r>
              <a:rPr b="0" sz="1400">
                <a:solidFill>
                  <a:srgbClr val="000000"/>
                </a:solidFill>
              </a:rPr>
              <a:t>Record node ind:C4. Every value below is a field of that node or of an edge or node it reaches, printed verbatim.</a:t>
            </a:r>
          </a:p>
          <a:p>
            <a:r>
              <a:rPr sz="800"/>
              <a:t/>
            </a:r>
          </a:p>
          <a:p>
            <a:pPr/>
            <a:r>
              <a:rPr b="0" sz="1400">
                <a:solidFill>
                  <a:srgbClr val="000000"/>
                </a:solidFill>
              </a:rPr>
              <a:t>criterion: C</a:t>
            </a:r>
          </a:p>
          <a:p>
            <a:pPr/>
            <a:r>
              <a:rPr b="0" sz="1400">
                <a:solidFill>
                  <a:srgbClr val="000000"/>
                </a:solidFill>
              </a:rPr>
              <a:t>construct: Citation quality</a:t>
            </a:r>
          </a:p>
          <a:p>
            <a:pPr/>
            <a:r>
              <a:rPr b="0" sz="1400">
                <a:solidFill>
                  <a:srgbClr val="000000"/>
                </a:solidFill>
              </a:rPr>
              <a:t>type: EVAL/AUTO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evaluation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spec:C4-auto</a:t>
            </a:r>
          </a:p>
          <a:p>
            <a:r>
              <a:rPr sz="800"/>
              <a:t/>
            </a:r>
          </a:p>
          <a:p>
            <a:pPr/>
            <a:r>
              <a:rPr b="0" sz="1400">
                <a:solidFill>
                  <a:srgbClr val="000000"/>
                </a:solidFill>
              </a:rPr>
              <a:t>collector: none_known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n/a</a:t>
            </a:r>
          </a:p>
          <a:p>
            <a:pPr/>
            <a:r>
              <a:rPr b="0" sz="1400">
                <a:solidFill>
                  <a:srgbClr val="000000"/>
                </a:solidFill>
              </a:rPr>
              <a:t>evidence_kind: cited URL + resolution chain + authority verdict</a:t>
            </a:r>
          </a:p>
          <a:p>
            <a:pPr/>
            <a:r>
              <a:rPr b="0" sz="1400">
                <a:solidFill>
                  <a:srgbClr val="000000"/>
                </a:solidFill>
              </a:rPr>
              <a:t>indicator_code: C4</a:t>
            </a:r>
          </a:p>
          <a:p>
            <a:pPr/>
            <a:r>
              <a:rPr b="0" sz="1400">
                <a:solidFill>
                  <a:srgbClr val="000000"/>
                </a:solidFill>
              </a:rPr>
              <a:t>leg: C4-auto</a:t>
            </a:r>
          </a:p>
          <a:p>
            <a:pPr/>
            <a:r>
              <a:rPr b="0" sz="1400">
                <a:solidFill>
                  <a:srgbClr val="000000"/>
                </a:solidFill>
              </a:rPr>
              <a:t>mode: auto</a:t>
            </a:r>
          </a:p>
          <a:p>
            <a:pPr/>
            <a:r>
              <a:rPr b="0" sz="1400">
                <a:solidFill>
                  <a:srgbClr val="000000"/>
                </a:solidFill>
              </a:rPr>
              <a:t>note: The AUTO leg needs a generative engine's citations as input, which is the EVAL half of the indicator. No open-source collector produces them; this is genuinely blocked on the harness.</a:t>
            </a:r>
          </a:p>
          <a:p>
            <a:pPr/>
            <a:r>
              <a:rPr b="0" sz="1400">
                <a:solidFill>
                  <a:srgbClr val="000000"/>
                </a:solidFill>
              </a:rPr>
              <a:t>prior_art: aggarwal-2024-geo-generative-engine-optimization</a:t>
            </a:r>
          </a:p>
          <a:p>
            <a:pPr/>
            <a:r>
              <a:rPr b="0" sz="1400">
                <a:solidFill>
                  <a:srgbClr val="000000"/>
                </a:solidFill>
              </a:rPr>
              <a:t>rule_id: RULE-C4-auto-v0</a:t>
            </a:r>
          </a:p>
          <a:p>
            <a:pPr/>
            <a:r>
              <a:rPr b="0" sz="1400">
                <a:solidFill>
                  <a:srgbClr val="000000"/>
                </a:solidFill>
              </a:rPr>
              <a:t>signal: Given a generative engine's answer citing the product, resolve the cited URL and test whether it is the authoritative agency page or an aggregator.</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aggarwal-2024-geo-generative-engine-optimization · academic · GEO: Generative Engine Optimization · general support; no pinpoint</a:t>
            </a:r>
          </a:p>
          <a:p>
            <a:pPr/>
            <a:r>
              <a:rPr b="0" sz="1400">
                <a:solidFill>
                  <a:srgbClr val="000000"/>
                </a:solidFill>
              </a:rPr>
              <a:t>chen-2025-geo-how-to-dominate-ai-search · academic · Generative Engine Optimization: How to Dominate AI Search · general support; no pinpoint</a:t>
            </a:r>
          </a:p>
          <a:p>
            <a:r>
              <a:rPr sz="800"/>
              <a:t/>
            </a:r>
          </a:p>
          <a:p>
            <a:pPr/>
            <a:r>
              <a:rPr b="0" sz="1400">
                <a:solidFill>
                  <a:srgbClr val="000000"/>
                </a:solidFill>
              </a:rPr>
              <a:t>Evidence cell, verbatim:</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appendix/indicator_C4.md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aggarwal-2024-geo-generative-engine-optimization; chen-2025-geo-how-to-dominate-ai-search</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pre:bing-webmaster-tools-verified-site · site_owner_account · tier · bing_ai_performance · which of the product's pages AI answers cite, and how often</a:t>
            </a:r>
          </a:p>
          <a:p>
            <a:pPr/>
            <a:r>
              <a:rPr b="0" sz="1400">
                <a:solidFill>
                  <a:srgbClr val="000000"/>
                </a:solidFill>
              </a:rPr>
              <a:t>pre:generative-engine-query-set · benchmark_set · tier · engine_queries · whether a generative engine's answer about the product cites the agency page or an aggregator</a:t>
            </a:r>
          </a:p>
          <a:p>
            <a:pPr/>
            <a:r>
              <a:rPr b="0" sz="1400">
                <a:solidFill>
                  <a:srgbClr val="000000"/>
                </a:solidFill>
              </a:rPr>
              <a:t>tool:bing-webmaster-tools-ai-performance · platform_account · tier · bing_ai_performance · which of the product's pages AI answers cite, and how often</a:t>
            </a:r>
          </a:p>
          <a:p>
            <a:pPr/>
            <a:r>
              <a:rPr b="0" sz="1400">
                <a:solidFill>
                  <a:srgbClr val="000000"/>
                </a:solidFill>
              </a:rPr>
              <a:t>tool:perplexity-ai · hosted_paid · tier · engine_queries · whether a generative engine's answer about the product cites the agency page or an aggregator</a:t>
            </a:r>
          </a:p>
          <a:p>
            <a:r>
              <a:rPr sz="800"/>
              <a:t/>
            </a:r>
          </a:p>
          <a:p>
            <a:pPr/>
            <a:r>
              <a:rPr b="1" sz="1400">
                <a:solidFill>
                  <a:srgbClr val="000000"/>
                </a:solidFill>
              </a:rPr>
              <a:t>Verdicts on the cycle of record (scan_2026-09-10_rj4)</a:t>
            </a:r>
          </a:p>
          <a:p>
            <a:r>
              <a:rPr sz="800"/>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No such instrument exists yet; spec spec:C4-auto records collector: none_known for the URL-resolution half.</a:t>
            </a:r>
          </a:p>
          <a:p>
            <a:pPr/>
            <a:r>
              <a:rPr b="0" sz="1400">
                <a:solidFill>
                  <a:srgbClr val="000000"/>
                </a:solidFill>
              </a:rPr>
              <a:t>tier_rule: cc_tasks/2026-09-17_measurement_tiers.md decision 2 rule 5</a:t>
            </a:r>
          </a:p>
          <a:p>
            <a:pPr/>
            <a:r>
              <a:rPr b="0" sz="1400">
                <a:solidFill>
                  <a:srgbClr val="000000"/>
                </a:solidFill>
              </a:rPr>
              <a:t>tier_source: definition of ind:C4 in framework/ai_readiness_framework.json: "Generative engines citing the product cite the authoritative page (not aggregators)"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C5: Product scored against published AI-data-readiness metrics</a:t>
            </a:r>
          </a:p>
          <a:p>
            <a:r>
              <a:rPr sz="800"/>
              <a:t/>
            </a:r>
          </a:p>
          <a:p>
            <a:pPr/>
            <a:r>
              <a:rPr b="0" sz="1400">
                <a:solidFill>
                  <a:srgbClr val="000000"/>
                </a:solidFill>
              </a:rPr>
              <a:t>Record node ind:C5. Every value below is a field of that node or of an edge or node it reaches, printed verbatim.</a:t>
            </a:r>
          </a:p>
          <a:p>
            <a:r>
              <a:rPr sz="800"/>
              <a:t/>
            </a:r>
          </a:p>
          <a:p>
            <a:pPr/>
            <a:r>
              <a:rPr b="0" sz="1400">
                <a:solidFill>
                  <a:srgbClr val="000000"/>
                </a:solidFill>
              </a:rPr>
              <a:t>criterion: C</a:t>
            </a:r>
          </a:p>
          <a:p>
            <a:pPr/>
            <a:r>
              <a:rPr b="0" sz="1400">
                <a:solidFill>
                  <a:srgbClr val="000000"/>
                </a:solidFill>
              </a:rPr>
              <a:t>construct: Readiness metrics baseline</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O</a:t>
            </a:r>
          </a:p>
          <a:p>
            <a:pPr/>
            <a:r>
              <a:rPr b="0" sz="1400">
                <a:solidFill>
                  <a:srgbClr val="000000"/>
                </a:solidFill>
              </a:rPr>
              <a:t>measurement basis: open_tool</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appendix/indicator_C5.md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pPr/>
            <a:r>
              <a:rPr b="0" sz="1400">
                <a:solidFill>
                  <a:srgbClr val="000000"/>
                </a:solidFill>
              </a:rPr>
              <a:t>aidrin-2-0-a-framework-to-assess-data-readiness-for-ai · academic · AIDRIN 2.0: A Framework to Assess Data Readiness for AI · general support; no pinpoint</a:t>
            </a:r>
          </a:p>
          <a:p>
            <a:pPr/>
            <a:r>
              <a:rPr b="0" sz="1400">
                <a:solidFill>
                  <a:srgbClr val="000000"/>
                </a:solidFill>
              </a:rPr>
              <a:t>aidrin-hiniduma-2024 · academic · AIDRIN: AI Data Readiness Inspector (Hiniduma et al., 2024) · general support; no pinpoint</a:t>
            </a:r>
          </a:p>
          <a:p>
            <a:pPr/>
            <a:r>
              <a:rPr b="0" sz="1400">
                <a:solidFill>
                  <a:srgbClr val="000000"/>
                </a:solidFill>
              </a:rPr>
              <a:t>data-readiness-for-ai-a-360-degree-survey · academic · Data Readiness for AI: A 360-Degree Survey · general support; no pinpoint</a:t>
            </a:r>
          </a:p>
          <a:p>
            <a:r>
              <a:rPr sz="800"/>
              <a:t/>
            </a:r>
          </a:p>
          <a:p>
            <a:pPr/>
            <a:r>
              <a:rPr b="0" sz="1400">
                <a:solidFill>
                  <a:srgbClr val="000000"/>
                </a:solidFill>
              </a:rPr>
              <a:t>Evidence cell, verbatim:</a:t>
            </a:r>
          </a:p>
          <a:p>
            <a:r>
              <a:rPr sz="800"/>
              <a:t/>
            </a:r>
          </a:p>
          <a:p>
            <a:pPr/>
            <a:r>
              <a:rPr b="0" sz="1400">
                <a:solidFill>
                  <a:srgbClr val="000000"/>
                </a:solidFill>
              </a:rPr>
              <a:t>aidrin-hiniduma-2024; data-readiness-for-ai-a-360-degree-survey; aidrin-2-0-a-framework-to-assess-data-readiness-for-ai</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tool:aidrin · open_source · tier · aidrin · the product scored on AIDRIN's published data-readiness dimensions</a:t>
            </a:r>
          </a:p>
          <a:p>
            <a:r>
              <a:rPr sz="800"/>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C5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appendix/indicator_C5.md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The predecessor's reason said neither AIDRIN paper's text says where the tool is obtained. It does, in reference [1]. The index named is TestPyPI and not the production index, which is recorded here rather than smoothed over. No harness path runs it under this project's manners and evidence retention, which is what keeps this O rather than M (DN-005 §2.2).</a:t>
            </a:r>
          </a:p>
          <a:p>
            <a:pPr/>
            <a:r>
              <a:rPr b="0" sz="1400">
                <a:solidFill>
                  <a:srgbClr val="000000"/>
                </a:solidFill>
              </a:rPr>
              <a:t>tier_rule: cc_tasks/2026-09-17_unassigned_indicators.md decision 3</a:t>
            </a:r>
          </a:p>
          <a:p>
            <a:pPr/>
            <a:r>
              <a:rPr b="0" sz="1400">
                <a:solidFill>
                  <a:srgbClr val="000000"/>
                </a:solidFill>
              </a:rPr>
              <a:t>tier_source: corpus/pilot/aidrin-hiniduma-2024.pdf (doc_id aidrin-hiniduma-2024): "AIDRIN offers a PyPI (Python Package Index) package [1] to users who are proficient in Python" and "Users can install the AIDRIN PyPI package via the command line and use it for data readiness assessment", with reference [1] giving the locator "AIDRIn: AI Data Readiness Inspector. test.pypi.org/project/aidrin/0.5.4"; the metrics it scores against are the paper's own published dimensions; definition of ind:C5: "Product scored against published AI-data-readiness metrics"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D1: Explicit machine-readable license/terms on product and API</a:t>
            </a:r>
          </a:p>
          <a:p>
            <a:r>
              <a:rPr sz="800"/>
              <a:t/>
            </a:r>
          </a:p>
          <a:p>
            <a:pPr/>
            <a:r>
              <a:rPr b="0" sz="1400">
                <a:solidFill>
                  <a:srgbClr val="000000"/>
                </a:solidFill>
              </a:rPr>
              <a:t>Record node ind:D1. Every value below is a field of that node or of an edge or node it reaches, printed verbatim.</a:t>
            </a:r>
          </a:p>
          <a:p>
            <a:r>
              <a:rPr sz="800"/>
              <a:t/>
            </a:r>
          </a:p>
          <a:p>
            <a:pPr/>
            <a:r>
              <a:rPr b="0" sz="1400">
                <a:solidFill>
                  <a:srgbClr val="000000"/>
                </a:solidFill>
              </a:rPr>
              <a:t>criterion: D</a:t>
            </a:r>
          </a:p>
          <a:p>
            <a:pPr/>
            <a:r>
              <a:rPr b="0" sz="1400">
                <a:solidFill>
                  <a:srgbClr val="000000"/>
                </a:solidFill>
              </a:rPr>
              <a:t>construct: License clarity</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D1: RULE-D1-v3</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spec:D1</a:t>
            </a:r>
          </a:p>
          <a:p>
            <a:r>
              <a:rPr sz="800"/>
              <a:t/>
            </a:r>
          </a:p>
          <a:p>
            <a:pPr/>
            <a:r>
              <a:rPr b="0" sz="1400">
                <a:solidFill>
                  <a:srgbClr val="000000"/>
                </a:solidFill>
              </a:rPr>
              <a:t>collector: extruct + httpx</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extruct&gt;=0.17</a:t>
            </a:r>
          </a:p>
          <a:p>
            <a:pPr/>
            <a:r>
              <a:rPr b="0" sz="1400">
                <a:solidFill>
                  <a:srgbClr val="000000"/>
                </a:solidFill>
              </a:rPr>
              <a:t>evidence_kind: licence field + resolution verdict</a:t>
            </a:r>
          </a:p>
          <a:p>
            <a:pPr/>
            <a:r>
              <a:rPr b="0" sz="1400">
                <a:solidFill>
                  <a:srgbClr val="000000"/>
                </a:solidFill>
              </a:rPr>
              <a:t>fuji_metric: FsF-R1.1-01M</a:t>
            </a:r>
          </a:p>
          <a:p>
            <a:pPr/>
            <a:r>
              <a:rPr b="0" sz="1400">
                <a:solidFill>
                  <a:srgbClr val="000000"/>
                </a:solidFill>
              </a:rPr>
              <a:t>indicator_code: D1</a:t>
            </a:r>
          </a:p>
          <a:p>
            <a:pPr/>
            <a:r>
              <a:rPr b="0" sz="1400">
                <a:solidFill>
                  <a:srgbClr val="000000"/>
                </a:solidFill>
              </a:rPr>
              <a:t>leg: D1</a:t>
            </a:r>
          </a:p>
          <a:p>
            <a:pPr/>
            <a:r>
              <a:rPr b="0" sz="1400">
                <a:solidFill>
                  <a:srgbClr val="000000"/>
                </a:solidFill>
              </a:rPr>
              <a:t>mode: auto</a:t>
            </a:r>
          </a:p>
          <a:p>
            <a:pPr/>
            <a:r>
              <a:rPr b="0" sz="1400">
                <a:solidFill>
                  <a:srgbClr val="000000"/>
                </a:solidFill>
              </a:rPr>
              <a:t>prior_art: odcs-open-data-contract-standard</a:t>
            </a:r>
          </a:p>
          <a:p>
            <a:pPr/>
            <a:r>
              <a:rPr b="0" sz="1400">
                <a:solidFill>
                  <a:srgbClr val="000000"/>
                </a:solidFill>
              </a:rPr>
              <a:t>rule_id: RULE-D1-v3</a:t>
            </a:r>
          </a:p>
          <a:p>
            <a:pPr/>
            <a:r>
              <a:rPr b="0" sz="1400">
                <a:solidFill>
                  <a:srgbClr val="000000"/>
                </a:solidFill>
              </a:rPr>
              <a:t>signal: Read the licence from schema.org/DCAT markup, an HTTP Link header, and the API's terms endpoint; test whether it is a recognised identifier (SPDX or a known URL) rather than free text.</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action · title · outcome · rule · effort · cost</a:t>
            </a:r>
          </a:p>
          <a:p>
            <a:pPr/>
            <a:r>
              <a:rPr b="0" sz="1400">
                <a:solidFill>
                  <a:srgbClr val="000000"/>
                </a:solidFill>
              </a:rPr>
              <a:t>act:d1-publish-a-machine-readable-licence · Publish a machine-readable licence for the product · no_licence · RULE-D1-v3 · hours · none</a:t>
            </a:r>
          </a:p>
          <a:p>
            <a:pPr/>
            <a:r>
              <a:rPr b="0" sz="1400">
                <a:solidFill>
                  <a:srgbClr val="000000"/>
                </a:solidFill>
              </a:rPr>
              <a:t>act:d1-state-the-licence-as-an-identifier · State the licence as an identifier, not as a sentence · licence_is_free_text · RULE-D1-v3 · hours · none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D1 · product · 0 · 20 · 0 · 3 · 23</a:t>
            </a:r>
          </a:p>
          <a:p>
            <a:r>
              <a:rPr sz="800"/>
              <a:t/>
            </a:r>
          </a:p>
          <a:p>
            <a:pPr/>
            <a:r>
              <a:rPr b="1" sz="1400">
                <a:solidFill>
                  <a:srgbClr val="000000"/>
                </a:solidFill>
              </a:rPr>
              <a:t>Other record fields</a:t>
            </a:r>
          </a:p>
          <a:p>
            <a:r>
              <a:rPr sz="800"/>
              <a:t/>
            </a:r>
          </a:p>
          <a:p>
            <a:pPr/>
            <a:r>
              <a:rPr b="0" sz="1400">
                <a:solidFill>
                  <a:srgbClr val="000000"/>
                </a:solidFill>
              </a:rPr>
              <a:t>measured_by: {"counts": {"error": 3, "fail": 23, "not_applicable": 0, "pass": 0}, "cycle": "scan_2026-09-07", "definition": "at least one pass/fail/not_applicable Finding on an admitted, observable surface in a cycle with fired controls; error does not count", "legs": ["D1"], "params_hash": "4a1350802619fe8ff65c0fc38cce128298278d0d2787b24cd6cfa3a17eb656f4", "qualifying_findings": 23, "recorded_by": "cc_tasks/2026-09-07_scan_run.md"}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tier_rule: cc_tasks/2026-09-17_measurement_tiers.md decision 2 rule 1</a:t>
            </a:r>
          </a:p>
          <a:p>
            <a:pPr/>
            <a:r>
              <a:rPr b="0" sz="1400">
                <a:solidFill>
                  <a:srgbClr val="000000"/>
                </a:solidFill>
              </a:rPr>
              <a:t>tier_source: rules.CURRENT['D1'] = RULE-D1-v3 (assessment/harness/scan/rules/__init__.py); measurement spec spec:D1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D2: Terms address model training/retrieval use explicitly</a:t>
            </a:r>
          </a:p>
          <a:p>
            <a:r>
              <a:rPr sz="800"/>
              <a:t/>
            </a:r>
          </a:p>
          <a:p>
            <a:pPr/>
            <a:r>
              <a:rPr b="0" sz="1400">
                <a:solidFill>
                  <a:srgbClr val="000000"/>
                </a:solidFill>
              </a:rPr>
              <a:t>Record node ind:D2. Every value below is a field of that node or of an edge or node it reaches, printed verbatim.</a:t>
            </a:r>
          </a:p>
          <a:p>
            <a:r>
              <a:rPr sz="800"/>
              <a:t/>
            </a:r>
          </a:p>
          <a:p>
            <a:pPr/>
            <a:r>
              <a:rPr b="0" sz="1400">
                <a:solidFill>
                  <a:srgbClr val="000000"/>
                </a:solidFill>
              </a:rPr>
              <a:t>criterion: D</a:t>
            </a:r>
          </a:p>
          <a:p>
            <a:pPr/>
            <a:r>
              <a:rPr b="0" sz="1400">
                <a:solidFill>
                  <a:srgbClr val="000000"/>
                </a:solidFill>
              </a:rPr>
              <a:t>construct: Reuse permissions for AI</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harness_built</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D2: RULE-D2-v1</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spec:D2</a:t>
            </a:r>
          </a:p>
          <a:p>
            <a:r>
              <a:rPr sz="800"/>
              <a:t/>
            </a:r>
          </a:p>
          <a:p>
            <a:pPr/>
            <a:r>
              <a:rPr b="0" sz="1400">
                <a:solidFill>
                  <a:srgbClr val="000000"/>
                </a:solidFill>
              </a:rPr>
              <a:t>collector: content-signals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assessment/harness/scan/collectors/v2clauses.py content_signals (scheme 1), over robots.fetch's A4 observation</a:t>
            </a:r>
          </a:p>
          <a:p>
            <a:pPr/>
            <a:r>
              <a:rPr b="0" sz="1400">
                <a:solidFill>
                  <a:srgbClr val="000000"/>
                </a:solidFill>
              </a:rPr>
              <a:t>evidence_kind: robots.txt body + parsed Content-Signal directives</a:t>
            </a:r>
          </a:p>
          <a:p>
            <a:pPr/>
            <a:r>
              <a:rPr b="0" sz="1400">
                <a:solidFill>
                  <a:srgbClr val="000000"/>
                </a:solidFill>
              </a:rPr>
              <a:t>indicator_code: D2</a:t>
            </a:r>
          </a:p>
          <a:p>
            <a:pPr/>
            <a:r>
              <a:rPr b="0" sz="1400">
                <a:solidFill>
                  <a:srgbClr val="000000"/>
                </a:solidFill>
              </a:rPr>
              <a:t>leg: D2</a:t>
            </a:r>
          </a:p>
          <a:p>
            <a:pPr/>
            <a:r>
              <a:rPr b="0" sz="1400">
                <a:solidFill>
                  <a:srgbClr val="000000"/>
                </a:solidFill>
              </a:rPr>
              <a:t>mode: auto</a:t>
            </a:r>
          </a:p>
          <a:p>
            <a:pPr/>
            <a:r>
              <a:rPr b="0" sz="1400">
                <a:solidFill>
                  <a:srgbClr val="000000"/>
                </a:solidFill>
              </a:rPr>
              <a:t>note: The machine-readable half. The prose terms of use stay a judged reading; enforcement is A12's.</a:t>
            </a:r>
          </a:p>
          <a:p>
            <a:pPr/>
            <a:r>
              <a:rPr b="0" sz="1400">
                <a:solidFill>
                  <a:srgbClr val="000000"/>
                </a:solidFill>
              </a:rPr>
              <a:t>prior_art: cloudflare-content-signals-policy</a:t>
            </a:r>
          </a:p>
          <a:p>
            <a:pPr/>
            <a:r>
              <a:rPr b="0" sz="1400">
                <a:solidFill>
                  <a:srgbClr val="000000"/>
                </a:solidFill>
              </a:rPr>
              <a:t>rule_id: RULE-D2-v1</a:t>
            </a:r>
          </a:p>
          <a:p>
            <a:pPr/>
            <a:r>
              <a:rPr b="0" sz="1400">
                <a:solidFill>
                  <a:srgbClr val="000000"/>
                </a:solidFill>
              </a:rPr>
              <a:t>signal: On A4's robots.txt observation, test whether a Content-Signal directive applying to the product path declares both ai-train and ai-input (yes or no), and names no category or value the policy does not define.</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action · title · outcome · rule · effort · cost</a:t>
            </a:r>
          </a:p>
          <a:p>
            <a:pPr/>
            <a:r>
              <a:rPr b="0" sz="1400">
                <a:solidFill>
                  <a:srgbClr val="000000"/>
                </a:solidFill>
              </a:rPr>
              <a:t>act:d2-declare-ai-training-and-input-terms-in-robots-txt · Declare the terms for AI training and AI input in robots.txt · no_content_signal · RULE-D2-v1 · hours · none</a:t>
            </a:r>
          </a:p>
          <a:p>
            <a:pPr/>
            <a:r>
              <a:rPr b="0" sz="1400">
                <a:solidFill>
                  <a:srgbClr val="000000"/>
                </a:solidFill>
              </a:rPr>
              <a:t>act:d2-use-only-the-defined-content-signal-categories · Use only the categories and values the Content Signals Policy defines · unknown_category · RULE-D2-v1 · hours · none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D2 · product · 0 · 20 · 0 · 3 · 23</a:t>
            </a:r>
          </a:p>
          <a:p>
            <a:r>
              <a:rPr sz="800"/>
              <a:t/>
            </a:r>
          </a:p>
          <a:p>
            <a:pPr/>
            <a:r>
              <a:rPr b="1" sz="1400">
                <a:solidFill>
                  <a:srgbClr val="000000"/>
                </a:solidFill>
              </a:rPr>
              <a:t>Other record fields</a:t>
            </a:r>
          </a:p>
          <a:p>
            <a:r>
              <a:rPr sz="800"/>
              <a:t/>
            </a:r>
          </a:p>
          <a:p>
            <a:pPr/>
            <a:r>
              <a:rPr b="0" sz="1400">
                <a:solidFill>
                  <a:srgbClr val="000000"/>
                </a:solidFill>
              </a:rPr>
              <a:t>tier_note: The rule reads the machine-readable half: a Content-Signal directive in the host's robots.txt that applies to the product path and declares both ai-train and ai-input, yes or no. The prose terms of use stay a judged reading, and whether the declaration is enforced is A12's.</a:t>
            </a:r>
          </a:p>
          <a:p>
            <a:pPr/>
            <a:r>
              <a:rPr b="0" sz="1400">
                <a:solidFill>
                  <a:srgbClr val="000000"/>
                </a:solidFill>
              </a:rPr>
              <a:t>tier_rule: cc_tasks/2026-09-17_measurement_tiers.md decision 2 rule 1</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tier_source: rules.CURRENT['D2'] = RULE-D2-v1 (assessment/harness/scan/rules/__init__.py); measurement spec spec:D2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D3: Source lineage published (collection → processing → product)</a:t>
            </a:r>
          </a:p>
          <a:p>
            <a:r>
              <a:rPr sz="800"/>
              <a:t/>
            </a:r>
          </a:p>
          <a:p>
            <a:pPr/>
            <a:r>
              <a:rPr b="0" sz="1400">
                <a:solidFill>
                  <a:srgbClr val="000000"/>
                </a:solidFill>
              </a:rPr>
              <a:t>Record node ind:D3. Every value below is a field of that node or of an edge or node it reaches, printed verbatim.</a:t>
            </a:r>
          </a:p>
          <a:p>
            <a:r>
              <a:rPr sz="800"/>
              <a:t/>
            </a:r>
          </a:p>
          <a:p>
            <a:pPr/>
            <a:r>
              <a:rPr b="0" sz="1400">
                <a:solidFill>
                  <a:srgbClr val="000000"/>
                </a:solidFill>
              </a:rPr>
              <a:t>criterion: D</a:t>
            </a:r>
          </a:p>
          <a:p>
            <a:pPr/>
            <a:r>
              <a:rPr b="0" sz="1400">
                <a:solidFill>
                  <a:srgbClr val="000000"/>
                </a:solidFill>
              </a:rPr>
              <a:t>construct: Provenance completeness</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harness_built</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D3: RULE-D3-v1</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spec:D3</a:t>
            </a:r>
          </a:p>
          <a:p>
            <a:r>
              <a:rPr sz="800"/>
              <a:t/>
            </a:r>
          </a:p>
          <a:p>
            <a:pPr/>
            <a:r>
              <a:rPr b="0" sz="1400">
                <a:solidFill>
                  <a:srgbClr val="000000"/>
                </a:solidFill>
              </a:rPr>
              <a:t>collector: dcat-record-fields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assessment/harness/scan/collectors/v2clauses.py dcat_record_fields (scheme 1), over dcat.fetch_catalog's D4 observation</a:t>
            </a:r>
          </a:p>
          <a:p>
            <a:pPr/>
            <a:r>
              <a:rPr b="0" sz="1400">
                <a:solidFill>
                  <a:srgbClr val="000000"/>
                </a:solidFill>
              </a:rPr>
              <a:t>evidence_kind: D4's catalog document + per-record field profile</a:t>
            </a:r>
          </a:p>
          <a:p>
            <a:pPr/>
            <a:r>
              <a:rPr b="0" sz="1400">
                <a:solidFill>
                  <a:srgbClr val="000000"/>
                </a:solidFill>
              </a:rPr>
              <a:t>indicator_code: D3</a:t>
            </a:r>
          </a:p>
          <a:p>
            <a:pPr/>
            <a:r>
              <a:rPr b="0" sz="1400">
                <a:solidFill>
                  <a:srgbClr val="000000"/>
                </a:solidFill>
              </a:rPr>
              <a:t>leg: D3</a:t>
            </a:r>
          </a:p>
          <a:p>
            <a:pPr/>
            <a:r>
              <a:rPr b="0" sz="1400">
                <a:solidFill>
                  <a:srgbClr val="000000"/>
                </a:solidFill>
              </a:rPr>
              <a:t>mode: auto</a:t>
            </a:r>
          </a:p>
          <a:p>
            <a:pPr/>
            <a:r>
              <a:rPr b="0" sz="1400">
                <a:solidFill>
                  <a:srgbClr val="000000"/>
                </a:solidFill>
              </a:rPr>
              <a:t>prior_art: dcat-us-3-dataset-schema; w3c-dcat-3; w3c-prov-o-ontology</a:t>
            </a:r>
          </a:p>
          <a:p>
            <a:pPr/>
            <a:r>
              <a:rPr b="0" sz="1400">
                <a:solidFill>
                  <a:srgbClr val="000000"/>
                </a:solidFill>
              </a:rPr>
              <a:t>rule_id: RULE-D3-v1</a:t>
            </a:r>
          </a:p>
          <a:p>
            <a:pPr/>
            <a:r>
              <a:rPr b="0" sz="1400">
                <a:solidFill>
                  <a:srgbClr val="000000"/>
                </a:solidFill>
              </a:rPr>
              <a:t>signal: On D4's /data.json observation, test whether every catalog record for the product names a lineage (wasGeneratedBy, prov:wasGeneratedBy, wasDerivedFrom or prov:wasDerivedFrom).</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w3c-prov-dm-data-model · standard · PROV-DM: The PROV Data Model (W3C Recommendation, 30 April 2013) · the PROV data model: "Generation is the completion of production of a new entity by an activity."</a:t>
            </a:r>
          </a:p>
          <a:p>
            <a:pPr/>
            <a:r>
              <a:rPr b="0" sz="1400">
                <a:solidFill>
                  <a:srgbClr val="000000"/>
                </a:solidFill>
              </a:rPr>
              <a:t>w3c-prov-o-ontology · standard · PROV-O: The PROV Ontology (W3C Recommendation, 30 April 2013) · its OWL encoding, whose starting-point terms include prov:wasGeneratedBy and prov:wasDerivedFrom: "By expressing usage and generation, one can construct provenance chains comprising both Activities and Entities."</a:t>
            </a:r>
          </a:p>
          <a:p>
            <a:r>
              <a:rPr sz="800"/>
              <a:t/>
            </a:r>
          </a:p>
          <a:p>
            <a:pPr/>
            <a:r>
              <a:rPr b="0" sz="1400">
                <a:solidFill>
                  <a:srgbClr val="000000"/>
                </a:solidFill>
              </a:rPr>
              <a:t>Evidence cell, verbatim:</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appendix/indicator_D3.md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w3c-prov-dm-data-model (the PROV data model: "Generation is the completion of production of a new entity by an activity."); w3c-prov-o-ontology (its OWL encoding, whose starting-point terms include prov:wasGeneratedBy and prov:wasDerivedFrom: "By expressing usage and generation, one can construct provenance chains comprising both Activities and Entities."). Both admitted after this cell first read "gap — no PROV-O/W3C-PROV document is admitted"; corrected by cc_tasks/2026-09-18_dcat_field_rules.md decision 6</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act:d3-name-the-generating-activity-in-the-catalog-record · Name the activity that generated the product in its catalog record · no_lineage_field · RULE-D3-v1 · hours · none</a:t>
            </a:r>
          </a:p>
          <a:p>
            <a:pPr/>
            <a:r>
              <a:rPr b="0" sz="1400">
                <a:solidFill>
                  <a:srgbClr val="000000"/>
                </a:solidFill>
              </a:rPr>
              <a:t>act:d3-publish-the-products-record-with-its-lineage · Publish the product's catalog record naming how it was generated · no_product_record · RULE-D3-v1 · days · staff_time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requirement_none_reason: Whether the lineage reaches from collection through processing is readable by walking wasDerivedFrom on the same catalog records the rule already fetches. That is a rule this project would write, not a requirement of the body's.</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D3 · product · 0 · 19 · 0 · 4 · 23</a:t>
            </a:r>
          </a:p>
          <a:p>
            <a:r>
              <a:rPr sz="800"/>
              <a:t/>
            </a:r>
          </a:p>
          <a:p>
            <a:pPr/>
            <a:r>
              <a:rPr b="1" sz="1400">
                <a:solidFill>
                  <a:srgbClr val="000000"/>
                </a:solidFill>
              </a:rPr>
              <a:t>Other record fields</a:t>
            </a:r>
          </a:p>
          <a:p>
            <a:r>
              <a:rPr sz="800"/>
              <a:t/>
            </a:r>
          </a:p>
          <a:p>
            <a:pPr/>
            <a:r>
              <a:rPr b="0" sz="1400">
                <a:solidFill>
                  <a:srgbClr val="000000"/>
                </a:solidFill>
              </a:rPr>
              <a:t>tier_note: The rule reads that the product's catalog record names a lineage (wasGeneratedBy or wasDerivedFrom, bare or prov:-prefixed); whether that lineage reaches from collection through processing to the product is not measured.</a:t>
            </a:r>
          </a:p>
          <a:p>
            <a:pPr/>
            <a:r>
              <a:rPr b="0" sz="1400">
                <a:solidFill>
                  <a:srgbClr val="000000"/>
                </a:solidFill>
              </a:rPr>
              <a:t>tier_rule: cc_tasks/2026-09-17_measurement_tiers.md decision 2 rule 1</a:t>
            </a:r>
          </a:p>
          <a:p>
            <a:pPr/>
            <a:r>
              <a:rPr b="0" sz="1400">
                <a:solidFill>
                  <a:srgbClr val="000000"/>
                </a:solidFill>
              </a:rPr>
              <a:t>tier_source: rules.CURRENT['D3'] = RULE-D3-v1 (assessment/harness/scan/rules/__init__.py); measurement spec spec:D3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D4: Statutory products enumerable from a public inventory (data.gov/agency inventory current)</a:t>
            </a:r>
          </a:p>
          <a:p>
            <a:r>
              <a:rPr sz="800"/>
              <a:t/>
            </a:r>
          </a:p>
          <a:p>
            <a:pPr/>
            <a:r>
              <a:rPr b="0" sz="1400">
                <a:solidFill>
                  <a:srgbClr val="000000"/>
                </a:solidFill>
              </a:rPr>
              <a:t>Record node ind:D4. Every value below is a field of that node or of an edge or node it reaches, printed verbatim.</a:t>
            </a:r>
          </a:p>
          <a:p>
            <a:r>
              <a:rPr sz="800"/>
              <a:t/>
            </a:r>
          </a:p>
          <a:p>
            <a:pPr/>
            <a:r>
              <a:rPr b="0" sz="1400">
                <a:solidFill>
                  <a:srgbClr val="000000"/>
                </a:solidFill>
              </a:rPr>
              <a:t>criterion: D</a:t>
            </a:r>
          </a:p>
          <a:p>
            <a:pPr/>
            <a:r>
              <a:rPr b="0" sz="1400">
                <a:solidFill>
                  <a:srgbClr val="000000"/>
                </a:solidFill>
              </a:rPr>
              <a:t>construct: No dark data</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D4: RULE-D4-v3</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spec:D4</a:t>
            </a:r>
          </a:p>
          <a:p>
            <a:r>
              <a:rPr sz="800"/>
              <a:t/>
            </a:r>
          </a:p>
          <a:p>
            <a:pPr/>
            <a:r>
              <a:rPr b="0" sz="1400">
                <a:solidFill>
                  <a:srgbClr val="000000"/>
                </a:solidFill>
              </a:rPr>
              <a:t>collector: project-open-data-validator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json-schema (Project Open Data v1.1 schema)</a:t>
            </a:r>
          </a:p>
          <a:p>
            <a:pPr/>
            <a:r>
              <a:rPr b="0" sz="1400">
                <a:solidFill>
                  <a:srgbClr val="000000"/>
                </a:solidFill>
              </a:rPr>
              <a:t>evidence_kind: catalog document + validation report + membership verdict</a:t>
            </a:r>
          </a:p>
          <a:p>
            <a:pPr/>
            <a:r>
              <a:rPr b="0" sz="1400">
                <a:solidFill>
                  <a:srgbClr val="000000"/>
                </a:solidFill>
              </a:rPr>
              <a:t>indicator_code: D4</a:t>
            </a:r>
          </a:p>
          <a:p>
            <a:pPr/>
            <a:r>
              <a:rPr b="0" sz="1400">
                <a:solidFill>
                  <a:srgbClr val="000000"/>
                </a:solidFill>
              </a:rPr>
              <a:t>leg: D4</a:t>
            </a:r>
          </a:p>
          <a:p>
            <a:pPr/>
            <a:r>
              <a:rPr b="0" sz="1400">
                <a:solidFill>
                  <a:srgbClr val="000000"/>
                </a:solidFill>
              </a:rPr>
              <a:t>mode: auto</a:t>
            </a:r>
          </a:p>
          <a:p>
            <a:pPr/>
            <a:r>
              <a:rPr b="0" sz="1400">
                <a:solidFill>
                  <a:srgbClr val="000000"/>
                </a:solidFill>
              </a:rPr>
              <a:t>prior_art: dcat-us-1-1-schema; m-25-05-phase-2-implementation-of-the-evidence-act-open-gove</a:t>
            </a:r>
          </a:p>
          <a:p>
            <a:pPr/>
            <a:r>
              <a:rPr b="0" sz="1400">
                <a:solidFill>
                  <a:srgbClr val="000000"/>
                </a:solidFill>
              </a:rPr>
              <a:t>rule_id: RULE-D4-v3</a:t>
            </a:r>
          </a:p>
          <a:p>
            <a:pPr/>
            <a:r>
              <a:rPr b="0" sz="1400">
                <a:solidFill>
                  <a:srgbClr val="000000"/>
                </a:solidFill>
              </a:rPr>
              <a:t>signal: Fetch /data.json (Project Open Data catalog); validate against the POD v1.1 schema; test whether the product appears in it.</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dcat-us-1-1-schema · federal · DCAT-US Schema v1.1 (Project Open Data Metadata Schema) - resources.data.gov · that metadata schema, which states the listing requirement on its face: "guidance to support the use of the Project Open Data metadata to list agency datasets and application programming interfaces as hosted at agency.gov/data", and "the catalog file for each agency should list all of the agency's datasets that can be made public, regardless of whether they are distributed by a file download or a Web API"; its Catalog fields section describes "the entire Public Data Listing catalog file"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foundations-for-evidence-based-policymaking-act-of-2018-evid · federal · Foundations for Evidence-Based Policymaking Act of 2018 (Evidence Act) · Title II, the OPEN Government Data Act, enacting 44 U.S.C. 3511: subsection a paragraph 1 requires each agency to "develop and maintain a comprehensive data inventory that accounts for all data assets created by, collected by, under the control or direction of, or maintained by the agency"; subsection a paragraph 3 requires that inventory updated "not later than 90 days" after a data asset is created or identified; subsection b requires public data assets be submitted "for inclusion in the Federal data catalogue"; subsection c paragraph 1 makes that catalogue "a single public interface online as a point of entry"</a:t>
            </a:r>
          </a:p>
          <a:p>
            <a:pPr/>
            <a:r>
              <a:rPr b="0" sz="1400">
                <a:solidFill>
                  <a:srgbClr val="000000"/>
                </a:solidFill>
              </a:rPr>
              <a:t>m-25-05-phase-2-implementation-of-the-evidence-act-open-gove · federal · M-25-05: Phase 2 Implementation of the Evidence Act — Open Government Data Access and Management · section 4a iii, public dissemination: agencies "must submit their comprehensive data inventory to the Federal Data Catalog as a data asset" and "host it publicly on the agency's website at the address: www.agency.gov/data.json", repeated at section 5b ii with the OMB-approved metadata schema</a:t>
            </a:r>
          </a:p>
          <a:p>
            <a:r>
              <a:rPr sz="800"/>
              <a:t/>
            </a:r>
          </a:p>
          <a:p>
            <a:pPr/>
            <a:r>
              <a:rPr b="0" sz="1400">
                <a:solidFill>
                  <a:srgbClr val="000000"/>
                </a:solidFill>
              </a:rPr>
              <a:t>Evidence cell, verbatim:</a:t>
            </a:r>
          </a:p>
          <a:p>
            <a:r>
              <a:rPr sz="800"/>
              <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foundations-for-evidence-based-policymaking-act-of-2018-evid (Title II, the OPEN Government Data Act, enacting 44 U.S.C. 3511: subsection a paragraph 1 requires each agency to "develop and maintain a comprehensive data inventory that accounts for all data assets created by, collected by, under the control or direction of, or maintained by the agency"; subsection a paragraph 3 requires that inventory updated "not later than 90 days" after a data asset is created or identified; subsection b requires public data assets be submitted "for inclusion in the Federal data catalogue"; subsection c paragraph 1 makes that catalogue "a single public interface online as a point of entry"); m-25-05-phase-2-implementation-of-the-evidence-act-open-gove (section 4a iii, public dissemination: agencies "must submit their comprehensive data inventory to the Federal Data Catalog as a data asset" and "host it publicly on the agency's website at the address: www.agency.gov/data.json", repeated at section 5b ii with the OMB-approved metadata schema); dcat-us-1-1-schema (that metadata schema, which states the listing requirement on its face: "guidance to support the use of the Project Open Data metadata to list agency datasets and application programming interfaces as hosted at agency.gov/data", and "the catalog file for each agency should list all of the agency's datasets that can be made public, regardless of whether they are distributed by a file download or a Web API"; its Catalog fields section describes "the entire Public Data Listing catalog file")</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act:d4-add-the-product-to-the-public-data-inventory · Add the product to the public data inventory already published · product_absent_from_catalog · RULE-D4-v3 · hours · none</a:t>
            </a:r>
          </a:p>
          <a:p>
            <a:pPr/>
            <a:r>
              <a:rPr b="0" sz="1400">
                <a:solidFill>
                  <a:srgbClr val="000000"/>
                </a:solidFill>
              </a:rPr>
              <a:t>act:d4-make-the-catalog-conform-to-dcat-us · Make the public data catalog conform to the DCAT-US schema · catalog_schema_violation · RULE-D4-v3 · hours · none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D4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appendix/indicator_D4.md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act:d4-publish-a-data-json-inventory · Publish a data.json inventory on the host · no_catalog · RULE-D4-v3 · days · staff_time</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tool:catalog-data-gov-ckan-api · hosted_free · coverage · federal_catalog · whether the product is registered in the federal catalog</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D4 · product · 1 · 18 · 0 · 4 · 23</a:t>
            </a:r>
          </a:p>
          <a:p>
            <a:r>
              <a:rPr sz="800"/>
              <a:t/>
            </a:r>
          </a:p>
          <a:p>
            <a:pPr/>
            <a:r>
              <a:rPr b="1" sz="1400">
                <a:solidFill>
                  <a:srgbClr val="000000"/>
                </a:solidFill>
              </a:rPr>
              <a:t>Other record fields</a:t>
            </a:r>
          </a:p>
          <a:p>
            <a:r>
              <a:rPr sz="800"/>
              <a:t/>
            </a:r>
          </a:p>
          <a:p>
            <a:pPr/>
            <a:r>
              <a:rPr b="0" sz="1400">
                <a:solidFill>
                  <a:srgbClr val="000000"/>
                </a:solidFill>
              </a:rPr>
              <a:t>measured_by: {"counts": {"error": 3, "fail": 23, "not_applicable": 0, "pass": 0}, "cycle": "scan_2026-09-07", "definition": "at least one pass/fail/not_applicable Finding on an admitted, observable surface in a cycle with fired controls; error does not count", "legs": ["D4"],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rules.CURRENT['D4'] = RULE-D4-v3 (assessment/harness/scan/rules/__init__.py); measurement spec spec:D4</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E1: Product spec conformance (AUTO/DOC set) reported separately from fit-for-use evals (EVAL set); a product cannot pass validation while failing verification</a:t>
            </a:r>
          </a:p>
          <a:p>
            <a:r>
              <a:rPr sz="800"/>
              <a:t/>
            </a:r>
          </a:p>
          <a:p>
            <a:pPr/>
            <a:r>
              <a:rPr b="0" sz="1400">
                <a:solidFill>
                  <a:srgbClr val="000000"/>
                </a:solidFill>
              </a:rPr>
              <a:t>Record node ind:E1.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Verification vs validation split</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judged_reading</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nist-ai-risk-management-framework-ai-rmf · federal · NIST AI Risk Management Framework (AI RMF) · general support; no pinpoint</a:t>
            </a:r>
          </a:p>
          <a:p>
            <a:r>
              <a:rPr sz="800"/>
              <a:t/>
            </a:r>
          </a:p>
          <a:p>
            <a:pPr/>
            <a:r>
              <a:rPr b="0" sz="1400">
                <a:solidFill>
                  <a:srgbClr val="000000"/>
                </a:solidFill>
              </a:rPr>
              <a:t>Evidence cell, verbatim:</a:t>
            </a:r>
          </a:p>
          <a:p>
            <a:r>
              <a:rPr sz="800"/>
              <a:t/>
            </a:r>
          </a:p>
          <a:p>
            <a:pPr/>
            <a:r>
              <a:rPr b="0" sz="1400">
                <a:solidFill>
                  <a:srgbClr val="000000"/>
                </a:solidFill>
              </a:rPr>
              <a:t>nist-ai-risk-management-framework-ai-rmf; internal: this instrument's A/B/D vs C split</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pre:published-conformance-and-evaluation-report · agency_records · tier · agency_report · a reading of the agency's report for conformance kept apart from evaluation</a:t>
            </a:r>
          </a:p>
          <a:p>
            <a:r>
              <a:rPr sz="800"/>
              <a:t/>
            </a:r>
          </a:p>
          <a:p>
            <a:pPr/>
            <a:r>
              <a:rPr b="1" sz="1400">
                <a:solidFill>
                  <a:srgbClr val="000000"/>
                </a:solidFill>
              </a:rPr>
              <a:t>Verdicts on the cycle of record (scan_2026-09-10_rj4)</a:t>
            </a:r>
          </a:p>
          <a:p>
            <a:r>
              <a:rPr sz="800"/>
              <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no instrument exists; the reading is of a published report, not a served surface</a:t>
            </a:r>
          </a:p>
          <a:p>
            <a:pPr/>
            <a:r>
              <a:rPr b="0" sz="1400">
                <a:solidFill>
                  <a:srgbClr val="000000"/>
                </a:solidFill>
              </a:rPr>
              <a:t>tier_rule: cc_tasks/2026-09-18_dcat_field_rules.md decision 5</a:t>
            </a:r>
          </a:p>
          <a:p>
            <a:pPr/>
            <a:r>
              <a:rPr b="0" sz="1400">
                <a:solidFill>
                  <a:srgbClr val="000000"/>
                </a:solidFill>
              </a:rPr>
              <a:t>tier_source: cc_tasks/2026-09-17_unassigned_indicators_RESULT.md §0 (the row's decision 1 reading: the act is a publication act and the artifact a published report); cc_tasks/2026-09-18_dcat_field_rules.md decision 5; definition of ind:E1: "reported separately from"</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E2: Published pass/fail thresholds per eval, pre-registered before results; threshold changes are versioned events</a:t>
            </a:r>
          </a:p>
          <a:p>
            <a:r>
              <a:rPr sz="800"/>
              <a:t/>
            </a:r>
          </a:p>
          <a:p>
            <a:pPr/>
            <a:r>
              <a:rPr b="0" sz="1400">
                <a:solidFill>
                  <a:srgbClr val="000000"/>
                </a:solidFill>
              </a:rPr>
              <a:t>Record node ind:E2.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Acceptance thresholds</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D</a:t>
            </a:r>
          </a:p>
          <a:p>
            <a:pPr/>
            <a:r>
              <a:rPr b="0" sz="1400">
                <a:solidFill>
                  <a:srgbClr val="000000"/>
                </a:solidFill>
              </a:rPr>
              <a:t>measurement basis: declaration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appendix/indicator_E2.md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pPr/>
            <a:r>
              <a:rPr b="0" sz="1400">
                <a:solidFill>
                  <a:srgbClr val="000000"/>
                </a:solidFill>
              </a:rPr>
              <a:t>nist-ai-rmf-playbook · federal · NIST AI RMF Playbook · general support; no pinpoint</a:t>
            </a:r>
          </a:p>
          <a:p>
            <a:r>
              <a:rPr sz="800"/>
              <a:t/>
            </a:r>
          </a:p>
          <a:p>
            <a:pPr/>
            <a:r>
              <a:rPr b="0" sz="1400">
                <a:solidFill>
                  <a:srgbClr val="000000"/>
                </a:solidFill>
              </a:rPr>
              <a:t>Evidence cell, verbatim:</a:t>
            </a:r>
          </a:p>
          <a:p>
            <a:r>
              <a:rPr sz="800"/>
              <a:t/>
            </a:r>
          </a:p>
          <a:p>
            <a:pPr/>
            <a:r>
              <a:rPr b="0" sz="1400">
                <a:solidFill>
                  <a:srgbClr val="000000"/>
                </a:solidFill>
              </a:rPr>
              <a:t>internal: methodology §3; nist-ai-rmf-playbook</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pre:threshold-preregistration-records · agency_records · tier · agency_records · the order of threshold and result, from the agency's records</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appendix/indicator_E2.md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Other record fields</a:t>
            </a:r>
          </a:p>
          <a:p>
            <a:r>
              <a:rPr sz="800"/>
              <a:t/>
            </a:r>
          </a:p>
          <a:p>
            <a:pPr/>
            <a:r>
              <a:rPr b="0" sz="1400">
                <a:solidFill>
                  <a:srgbClr val="000000"/>
                </a:solidFill>
              </a:rPr>
              <a:t>tier_note: The published half — that thresholds are published at all, and that changes are versioned events — is readable from a served surface. The clause the indicator turns on is the order, which is not.</a:t>
            </a:r>
          </a:p>
          <a:p>
            <a:pPr/>
            <a:r>
              <a:rPr b="0" sz="1400">
                <a:solidFill>
                  <a:srgbClr val="000000"/>
                </a:solidFill>
              </a:rPr>
              <a:t>tier_rule: cc_tasks/2026-09-17_unassigned_indicators.md decision 1</a:t>
            </a:r>
          </a:p>
          <a:p>
            <a:pPr/>
            <a:r>
              <a:rPr b="0" sz="1400">
                <a:solidFill>
                  <a:srgbClr val="000000"/>
                </a:solidFill>
              </a:rPr>
              <a:t>tier_source: the definition places the act before publication: a threshold is pre-registered only if it existed BEFORE the results it judges, and the agency's own timestamps are the only record of that order; definition of ind:E2: "pre-registered before results"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E3: Eval sets and rubrics carry versions; results never pooled across versions</a:t>
            </a:r>
          </a:p>
          <a:p>
            <a:r>
              <a:rPr sz="800"/>
              <a:t/>
            </a:r>
          </a:p>
          <a:p>
            <a:pPr/>
            <a:r>
              <a:rPr b="0" sz="1400">
                <a:solidFill>
                  <a:srgbClr val="000000"/>
                </a:solidFill>
              </a:rPr>
              <a:t>Record node ind:E3.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Instrument versioning</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judged_reading</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appendix/indicator_E3.md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0" sz="1400">
                <a:solidFill>
                  <a:srgbClr val="000000"/>
                </a:solidFill>
              </a:rPr>
              <a:t>internal: methodology §4 and §7.6 (instrument-version citation rule)</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pre:evaluation-set-version-records · agency_records · tier · agency_records · a reading of which evaluation-set version each result came from</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Other record fields</a:t>
            </a:r>
          </a:p>
          <a:p>
            <a:r>
              <a:rPr sz="800"/>
              <a:t/>
            </a:r>
          </a:p>
          <a:p>
            <a:pPr/>
            <a:r>
              <a:rPr b="0" sz="1400">
                <a:solidFill>
                  <a:srgbClr val="000000"/>
                </a:solidFill>
              </a:rPr>
              <a:t>tier_note: no instrument exists; the reading is of a published report, not a served surface; observability is one-sided: a fail is visible, a pass needs the agency's records</a:t>
            </a:r>
          </a:p>
          <a:p>
            <a:pPr/>
            <a:r>
              <a:rPr b="0" sz="1400">
                <a:solidFill>
                  <a:srgbClr val="000000"/>
                </a:solidFill>
              </a:rPr>
              <a:t>tier_rule: cc_tasks/2026-09-18_dcat_field_rules.md decision 5</a:t>
            </a:r>
          </a:p>
          <a:p>
            <a:pPr/>
            <a:r>
              <a:rPr b="0" sz="1400">
                <a:solidFill>
                  <a:srgbClr val="000000"/>
                </a:solidFill>
              </a:rPr>
              <a:t>tier_source: cc_tasks/2026-09-17_unassigned_indicators_RESULT.md §0 (the row's decision 1 reading: the act is a publication act and the artifact a published report); cc_tasks/2026-09-18_dcat_field_rules.md decision 5; definition of ind:E3: "Eval sets and rubrics carry versions"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E4: Public eval sets have a held-out rotation; publication schedule assumes training-set leakage within one model generation</a:t>
            </a:r>
          </a:p>
          <a:p>
            <a:r>
              <a:rPr sz="800"/>
              <a:t/>
            </a:r>
          </a:p>
          <a:p>
            <a:pPr/>
            <a:r>
              <a:rPr b="0" sz="1400">
                <a:solidFill>
                  <a:srgbClr val="000000"/>
                </a:solidFill>
              </a:rPr>
              <a:t>Record node ind:E4.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Contamination policy</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D</a:t>
            </a:r>
          </a:p>
          <a:p>
            <a:pPr/>
            <a:r>
              <a:rPr b="0" sz="1400">
                <a:solidFill>
                  <a:srgbClr val="000000"/>
                </a:solidFill>
              </a:rPr>
              <a:t>measurement basis: declaration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sainz-2023-llm-data-contamination · academic · NLP Evaluation in trouble: On the Need to Measure LLM Data Contamination for each Benchmark · general support; no pinpoint</a:t>
            </a:r>
          </a:p>
          <a:p>
            <a:r>
              <a:rPr sz="800"/>
              <a:t/>
            </a:r>
          </a:p>
          <a:p>
            <a:pPr/>
            <a:r>
              <a:rPr b="0" sz="1400">
                <a:solidFill>
                  <a:srgbClr val="000000"/>
                </a:solidFill>
              </a:rPr>
              <a:t>Evidence cell, verbatim:</a:t>
            </a:r>
          </a:p>
          <a:p>
            <a:r>
              <a:rPr sz="800"/>
              <a:t/>
            </a:r>
          </a:p>
          <a:p>
            <a:pPr/>
            <a:r>
              <a:rPr b="0" sz="1400">
                <a:solidFill>
                  <a:srgbClr val="000000"/>
                </a:solidFill>
              </a:rPr>
              <a:t>sainz-2023-llm-data-contamination</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pre:held-out-rotation-records · agency_records · tier · agency_records · whether a held-out rotation exists, from the agency's records</a:t>
            </a:r>
          </a:p>
          <a:p>
            <a:r>
              <a:rPr sz="800"/>
              <a:t/>
            </a:r>
          </a:p>
          <a:p>
            <a:pPr/>
            <a:r>
              <a:rPr b="1" sz="1400">
                <a:solidFill>
                  <a:srgbClr val="000000"/>
                </a:solidFill>
              </a:rPr>
              <a:t>Verdicts on the cycle of record (scan_2026-09-10_rj4)</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appendix/indicator_E4.md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tier_rule: cc_tasks/2026-09-17_measurement_tiers.md decision 2 rule 2</a:t>
            </a:r>
          </a:p>
          <a:p>
            <a:pPr/>
            <a:r>
              <a:rPr b="0" sz="1400">
                <a:solidFill>
                  <a:srgbClr val="000000"/>
                </a:solidFill>
              </a:rPr>
              <a:t>tier_source: docs/design/scan_tool_map.md §2 at commit 52af6c7 (verdict not web-observable), confirmed against the definition: a held-out set is by construction not published, so whether a rotation exists is a fact only the agency holds; definition of ind:E4: "Public eval sets have a held-out rotation"</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E5: Seeded known-bad items (canaries/decoys) in every continuous-eval cycle; a cycle with zero fired controls is INVALID, not passing</a:t>
            </a:r>
          </a:p>
          <a:p>
            <a:r>
              <a:rPr sz="800"/>
              <a:t/>
            </a:r>
          </a:p>
          <a:p>
            <a:pPr/>
            <a:r>
              <a:rPr b="0" sz="1400">
                <a:solidFill>
                  <a:srgbClr val="000000"/>
                </a:solidFill>
              </a:rPr>
              <a:t>Record node ind:E5.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Positive controls</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harness_built</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E5: RULE-E5-v2</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spec:E5</a:t>
            </a:r>
          </a:p>
          <a:p>
            <a:r>
              <a:rPr sz="800"/>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 control_fixtures</a:t>
            </a:r>
          </a:p>
          <a:p>
            <a:pPr/>
            <a:r>
              <a:rPr b="0" sz="1400">
                <a:solidFill>
                  <a:srgbClr val="000000"/>
                </a:solidFill>
              </a:rPr>
              <a:t>collector_pin: assessment/harness/scan/fixtures (body_two_products, body_two_products_split, fails_all, invalid_route_unobserved, passes_all, refuses_identified_client, resets_connection, resets_links_only, robots_404_html, robots_forbids_product, sitemap_on_sibling)</a:t>
            </a:r>
          </a:p>
          <a:p>
            <a:pPr/>
            <a:r>
              <a:rPr b="0" sz="1400">
                <a:solidFill>
                  <a:srgbClr val="000000"/>
                </a:solidFill>
              </a:rPr>
              <a:t>evidence_kind: per-fixture verdict map for every rule in the cycle</a:t>
            </a:r>
          </a:p>
          <a:p>
            <a:pPr/>
            <a:r>
              <a:rPr b="0" sz="1400">
                <a:solidFill>
                  <a:srgbClr val="000000"/>
                </a:solidFill>
              </a:rPr>
              <a:t>indicator_code: E5</a:t>
            </a:r>
          </a:p>
          <a:p>
            <a:pPr/>
            <a:r>
              <a:rPr b="0" sz="1400">
                <a:solidFill>
                  <a:srgbClr val="000000"/>
                </a:solidFill>
              </a:rPr>
              <a:t>leg: E5</a:t>
            </a:r>
          </a:p>
          <a:p>
            <a:pPr/>
            <a:r>
              <a:rPr b="0" sz="1400">
                <a:solidFill>
                  <a:srgbClr val="000000"/>
                </a:solidFill>
              </a:rPr>
              <a:t>mode: auto</a:t>
            </a:r>
          </a:p>
          <a:p>
            <a:pPr/>
            <a:r>
              <a:rPr b="0" sz="1400">
                <a:solidFill>
                  <a:srgbClr val="000000"/>
                </a:solidFill>
              </a:rPr>
              <a:t>note: Was none_known: a seeded canary is a property of the harness's own cycle, not an observation of an external surface. Task §4 makes the fixtures that property.</a:t>
            </a:r>
          </a:p>
          <a:p>
            <a:pPr/>
            <a:r>
              <a:rPr b="0" sz="1400">
                <a:solidFill>
                  <a:srgbClr val="000000"/>
                </a:solidFill>
              </a:rPr>
              <a:t>prior_art: internal: DD-019 decoy discipline</a:t>
            </a:r>
          </a:p>
          <a:p>
            <a:pPr/>
            <a:r>
              <a:rPr b="0" sz="1400">
                <a:solidFill>
                  <a:srgbClr val="000000"/>
                </a:solidFill>
              </a:rPr>
              <a:t>rule_id: RULE-E5-v2</a:t>
            </a:r>
          </a:p>
          <a:p>
            <a:pPr/>
            <a:r>
              <a:rPr b="0" sz="1400">
                <a:solidFill>
                  <a:srgbClr val="000000"/>
                </a:solidFill>
              </a:rPr>
              <a:t>signal: Every control fixture is scanned before any real host. A cycle in which any of them produced an unexpected verdict is INVALID.</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Internal references: internal:DD-019.</a:t>
            </a:r>
          </a:p>
          <a:p>
            <a:r>
              <a:rPr sz="800"/>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Evidence cell, verbatim:</a:t>
            </a:r>
          </a:p>
          <a:p>
            <a:r>
              <a:rPr sz="800"/>
              <a:t/>
            </a:r>
          </a:p>
          <a:p>
            <a:pPr/>
            <a:r>
              <a:rPr b="0" sz="1400">
                <a:solidFill>
                  <a:srgbClr val="000000"/>
                </a:solidFill>
              </a:rPr>
              <a:t>internal: DD-019 decoy discipline; methodology §7.5</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act:e5-fire-every-declared-control-before-the-first-host · Fire every declared control fixture before the cycle contacts a host · zero_controls_fired · RULE-E5-v2 · hours · none</a:t>
            </a:r>
          </a:p>
          <a:p>
            <a:pPr/>
            <a:r>
              <a:rPr b="0" sz="1400">
                <a:solidFill>
                  <a:srgbClr val="000000"/>
                </a:solidFill>
              </a:rPr>
              <a:t>act:e5-investigate-the-control-verdict-that-moved · Investigate a control verdict that moved, and never retune the expectation · control_verdict_not_as_expected · RULE-E5-v2 · hours · none</a:t>
            </a:r>
          </a:p>
          <a:p>
            <a:pPr/>
            <a:r>
              <a:rPr b="0" sz="1400">
                <a:solidFill>
                  <a:srgbClr val="000000"/>
                </a:solidFill>
              </a:rPr>
              <a:t>act:e5-order-the-controls-before-the-surfaces · Order the control fixtures ahead of every real host in the cycle · controls_ran_after_surfaces · RULE-E5-v2 · hours · none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appendix/indicator_E5.md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Other record fields</a:t>
            </a:r>
          </a:p>
          <a:p>
            <a:r>
              <a:rPr sz="800"/>
              <a:t/>
            </a:r>
          </a:p>
          <a:p>
            <a:pPr/>
            <a:r>
              <a:rPr b="0" sz="1400">
                <a:solidFill>
                  <a:srgbClr val="000000"/>
                </a:solidFill>
              </a:rPr>
              <a:t>not_measured_reason: {"counts": {"error": 0, "fail": 0, "not_applicable": 0, "pass": 0}, "cycle": "scan_2026-09-09", "legs": ["E5"], "reason": "E5 judges the CYCLE, not a surface, so DD-055's definition of measured — a Finding on an admitted, observable surface — cannot apply to it. Its control Finding fired in this cycle and every other; the status is a limitation of the definition, not a gap in the measurement.", "recorded_by": "cc_tasks/2026-09-08_scan_run_3b.md"}</a:t>
            </a:r>
          </a:p>
          <a:p>
            <a:pPr/>
            <a:r>
              <a:rPr b="0" sz="1400">
                <a:solidFill>
                  <a:srgbClr val="000000"/>
                </a:solidFill>
              </a:rPr>
              <a:t>tier_note: The rule judges this instrument's own cycle (its control fixtures), not a publisher's; not_measured_reason on this node says why that is not measured.</a:t>
            </a:r>
          </a:p>
          <a:p>
            <a:pPr/>
            <a:r>
              <a:rPr b="0" sz="1400">
                <a:solidFill>
                  <a:srgbClr val="000000"/>
                </a:solidFill>
              </a:rPr>
              <a:t>tier_rule: cc_tasks/2026-09-17_measurement_tiers.md decision 2 rule 1</a:t>
            </a:r>
          </a:p>
          <a:p>
            <a:pPr/>
            <a:r>
              <a:rPr b="0" sz="1400">
                <a:solidFill>
                  <a:srgbClr val="000000"/>
                </a:solidFill>
              </a:rPr>
              <a:t>tier_source: rules.CURRENT['E5'] = RULE-E5-v2 (assessment/harness/scan/rules/__init__.py); measurement spec spec:E5</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E6</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E6: Discrepancy taxonomy localizing failures to retrieval / vintage / metadata / model; each stage instrumented</a:t>
            </a:r>
          </a:p>
          <a:p>
            <a:r>
              <a:rPr sz="800"/>
              <a:t/>
            </a:r>
          </a:p>
          <a:p>
            <a:pPr/>
            <a:r>
              <a:rPr b="0" sz="1400">
                <a:solidFill>
                  <a:srgbClr val="000000"/>
                </a:solidFill>
              </a:rPr>
              <a:t>Record node ind:E6.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Failure attribution</a:t>
            </a:r>
          </a:p>
          <a:p>
            <a:pPr/>
            <a:r>
              <a:rPr b="0" sz="1400">
                <a:solidFill>
                  <a:srgbClr val="000000"/>
                </a:solidFill>
              </a:rPr>
              <a:t>type: EVAL</a:t>
            </a:r>
          </a:p>
          <a:p>
            <a:pPr/>
            <a:r>
              <a:rPr b="0" sz="1400">
                <a:solidFill>
                  <a:srgbClr val="000000"/>
                </a:solidFill>
              </a:rPr>
              <a:t>access tier (tier): paid</a:t>
            </a:r>
          </a:p>
          <a:p>
            <a:pPr/>
            <a:r>
              <a:rPr b="0" sz="1400">
                <a:solidFill>
                  <a:srgbClr val="000000"/>
                </a:solidFill>
              </a:rPr>
              <a:t>measurement tier: M</a:t>
            </a:r>
          </a:p>
          <a:p>
            <a:pPr/>
            <a:r>
              <a:rPr b="0" sz="1400">
                <a:solidFill>
                  <a:srgbClr val="000000"/>
                </a:solidFill>
              </a:rPr>
              <a:t>measurement basis: evaluation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appendix/indicator_E6.md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pre:product-question-benchmark · benchmark_set · tier · benchmark · failures of the C1 to C3 evaluations localized to retrieval, vintage, metadata or model</a:t>
            </a:r>
          </a:p>
          <a:p>
            <a:pPr/>
            <a:r>
              <a:rPr b="0" sz="1400">
                <a:solidFill>
                  <a:srgbClr val="000000"/>
                </a:solidFill>
              </a:rPr>
              <a:t>pre:vintage-disambiguation-set · benchmark_set · tier · benchmark · failures of the C1 to C3 evaluations localized to retrieval, vintage, metadata or model</a:t>
            </a:r>
          </a:p>
          <a:p>
            <a:r>
              <a:rPr sz="800"/>
              <a:t/>
            </a:r>
          </a:p>
          <a:p>
            <a:pPr/>
            <a:r>
              <a:rPr b="1" sz="1400">
                <a:solidFill>
                  <a:srgbClr val="000000"/>
                </a:solidFill>
              </a:rPr>
              <a:t>Verdicts on the cycle of record (scan_2026-09-10_rj4)</a:t>
            </a:r>
          </a:p>
          <a:p>
            <a:r>
              <a:rPr sz="800"/>
              <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The failures it localizes are an evaluation's outputs (retrieval and model stages), so it presupposes the C1 to C3 evaluations. No such instrument exists yet.</a:t>
            </a:r>
          </a:p>
          <a:p>
            <a:pPr/>
            <a:r>
              <a:rPr b="0" sz="1400">
                <a:solidFill>
                  <a:srgbClr val="000000"/>
                </a:solidFill>
              </a:rPr>
              <a:t>tier_rule: cc_tasks/2026-09-17_measurement_tiers.md decision 2 rule 5</a:t>
            </a:r>
          </a:p>
          <a:p>
            <a:pPr/>
            <a:r>
              <a:rPr b="0" sz="1400">
                <a:solidFill>
                  <a:srgbClr val="000000"/>
                </a:solidFill>
              </a:rPr>
              <a:t>tier_source: definition of ind:E6 in framework/ai_readiness_framework.json: "Discrepancy taxonomy localizing failures to retrieval / vintage / metadata / model"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E7</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appendix/indicator_E7.md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E7: Documented path from failed eval back into the data product (metadata fix, vintage pointer, dictionary entry) with re-test; mean-time-to-closure tracked</a:t>
            </a:r>
          </a:p>
          <a:p>
            <a:r>
              <a:rPr sz="800"/>
              <a:t/>
            </a:r>
          </a:p>
          <a:p>
            <a:pPr/>
            <a:r>
              <a:rPr b="0" sz="1400">
                <a:solidFill>
                  <a:srgbClr val="000000"/>
                </a:solidFill>
              </a:rPr>
              <a:t>Record node ind:E7.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Corrective-action closure</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D</a:t>
            </a:r>
          </a:p>
          <a:p>
            <a:pPr/>
            <a:r>
              <a:rPr b="0" sz="1400">
                <a:solidFill>
                  <a:srgbClr val="000000"/>
                </a:solidFill>
              </a:rPr>
              <a:t>measurement basis: declaration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E7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appendix/indicator_E7.md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pre:eval-failure-closure-records · agency_records · tier · agency_records · mean time to closure over the agency's own history</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E7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appendix/indicator_E7.md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Other record fields</a:t>
            </a:r>
          </a:p>
          <a:p>
            <a:r>
              <a:rPr sz="800"/>
              <a:t/>
            </a:r>
          </a:p>
          <a:p>
            <a:pPr/>
            <a:r>
              <a:rPr b="0" sz="1400">
                <a:solidFill>
                  <a:srgbClr val="000000"/>
                </a:solidFill>
              </a:rPr>
              <a:t>tier_note: The 'Documented path ... with re-test' half would be readable if the agency published the path; the indicator's value turns on the tracked metric, which is held in the agency's records.</a:t>
            </a:r>
          </a:p>
          <a:p>
            <a:pPr/>
            <a:r>
              <a:rPr b="0" sz="1400">
                <a:solidFill>
                  <a:srgbClr val="000000"/>
                </a:solidFill>
              </a:rPr>
              <a:t>tier_rule: cc_tasks/2026-09-17_unassigned_indicators.md decision 1</a:t>
            </a:r>
          </a:p>
          <a:p>
            <a:pPr/>
            <a:r>
              <a:rPr b="0" sz="1400">
                <a:solidFill>
                  <a:srgbClr val="000000"/>
                </a:solidFill>
              </a:rPr>
              <a:t>tier_source: the definition names a tracked internal metric: mean time to closure is measured over the agency's own ticket history, which no served surface carries; definition of ind:E7: "mean-time-to-closure tracked"</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E8</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appendix/indicator_E8.md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E8: Versioned golden question/answer sets re-run on schedule against the product surface; baseline deltas alarmed; state fidelity across product versions measured, not assumed</a:t>
            </a:r>
          </a:p>
          <a:p>
            <a:r>
              <a:rPr sz="800"/>
              <a:t/>
            </a:r>
          </a:p>
          <a:p>
            <a:pPr/>
            <a:r>
              <a:rPr b="0" sz="1400">
                <a:solidFill>
                  <a:srgbClr val="000000"/>
                </a:solidFill>
              </a:rPr>
              <a:t>Record node ind:E8.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Drift sentinels (golden questions)</a:t>
            </a:r>
          </a:p>
          <a:p>
            <a:pPr/>
            <a:r>
              <a:rPr b="0" sz="1400">
                <a:solidFill>
                  <a:srgbClr val="000000"/>
                </a:solidFill>
              </a:rPr>
              <a:t>type: AUTO/EVAL</a:t>
            </a:r>
          </a:p>
          <a:p>
            <a:pPr/>
            <a:r>
              <a:rPr b="0" sz="1400">
                <a:solidFill>
                  <a:srgbClr val="000000"/>
                </a:solidFill>
              </a:rPr>
              <a:t>access tier (tier): paid</a:t>
            </a:r>
          </a:p>
          <a:p>
            <a:pPr/>
            <a:r>
              <a:rPr b="0" sz="1400">
                <a:solidFill>
                  <a:srgbClr val="000000"/>
                </a:solidFill>
              </a:rPr>
              <a:t>measurement tier: M</a:t>
            </a:r>
          </a:p>
          <a:p>
            <a:pPr/>
            <a:r>
              <a:rPr b="0" sz="1400">
                <a:solidFill>
                  <a:srgbClr val="000000"/>
                </a:solidFill>
              </a:rPr>
              <a:t>measurement basis: evaluation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E8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appendix/indicator_E8.md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webb-2026-state-fidelity-validity · academic · State Fidelity Validity for Reproducible AI Systems and Workflows · general support; no pinpoint</a:t>
            </a:r>
          </a:p>
          <a:p>
            <a:r>
              <a:rPr sz="800"/>
              <a:t/>
            </a:r>
          </a:p>
          <a:p>
            <a:pPr/>
            <a:r>
              <a:rPr b="0" sz="1400">
                <a:solidFill>
                  <a:srgbClr val="000000"/>
                </a:solidFill>
              </a:rPr>
              <a:t>Evidence cell, verbatim:</a:t>
            </a:r>
          </a:p>
          <a:p>
            <a:r>
              <a:rPr sz="800"/>
              <a:t/>
            </a:r>
          </a:p>
          <a:p>
            <a:pPr/>
            <a:r>
              <a:rPr b="0" sz="1400">
                <a:solidFill>
                  <a:srgbClr val="000000"/>
                </a:solidFill>
              </a:rPr>
              <a:t>webb-2026-state-fidelity-validity</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pre:product-question-benchmark · benchmark_set · tier · benchmark · a versioned golden question set re-run against the product surface</a:t>
            </a:r>
          </a:p>
          <a:p>
            <a:pPr/>
            <a:r>
              <a:rPr b="0" sz="1400">
                <a:solidFill>
                  <a:srgbClr val="000000"/>
                </a:solidFill>
              </a:rPr>
              <a:t>pre:second-evaluation-run · second_cycle · tier · benchmark · a versioned golden question set re-run against the product surface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E8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appendix/indicator_E8.md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No such instrument exists yet.</a:t>
            </a:r>
          </a:p>
          <a:p>
            <a:pPr/>
            <a:r>
              <a:rPr b="0" sz="1400">
                <a:solidFill>
                  <a:srgbClr val="000000"/>
                </a:solidFill>
              </a:rPr>
              <a:t>tier_rule: cc_tasks/2026-09-17_measurement_tiers.md decision 2 rule 5</a:t>
            </a:r>
          </a:p>
          <a:p>
            <a:pPr/>
            <a:r>
              <a:rPr b="0" sz="1400">
                <a:solidFill>
                  <a:srgbClr val="000000"/>
                </a:solidFill>
              </a:rPr>
              <a:t>tier_source: definition of ind:E8 in framework/ai_readiness_framework.json: "Versioned golden question/answer sets re-run on schedule against the product surface"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E9</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appendix/indicator_E9.md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E9: Standing adversarial bank: vintage traps, confusable series, unit traps, DP-noise misreads, suppression probes; plus surface red team — misparse and injection resistance of pages/markup/llms.txt. Reported as break modes, not just pass rates</a:t>
            </a:r>
          </a:p>
          <a:p>
            <a:r>
              <a:rPr sz="800"/>
              <a:t/>
            </a:r>
          </a:p>
          <a:p>
            <a:pPr/>
            <a:r>
              <a:rPr b="0" sz="1400">
                <a:solidFill>
                  <a:srgbClr val="000000"/>
                </a:solidFill>
              </a:rPr>
              <a:t>Record node ind:E9. Every value below is a field of that node or of an edge or node it reaches, printed verbatim.</a:t>
            </a:r>
          </a:p>
          <a:p>
            <a:r>
              <a:rPr sz="800"/>
              <a:t/>
            </a:r>
          </a:p>
          <a:p>
            <a:pPr/>
            <a:r>
              <a:rPr b="0" sz="1400">
                <a:solidFill>
                  <a:srgbClr val="000000"/>
                </a:solidFill>
              </a:rPr>
              <a:t>criterion: E</a:t>
            </a:r>
          </a:p>
          <a:p>
            <a:pPr/>
            <a:r>
              <a:rPr b="0" sz="1400">
                <a:solidFill>
                  <a:srgbClr val="000000"/>
                </a:solidFill>
              </a:rPr>
              <a:t>construct: Adversarial evaluation (red team)</a:t>
            </a:r>
          </a:p>
          <a:p>
            <a:pPr/>
            <a:r>
              <a:rPr b="0" sz="1400">
                <a:solidFill>
                  <a:srgbClr val="000000"/>
                </a:solidFill>
              </a:rPr>
              <a:t>type: EVAL</a:t>
            </a:r>
          </a:p>
          <a:p>
            <a:pPr/>
            <a:r>
              <a:rPr b="0" sz="1400">
                <a:solidFill>
                  <a:srgbClr val="000000"/>
                </a:solidFill>
              </a:rPr>
              <a:t>access tier (tier): paid</a:t>
            </a:r>
          </a:p>
          <a:p>
            <a:pPr/>
            <a:r>
              <a:rPr b="0" sz="1400">
                <a:solidFill>
                  <a:srgbClr val="000000"/>
                </a:solidFill>
              </a:rPr>
              <a:t>measurement tier: M</a:t>
            </a:r>
          </a:p>
          <a:p>
            <a:pPr/>
            <a:r>
              <a:rPr b="0" sz="1400">
                <a:solidFill>
                  <a:srgbClr val="000000"/>
                </a:solidFill>
              </a:rPr>
              <a:t>measurement basis: evaluation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E9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appendix/indicator_E9.md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nist-ai-risk-management-framework-ai-rmf · federal · NIST AI Risk Management Framework (AI RMF) · general support; no pinpoint</a:t>
            </a:r>
          </a:p>
          <a:p>
            <a:pPr/>
            <a:r>
              <a:rPr b="0" sz="1400">
                <a:solidFill>
                  <a:srgbClr val="000000"/>
                </a:solidFill>
              </a:rPr>
              <a:t>nist-generative-ai-profile-ai-600-1 · federal · NIST Generative AI Profile (AI 600-1) · general support; no pinpoint</a:t>
            </a:r>
          </a:p>
          <a:p>
            <a:r>
              <a:rPr sz="800"/>
              <a:t/>
            </a:r>
          </a:p>
          <a:p>
            <a:pPr/>
            <a:r>
              <a:rPr b="0" sz="1400">
                <a:solidFill>
                  <a:srgbClr val="000000"/>
                </a:solidFill>
              </a:rPr>
              <a:t>Evidence cell, verbatim:</a:t>
            </a:r>
          </a:p>
          <a:p>
            <a:r>
              <a:rPr sz="800"/>
              <a:t/>
            </a:r>
          </a:p>
          <a:p>
            <a:pPr/>
            <a:r>
              <a:rPr b="0" sz="1400">
                <a:solidFill>
                  <a:srgbClr val="000000"/>
                </a:solidFill>
              </a:rPr>
              <a:t>nist-generative-ai-profile-ai-600-1; nist-ai-risk-management-framework-ai-rmf</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pre:adversarial-bank · benchmark_set · tier · benchmark · break modes of AI consumers against a standing adversarial bank</a:t>
            </a:r>
          </a:p>
          <a:p>
            <a:r>
              <a:rPr sz="800"/>
              <a:t/>
            </a:r>
          </a:p>
          <a:p>
            <a:pPr/>
            <a:r>
              <a:rPr b="1" sz="1400">
                <a:solidFill>
                  <a:srgbClr val="000000"/>
                </a:solidFill>
              </a:rPr>
              <a:t>Verdicts on the cycle of record (scan_2026-09-10_rj4)</a:t>
            </a:r>
          </a:p>
          <a:p>
            <a:r>
              <a:rPr sz="800"/>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E9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appendix/indicator_E9.md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No such instrument exists yet.</a:t>
            </a:r>
          </a:p>
          <a:p>
            <a:pPr/>
            <a:r>
              <a:rPr b="0" sz="1400">
                <a:solidFill>
                  <a:srgbClr val="000000"/>
                </a:solidFill>
              </a:rPr>
              <a:t>tier_rule: cc_tasks/2026-09-17_measurement_tiers.md decision 2 rule 5</a:t>
            </a:r>
          </a:p>
          <a:p>
            <a:pPr/>
            <a:r>
              <a:rPr b="0" sz="1400">
                <a:solidFill>
                  <a:srgbClr val="000000"/>
                </a:solidFill>
              </a:rPr>
              <a:t>tier_source: definition of ind:E9 in framework/ai_readiness_framework.json: "Standing adversarial bank: vintage traps, confusable series, unit traps, DP-noise misreads, suppression probes"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F1: New releases pass a published expectation suite (schema validity, row/total sanity, identifier persistence) before going live</a:t>
            </a:r>
          </a:p>
          <a:p>
            <a:r>
              <a:rPr sz="800"/>
              <a:t/>
            </a:r>
          </a:p>
          <a:p>
            <a:pPr/>
            <a:r>
              <a:rPr b="0" sz="1400">
                <a:solidFill>
                  <a:srgbClr val="000000"/>
                </a:solidFill>
              </a:rPr>
              <a:t>Record node ind:F1. Every value below is a field of that node or of an edge or node it reaches, printed verbatim.</a:t>
            </a:r>
          </a:p>
          <a:p>
            <a:r>
              <a:rPr sz="800"/>
              <a:t/>
            </a:r>
          </a:p>
          <a:p>
            <a:pPr/>
            <a:r>
              <a:rPr b="0" sz="1400">
                <a:solidFill>
                  <a:srgbClr val="000000"/>
                </a:solidFill>
              </a:rPr>
              <a:t>criterion: F</a:t>
            </a:r>
          </a:p>
          <a:p>
            <a:pPr/>
            <a:r>
              <a:rPr b="0" sz="1400">
                <a:solidFill>
                  <a:srgbClr val="000000"/>
                </a:solidFill>
              </a:rPr>
              <a:t>construct: Pre-release gates</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D</a:t>
            </a:r>
          </a:p>
          <a:p>
            <a:pPr/>
            <a:r>
              <a:rPr b="0" sz="1400">
                <a:solidFill>
                  <a:srgbClr val="000000"/>
                </a:solidFill>
              </a:rPr>
              <a:t>measurement basis: declaration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odcs-open-data-contract-standard · standard · Open Data Contract Standard (ODCS) — Definition · general support; no pinpoint</a:t>
            </a:r>
          </a:p>
          <a:p>
            <a:r>
              <a:rPr sz="800"/>
              <a:t/>
            </a:r>
          </a:p>
          <a:p>
            <a:pPr/>
            <a:r>
              <a:rPr b="0" sz="1400">
                <a:solidFill>
                  <a:srgbClr val="000000"/>
                </a:solidFill>
              </a:rPr>
              <a:t>Evidence cell, verbatim:</a:t>
            </a:r>
          </a:p>
          <a:p>
            <a:r>
              <a:rPr sz="800"/>
              <a:t/>
            </a:r>
          </a:p>
          <a:p>
            <a:pPr/>
            <a:r>
              <a:rPr b="0" sz="1400">
                <a:solidFill>
                  <a:srgbClr val="000000"/>
                </a:solidFill>
              </a:rPr>
              <a:t>odcs-open-data-contract-standard</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pre:release-validation-records · agency_records · tier · agency_records · whether each release passed its suite before going live</a:t>
            </a:r>
          </a:p>
          <a:p>
            <a:r>
              <a:rPr sz="800"/>
              <a:t/>
            </a:r>
          </a:p>
          <a:p>
            <a:pPr/>
            <a:r>
              <a:rPr b="1" sz="1400">
                <a:solidFill>
                  <a:srgbClr val="000000"/>
                </a:solidFill>
              </a:rPr>
              <a:t>Verdicts on the cycle of record (scan_2026-09-10_rj4)</a:t>
            </a:r>
          </a:p>
          <a:p>
            <a:r>
              <a:rPr sz="800"/>
              <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F1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appendix/indicator_F1.md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The suite's own publication is observable — 'a published expectation suite' is a document a scan could fetch — and that is a different, narrower indicator than this one.</a:t>
            </a:r>
          </a:p>
          <a:p>
            <a:pPr/>
            <a:r>
              <a:rPr b="0" sz="1400">
                <a:solidFill>
                  <a:srgbClr val="000000"/>
                </a:solidFill>
              </a:rPr>
              <a:t>tier_rule: cc_tasks/2026-09-17_unassigned_indicators.md decision 1</a:t>
            </a:r>
          </a:p>
          <a:p>
            <a:pPr/>
            <a:r>
              <a:rPr b="0" sz="1400">
                <a:solidFill>
                  <a:srgbClr val="000000"/>
                </a:solidFill>
              </a:rPr>
              <a:t>tier_source: the definition places the act before publication: whether a release PASSED the suite before it went live happened on the agency's side of publication and leaves nothing on the served surface; definition of ind:F1: "before going live"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F2: API/schema changes are versioned; breaking changes announced with deprecation windows; compatibility checked mechanically</a:t>
            </a:r>
          </a:p>
          <a:p>
            <a:r>
              <a:rPr sz="800"/>
              <a:t/>
            </a:r>
          </a:p>
          <a:p>
            <a:pPr/>
            <a:r>
              <a:rPr b="0" sz="1400">
                <a:solidFill>
                  <a:srgbClr val="000000"/>
                </a:solidFill>
              </a:rPr>
              <a:t>Record node ind:F2. Every value below is a field of that node or of an edge or node it reaches, printed verbatim.</a:t>
            </a:r>
          </a:p>
          <a:p>
            <a:r>
              <a:rPr sz="800"/>
              <a:t/>
            </a:r>
          </a:p>
          <a:p>
            <a:pPr/>
            <a:r>
              <a:rPr b="0" sz="1400">
                <a:solidFill>
                  <a:srgbClr val="000000"/>
                </a:solidFill>
              </a:rPr>
              <a:t>criterion: F</a:t>
            </a:r>
          </a:p>
          <a:p>
            <a:pPr/>
            <a:r>
              <a:rPr b="0" sz="1400">
                <a:solidFill>
                  <a:srgbClr val="000000"/>
                </a:solidFill>
              </a:rPr>
              <a:t>construct: Contract stability</a:t>
            </a:r>
          </a:p>
          <a:p>
            <a:pPr/>
            <a:r>
              <a:rPr b="0" sz="1400">
                <a:solidFill>
                  <a:srgbClr val="000000"/>
                </a:solidFill>
              </a:rPr>
              <a:t>type: AUTO/DOC</a:t>
            </a:r>
          </a:p>
          <a:p>
            <a:pPr/>
            <a:r>
              <a:rPr b="0" sz="1400">
                <a:solidFill>
                  <a:srgbClr val="000000"/>
                </a:solidFill>
              </a:rPr>
              <a:t>access tier (tier): public</a:t>
            </a:r>
          </a:p>
          <a:p>
            <a:pPr/>
            <a:r>
              <a:rPr b="0" sz="1400">
                <a:solidFill>
                  <a:srgbClr val="000000"/>
                </a:solidFill>
              </a:rPr>
              <a:t>measurement tier: O</a:t>
            </a:r>
          </a:p>
          <a:p>
            <a:pPr/>
            <a:r>
              <a:rPr b="0" sz="1400">
                <a:solidFill>
                  <a:srgbClr val="000000"/>
                </a:solidFill>
              </a:rPr>
              <a:t>measurement basis: open_tool</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spec:F2</a:t>
            </a:r>
          </a:p>
          <a:p>
            <a:r>
              <a:rPr sz="800"/>
              <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 none_known</a:t>
            </a:r>
          </a:p>
          <a:p>
            <a:pPr/>
            <a:r>
              <a:rPr b="0" sz="1400">
                <a:solidFill>
                  <a:srgbClr val="000000"/>
                </a:solidFill>
              </a:rPr>
              <a:t>collector_pin: n/a</a:t>
            </a:r>
          </a:p>
          <a:p>
            <a:pPr/>
            <a:r>
              <a:rPr b="0" sz="1400">
                <a:solidFill>
                  <a:srgbClr val="000000"/>
                </a:solidFill>
              </a:rPr>
              <a:t>evidence_kind: two dated schema documents + diff</a:t>
            </a:r>
          </a:p>
          <a:p>
            <a:pPr/>
            <a:r>
              <a:rPr b="0" sz="1400">
                <a:solidFill>
                  <a:srgbClr val="000000"/>
                </a:solidFill>
              </a:rPr>
              <a:t>indicator_code: F2</a:t>
            </a:r>
          </a:p>
          <a:p>
            <a:pPr/>
            <a:r>
              <a:rPr b="0" sz="1400">
                <a:solidFill>
                  <a:srgbClr val="000000"/>
                </a:solidFill>
              </a:rPr>
              <a:t>leg: F2</a:t>
            </a:r>
          </a:p>
          <a:p>
            <a:pPr/>
            <a:r>
              <a:rPr b="0" sz="1400">
                <a:solidFill>
                  <a:srgbClr val="000000"/>
                </a:solidFill>
              </a:rPr>
              <a:t>mode: auto</a:t>
            </a:r>
          </a:p>
          <a:p>
            <a:pPr/>
            <a:r>
              <a:rPr b="0" sz="1400">
                <a:solidFill>
                  <a:srgbClr val="000000"/>
                </a:solidFill>
              </a:rPr>
              <a:t>note: Needs a version history; a single-point scan cannot observe stability. Becomes collectible once the scan runs twice.</a:t>
            </a:r>
          </a:p>
          <a:p>
            <a:pPr/>
            <a:r>
              <a:rPr b="0" sz="1400">
                <a:solidFill>
                  <a:srgbClr val="000000"/>
                </a:solidFill>
              </a:rPr>
              <a:t>prior_art: odcs-open-data-contract-standard</a:t>
            </a:r>
          </a:p>
          <a:p>
            <a:pPr/>
            <a:r>
              <a:rPr b="0" sz="1400">
                <a:solidFill>
                  <a:srgbClr val="000000"/>
                </a:solidFill>
              </a:rPr>
              <a:t>rule_id: RULE-F2-v0</a:t>
            </a:r>
          </a:p>
          <a:p>
            <a:pPr/>
            <a:r>
              <a:rPr b="0" sz="1400">
                <a:solidFill>
                  <a:srgbClr val="000000"/>
                </a:solidFill>
              </a:rPr>
              <a:t>signal: Compare the API/schema description across two releases; detect breaking changes and test for a declared deprecation window.</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odcs-open-data-contract-standard · standard · Open Data Contract Standard (ODCS) — Definition · general support; no pinpoint</a:t>
            </a:r>
          </a:p>
          <a:p>
            <a:r>
              <a:rPr sz="800"/>
              <a:t/>
            </a:r>
          </a:p>
          <a:p>
            <a:pPr/>
            <a:r>
              <a:rPr b="0" sz="1400">
                <a:solidFill>
                  <a:srgbClr val="000000"/>
                </a:solidFill>
              </a:rPr>
              <a:t>Evidence cell, verbatim:</a:t>
            </a:r>
          </a:p>
          <a:p>
            <a:r>
              <a:rPr sz="800"/>
              <a:t/>
            </a:r>
          </a:p>
          <a:p>
            <a:pPr/>
            <a:r>
              <a:rPr b="0" sz="1400">
                <a:solidFill>
                  <a:srgbClr val="000000"/>
                </a:solidFill>
              </a:rPr>
              <a:t>odcs-open-data-contract-standard</a:t>
            </a:r>
          </a:p>
          <a:p>
            <a:r>
              <a:rPr sz="800"/>
              <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pre:second-scan-cycle · second_cycle · tier · oasdiff_two_releases · breaking changes between two dated OpenAPI descriptions of the product's API</a:t>
            </a:r>
          </a:p>
          <a:p>
            <a:pPr/>
            <a:r>
              <a:rPr b="0" sz="1400">
                <a:solidFill>
                  <a:srgbClr val="000000"/>
                </a:solidFill>
              </a:rPr>
              <a:t>tool:oasdiff · open_source · tier · oasdiff_two_releases · breaking changes between two dated OpenAPI descriptions of the product's API</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tier_note: No harness path runs it under this project's manners, evidence retention and re-derivation discipline, which is what keeps this O rather than M (DN-005 §2.2). Nothing was measured when the tier was assigned. It reaches all three clauses only for an API that publishes an OpenAPI description; an API that publishes none is a finding about F2, not a comparison oasdiff can make. The deprecation-window and version-bump detail is in DEPRECATION.md and VERSIONING.md, which the README links and which were not fetched. Spec spec:F2's note holds: two dated releases are needed, so a single-point scan cannot run it.</a:t>
            </a:r>
          </a:p>
          <a:p>
            <a:pPr/>
            <a:r>
              <a:rPr b="0" sz="1400">
                <a:solidFill>
                  <a:srgbClr val="000000"/>
                </a:solidFill>
              </a:rPr>
              <a:t>tier_rule: cc_tasks/2026-09-18_tool_docs_ingest.md decision 2</a:t>
            </a:r>
          </a:p>
          <a:p>
            <a:pPr/>
            <a:r>
              <a:rPr b="0" sz="1400">
                <a:solidFill>
                  <a:srgbClr val="000000"/>
                </a:solidFill>
              </a:rPr>
              <a:t>tier_source: corpus/tools/oasdiff/README.md (doc_id oasdiff-readme): "Command-line tool to compare and detect breaking changes in OpenAPI specs"; 'Compare two specs': "breaking — only the changes that break existing API clients"; 'API lifecycle': "Deprecate APIs and parameters" and "Version bumps — report a breaking change released without a major version bump"; definition of ind:F2: "compatibility checked mechanically"</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F3: Time-series identifiers, geography codes, and endpoints survive a new vintage or a crosswalk is published; tested per release</a:t>
            </a:r>
          </a:p>
          <a:p>
            <a:r>
              <a:rPr sz="800"/>
              <a:t/>
            </a:r>
          </a:p>
          <a:p>
            <a:pPr/>
            <a:r>
              <a:rPr b="0" sz="1400">
                <a:solidFill>
                  <a:srgbClr val="000000"/>
                </a:solidFill>
              </a:rPr>
              <a:t>Record node ind:F3. Every value below is a field of that node or of an edge or node it reaches, printed verbatim.</a:t>
            </a:r>
          </a:p>
          <a:p>
            <a:r>
              <a:rPr sz="800"/>
              <a:t/>
            </a:r>
          </a:p>
          <a:p>
            <a:pPr/>
            <a:r>
              <a:rPr b="0" sz="1400">
                <a:solidFill>
                  <a:srgbClr val="000000"/>
                </a:solidFill>
              </a:rPr>
              <a:t>criterion: F</a:t>
            </a:r>
          </a:p>
          <a:p>
            <a:pPr/>
            <a:r>
              <a:rPr b="0" sz="1400">
                <a:solidFill>
                  <a:srgbClr val="000000"/>
                </a:solidFill>
              </a:rPr>
              <a:t>construct: Regression on vintage transition</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O</a:t>
            </a:r>
          </a:p>
          <a:p>
            <a:pPr/>
            <a:r>
              <a:rPr b="0" sz="1400">
                <a:solidFill>
                  <a:srgbClr val="000000"/>
                </a:solidFill>
              </a:rPr>
              <a:t>measurement basis: open_tool</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spec:F3</a:t>
            </a:r>
          </a:p>
          <a:p>
            <a:r>
              <a:rPr sz="800"/>
              <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 none_known</a:t>
            </a:r>
          </a:p>
          <a:p>
            <a:pPr/>
            <a:r>
              <a:rPr b="0" sz="1400">
                <a:solidFill>
                  <a:srgbClr val="000000"/>
                </a:solidFill>
              </a:rPr>
              <a:t>collector_pin: n/a</a:t>
            </a:r>
          </a:p>
          <a:p>
            <a:pPr/>
            <a:r>
              <a:rPr b="0" sz="1400">
                <a:solidFill>
                  <a:srgbClr val="000000"/>
                </a:solidFill>
              </a:rPr>
              <a:t>evidence_kind: two vintages + identifier join</a:t>
            </a:r>
          </a:p>
          <a:p>
            <a:pPr/>
            <a:r>
              <a:rPr b="0" sz="1400">
                <a:solidFill>
                  <a:srgbClr val="000000"/>
                </a:solidFill>
              </a:rPr>
              <a:t>indicator_code: F3</a:t>
            </a:r>
          </a:p>
          <a:p>
            <a:pPr/>
            <a:r>
              <a:rPr b="0" sz="1400">
                <a:solidFill>
                  <a:srgbClr val="000000"/>
                </a:solidFill>
              </a:rPr>
              <a:t>leg: F3</a:t>
            </a:r>
          </a:p>
          <a:p>
            <a:pPr/>
            <a:r>
              <a:rPr b="0" sz="1400">
                <a:solidFill>
                  <a:srgbClr val="000000"/>
                </a:solidFill>
              </a:rPr>
              <a:t>mode: auto</a:t>
            </a:r>
          </a:p>
          <a:p>
            <a:pPr/>
            <a:r>
              <a:rPr b="0" sz="1400">
                <a:solidFill>
                  <a:srgbClr val="000000"/>
                </a:solidFill>
              </a:rPr>
              <a:t>note: Same shape as F2: requires two vintages.</a:t>
            </a:r>
          </a:p>
          <a:p>
            <a:pPr/>
            <a:r>
              <a:rPr b="0" sz="1400">
                <a:solidFill>
                  <a:srgbClr val="000000"/>
                </a:solidFill>
              </a:rPr>
              <a:t>prior_art: </a:t>
            </a:r>
            <a:r>
              <a:rPr b="1" sz="1400">
                <a:solidFill>
                  <a:srgbClr val="000000"/>
                </a:solidFill>
              </a:rPr>
              <a:t>gap</a:t>
            </a:r>
            <a:r>
              <a:rPr b="0" sz="1400">
                <a:solidFill>
                  <a:srgbClr val="000000"/>
                </a:solidFill>
              </a:rPr>
              <a:t> — no admitted source</a:t>
            </a:r>
          </a:p>
          <a:p>
            <a:pPr/>
            <a:r>
              <a:rPr b="0" sz="1400">
                <a:solidFill>
                  <a:srgbClr val="000000"/>
                </a:solidFill>
              </a:rPr>
              <a:t>rule_id: RULE-F3-v0</a:t>
            </a:r>
          </a:p>
          <a:p>
            <a:pPr/>
            <a:r>
              <a:rPr b="0" sz="1400">
                <a:solidFill>
                  <a:srgbClr val="000000"/>
                </a:solidFill>
              </a:rPr>
              <a:t>signal: Across a vintage transition, test whether series identifiers, geography codes and endpoints survive, or a crosswalk is published.</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appendix/indicator_F3.md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tool:wayback-cdx-server · hosted_free · tier · wayback_cdx · the endpoints captured under a product path in the prior vintage, joined to the current vintage's</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No harness path runs it under this project's manners, evidence retention and re-derivation discipline, which is what keeps this O rather than M (DN-005 §2.2). Nothing was measured when the tier was assigned. The index reaches the endpoints clause. Series identifiers and geography codes live in response bodies, which the index locates (timestamp, original URL, digest) and does not carry, so a rule built on this document alone would record those two clauses as unmeasured; the published-crosswalk alternative is a separate observation of the current surface. Spec spec:F3's note holds: two vintages are needed.</a:t>
            </a:r>
          </a:p>
          <a:p>
            <a:pPr/>
            <a:r>
              <a:rPr b="0" sz="1400">
                <a:solidFill>
                  <a:srgbClr val="000000"/>
                </a:solidFill>
              </a:rPr>
              <a:t>tier_rule: cc_tasks/2026-09-18_tool_docs_ingest.md decision 2</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tier_source: corpus/tools/wayback-cdx-server/README.md (doc_id wayback-cdx-server-api-readme), 'Url Match Scope': "</a:t>
            </a:r>
            <a:r>
              <a:rPr b="1" sz="1400">
                <a:solidFill>
                  <a:srgbClr val="000000"/>
                </a:solidFill>
              </a:rPr>
              <a:t>matchType=prefix</a:t>
            </a:r>
            <a:r>
              <a:rPr b="0" sz="1400">
                <a:solidFill>
                  <a:srgbClr val="000000"/>
                </a:solidFill>
              </a:rPr>
              <a:t> will return results for all results under the path", with the 'Filtering' section's </a:t>
            </a:r>
            <a:r>
              <a:rPr b="1" sz="1400">
                <a:solidFill>
                  <a:srgbClr val="000000"/>
                </a:solidFill>
              </a:rPr>
              <a:t>from=</a:t>
            </a:r>
            <a:r>
              <a:rPr b="0" sz="1400">
                <a:solidFill>
                  <a:srgbClr val="000000"/>
                </a:solidFill>
              </a:rPr>
              <a:t> / </a:t>
            </a:r>
            <a:r>
              <a:rPr b="1" sz="1400">
                <a:solidFill>
                  <a:srgbClr val="000000"/>
                </a:solidFill>
              </a:rPr>
              <a:t>to=</a:t>
            </a:r>
            <a:r>
              <a:rPr b="0" sz="1400">
                <a:solidFill>
                  <a:srgbClr val="000000"/>
                </a:solidFill>
              </a:rPr>
              <a:t> date range and the 'Collapsing' section's "Only show unique urls in a prefix query" (collapse=urlkey&amp;matchType=prefix) — the set of endpoints captured under a product's path in the prior vintage's date range, to join against the current vintage's; definition of ind:F3: "endpoints survive a new vintage"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F4: Machine-readable changelog per release (what changed, why, revision class); webhooks/push for high-frequency products</a:t>
            </a:r>
          </a:p>
          <a:p>
            <a:r>
              <a:rPr sz="800"/>
              <a:t/>
            </a:r>
          </a:p>
          <a:p>
            <a:pPr/>
            <a:r>
              <a:rPr b="0" sz="1400">
                <a:solidFill>
                  <a:srgbClr val="000000"/>
                </a:solidFill>
              </a:rPr>
              <a:t>Record node ind:F4. Every value below is a field of that node or of an edge or node it reaches, printed verbatim.</a:t>
            </a:r>
          </a:p>
          <a:p>
            <a:r>
              <a:rPr sz="800"/>
              <a:t/>
            </a:r>
          </a:p>
          <a:p>
            <a:pPr/>
            <a:r>
              <a:rPr b="0" sz="1400">
                <a:solidFill>
                  <a:srgbClr val="000000"/>
                </a:solidFill>
              </a:rPr>
              <a:t>criterion: F</a:t>
            </a:r>
          </a:p>
          <a:p>
            <a:pPr/>
            <a:r>
              <a:rPr b="0" sz="1400">
                <a:solidFill>
                  <a:srgbClr val="000000"/>
                </a:solidFill>
              </a:rPr>
              <a:t>construct: Change legibility</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F4: RULE-F4-v3</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spec:F4</a:t>
            </a:r>
          </a:p>
          <a:p>
            <a:r>
              <a:rPr sz="800"/>
              <a:t/>
            </a:r>
          </a:p>
          <a:p>
            <a:pPr/>
            <a:r>
              <a:rPr b="0" sz="1400">
                <a:solidFill>
                  <a:srgbClr val="000000"/>
                </a:solidFill>
              </a:rPr>
              <a:t>collector: httpx</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collector_pin: httpx&gt;=0.27</a:t>
            </a:r>
          </a:p>
          <a:p>
            <a:pPr/>
            <a:r>
              <a:rPr b="0" sz="1400">
                <a:solidFill>
                  <a:srgbClr val="000000"/>
                </a:solidFill>
              </a:rPr>
              <a:t>evidence_kind: changelog document + parse verdict</a:t>
            </a:r>
          </a:p>
          <a:p>
            <a:pPr/>
            <a:r>
              <a:rPr b="0" sz="1400">
                <a:solidFill>
                  <a:srgbClr val="000000"/>
                </a:solidFill>
              </a:rPr>
              <a:t>indicator_code: F4</a:t>
            </a:r>
          </a:p>
          <a:p>
            <a:pPr/>
            <a:r>
              <a:rPr b="0" sz="1400">
                <a:solidFill>
                  <a:srgbClr val="000000"/>
                </a:solidFill>
              </a:rPr>
              <a:t>leg: F4</a:t>
            </a:r>
          </a:p>
          <a:p>
            <a:pPr/>
            <a:r>
              <a:rPr b="0" sz="1400">
                <a:solidFill>
                  <a:srgbClr val="000000"/>
                </a:solidFill>
              </a:rPr>
              <a:t>mode: auto</a:t>
            </a:r>
          </a:p>
          <a:p>
            <a:pPr/>
            <a:r>
              <a:rPr b="0" sz="1400">
                <a:solidFill>
                  <a:srgbClr val="000000"/>
                </a:solidFill>
              </a:rPr>
              <a:t>prior_art: usafacts-ai-ready-data-guide</a:t>
            </a:r>
          </a:p>
          <a:p>
            <a:pPr/>
            <a:r>
              <a:rPr b="0" sz="1400">
                <a:solidFill>
                  <a:srgbClr val="000000"/>
                </a:solidFill>
              </a:rPr>
              <a:t>rule_id: RULE-F4-v3</a:t>
            </a:r>
          </a:p>
          <a:p>
            <a:pPr/>
            <a:r>
              <a:rPr b="0" sz="1400">
                <a:solidFill>
                  <a:srgbClr val="000000"/>
                </a:solidFill>
              </a:rPr>
              <a:t>signal: Fetch any changelog or release-notes endpoint; test whether it is machine-readable and carries a revision class per entry.</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usafacts-ai-ready-data-guide · practitioner · AI-Ready Data: Ensuring Public Data Meets the Needs of AI and the American Public — The USAFacts Guide to AI-Ready Data for Government Agencies · general support; no pinpoint</a:t>
            </a:r>
          </a:p>
          <a:p>
            <a:r>
              <a:rPr sz="800"/>
              <a:t/>
            </a:r>
          </a:p>
          <a:p>
            <a:pPr/>
            <a:r>
              <a:rPr b="0" sz="1400">
                <a:solidFill>
                  <a:srgbClr val="000000"/>
                </a:solidFill>
              </a:rPr>
              <a:t>Evidence cell, verbatim:</a:t>
            </a:r>
          </a:p>
          <a:p>
            <a:r>
              <a:rPr sz="800"/>
              <a:t/>
            </a:r>
          </a:p>
          <a:p>
            <a:pPr/>
            <a:r>
              <a:rPr b="0" sz="1400">
                <a:solidFill>
                  <a:srgbClr val="000000"/>
                </a:solidFill>
              </a:rPr>
              <a:t>usafacts-ai-ready-data-guide</a:t>
            </a:r>
          </a:p>
          <a:p>
            <a:r>
              <a:rPr sz="800"/>
              <a:t/>
            </a:r>
          </a:p>
          <a:p>
            <a:pPr/>
            <a:r>
              <a:rPr b="1" sz="1400">
                <a:solidFill>
                  <a:srgbClr val="000000"/>
                </a:solidFill>
              </a:rPr>
              <a:t>Actions (prescriptions)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appendix/indicator_F4.md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action · title · outcome · rule · effort · cost</a:t>
            </a:r>
          </a:p>
          <a:p>
            <a:pPr/>
            <a:r>
              <a:rPr b="0" sz="1400">
                <a:solidFill>
                  <a:srgbClr val="000000"/>
                </a:solidFill>
              </a:rPr>
              <a:t>act:f4-carry-a-revision-class-on-every-changelog-entry · Carry a revision class on every changelog entry · changelog_entries_lack_revision_class · RULE-F4-v3 · hours · none</a:t>
            </a:r>
          </a:p>
          <a:p>
            <a:pPr/>
            <a:r>
              <a:rPr b="0" sz="1400">
                <a:solidFill>
                  <a:srgbClr val="000000"/>
                </a:solidFill>
              </a:rPr>
              <a:t>act:f4-publish-a-version-history-endpoint · Publish a version history for the product · no_changelog · RULE-F4-v3 · days · staff_time</a:t>
            </a:r>
          </a:p>
          <a:p>
            <a:pPr/>
            <a:r>
              <a:rPr b="0" sz="1400">
                <a:solidFill>
                  <a:srgbClr val="000000"/>
                </a:solidFill>
              </a:rPr>
              <a:t>act:f4-serve-the-changelog-in-a-machine-readable-format · Serve the changelog in a machine-readable format as well as a page · changelog_not_machine_readable · RULE-F4-v3 · days · staff_time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F4 · product · 0 · 20 · 0 · 3 · 23</a:t>
            </a:r>
          </a:p>
          <a:p>
            <a:r>
              <a:rPr sz="800"/>
              <a:t/>
            </a:r>
          </a:p>
          <a:p>
            <a:pPr/>
            <a:r>
              <a:rPr b="1" sz="1400">
                <a:solidFill>
                  <a:srgbClr val="000000"/>
                </a:solidFill>
              </a:rPr>
              <a:t>Other record fields</a:t>
            </a:r>
          </a:p>
          <a:p>
            <a:r>
              <a:rPr sz="800"/>
              <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measured_by: {"counts": {"error": 3, "fail": 23, "not_applicable": 0, "pass": 0}, "cycle": "scan_2026-09-07", "definition": "at least one pass/fail/not_applicable Finding on an admitted, observable surface in a cycle with fired controls; error does not count", "legs": ["F4"], "params_hash": "4a1350802619fe8ff65c0fc38cce128298278d0d2787b24cd6cfa3a17eb656f4", "qualifying_findings": 23, "recorded_by": "cc_tasks/2026-09-07_scan_run.md"}</a:t>
            </a:r>
          </a:p>
          <a:p>
            <a:pPr/>
            <a:r>
              <a:rPr b="0" sz="1400">
                <a:solidFill>
                  <a:srgbClr val="000000"/>
                </a:solidFill>
              </a:rPr>
              <a:t>tier_rule: cc_tasks/2026-09-17_measurement_tiers.md decision 2 rule 1</a:t>
            </a:r>
          </a:p>
          <a:p>
            <a:pPr/>
            <a:r>
              <a:rPr b="0" sz="1400">
                <a:solidFill>
                  <a:srgbClr val="000000"/>
                </a:solidFill>
              </a:rPr>
              <a:t>tier_source: rules.CURRENT['F4'] = RULE-F4-v3 (assessment/harness/scan/rules/__init__.py); measurement spec spec:F4</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F5: Canary/staging surface for major product changes; AI-consumer regression run before promotion</a:t>
            </a:r>
          </a:p>
          <a:p>
            <a:r>
              <a:rPr sz="800"/>
              <a:t/>
            </a:r>
          </a:p>
          <a:p>
            <a:pPr/>
            <a:r>
              <a:rPr b="0" sz="1400">
                <a:solidFill>
                  <a:srgbClr val="000000"/>
                </a:solidFill>
              </a:rPr>
              <a:t>Record node ind:F5. Every value below is a field of that node or of an edge or node it reaches, printed verbatim.</a:t>
            </a:r>
          </a:p>
          <a:p>
            <a:r>
              <a:rPr sz="800"/>
              <a:t/>
            </a:r>
          </a:p>
          <a:p>
            <a:pPr/>
            <a:r>
              <a:rPr b="0" sz="1400">
                <a:solidFill>
                  <a:srgbClr val="000000"/>
                </a:solidFill>
              </a:rPr>
              <a:t>criterion: F</a:t>
            </a:r>
          </a:p>
          <a:p>
            <a:pPr/>
            <a:r>
              <a:rPr b="0" sz="1400">
                <a:solidFill>
                  <a:srgbClr val="000000"/>
                </a:solidFill>
              </a:rPr>
              <a:t>construct: Staged rollout</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D</a:t>
            </a:r>
          </a:p>
          <a:p>
            <a:pPr/>
            <a:r>
              <a:rPr b="0" sz="1400">
                <a:solidFill>
                  <a:srgbClr val="000000"/>
                </a:solidFill>
              </a:rPr>
              <a:t>measurement basis: declaration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a:p>
            <a:pPr/>
            <a:r>
              <a:rPr b="1" sz="1400">
                <a:solidFill>
                  <a:srgbClr val="000000"/>
                </a:solidFill>
              </a:rPr>
              <a:t>Evidence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appendix/indicator_F5.md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pre:staging-regression-records · agency_records · tier · agency_records · whether the regression ran before promotion</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appendix/indicator_F5.md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tier_note: A canary or staging host may itself be fetchable where it is public; the act the definition names is the run before promotion, which is not.</a:t>
            </a:r>
          </a:p>
          <a:p>
            <a:pPr/>
            <a:r>
              <a:rPr b="0" sz="1400">
                <a:solidFill>
                  <a:srgbClr val="000000"/>
                </a:solidFill>
              </a:rPr>
              <a:t>tier_rule: cc_tasks/2026-09-17_unassigned_indicators.md decision 1</a:t>
            </a:r>
          </a:p>
          <a:p>
            <a:pPr/>
            <a:r>
              <a:rPr b="0" sz="1400">
                <a:solidFill>
                  <a:srgbClr val="000000"/>
                </a:solidFill>
              </a:rPr>
              <a:t>tier_source: the definition places the act before publication: the regression runs against the staging surface before promotion, and only the agency can say that it ran; definition of ind:F5: "AI-consumer regression run before promotion"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F6</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F6: Signed releases / provenance attestations so downstream copies are traceable to the authoritative artifact (SLSA-class, adapted)</a:t>
            </a:r>
          </a:p>
          <a:p>
            <a:r>
              <a:rPr sz="800"/>
              <a:t/>
            </a:r>
          </a:p>
          <a:p>
            <a:pPr/>
            <a:r>
              <a:rPr b="0" sz="1400">
                <a:solidFill>
                  <a:srgbClr val="000000"/>
                </a:solidFill>
              </a:rPr>
              <a:t>Record node ind:F6. Every value below is a field of that node or of an edge or node it reaches, printed verbatim.</a:t>
            </a:r>
          </a:p>
          <a:p>
            <a:r>
              <a:rPr sz="800"/>
              <a:t/>
            </a:r>
          </a:p>
          <a:p>
            <a:pPr/>
            <a:r>
              <a:rPr b="0" sz="1400">
                <a:solidFill>
                  <a:srgbClr val="000000"/>
                </a:solidFill>
              </a:rPr>
              <a:t>criterion: F</a:t>
            </a:r>
          </a:p>
          <a:p>
            <a:pPr/>
            <a:r>
              <a:rPr b="0" sz="1400">
                <a:solidFill>
                  <a:srgbClr val="000000"/>
                </a:solidFill>
              </a:rPr>
              <a:t>construct: Release authenticity</a:t>
            </a:r>
          </a:p>
          <a:p>
            <a:pPr/>
            <a:r>
              <a:rPr b="0" sz="1400">
                <a:solidFill>
                  <a:srgbClr val="000000"/>
                </a:solidFill>
              </a:rPr>
              <a:t>type: AUTO</a:t>
            </a:r>
          </a:p>
          <a:p>
            <a:pPr/>
            <a:r>
              <a:rPr b="0" sz="1400">
                <a:solidFill>
                  <a:srgbClr val="000000"/>
                </a:solidFill>
              </a:rPr>
              <a:t>access tier (tier): paid</a:t>
            </a:r>
          </a:p>
          <a:p>
            <a:pPr/>
            <a:r>
              <a:rPr b="0" sz="1400">
                <a:solidFill>
                  <a:srgbClr val="000000"/>
                </a:solidFill>
              </a:rPr>
              <a:t>measurement tier: O</a:t>
            </a:r>
          </a:p>
          <a:p>
            <a:pPr/>
            <a:r>
              <a:rPr b="0" sz="1400">
                <a:solidFill>
                  <a:srgbClr val="000000"/>
                </a:solidFill>
              </a:rPr>
              <a:t>measurement basis: open_tool</a:t>
            </a:r>
          </a:p>
          <a:p>
            <a:pPr/>
            <a:r>
              <a:rPr b="0" sz="1400">
                <a:solidFill>
                  <a:srgbClr val="000000"/>
                </a:solidFill>
              </a:rPr>
              <a:t>measurement status: specified</a:t>
            </a:r>
          </a:p>
          <a:p>
            <a:pPr/>
            <a:r>
              <a:rPr b="0" sz="1400">
                <a:solidFill>
                  <a:srgbClr val="000000"/>
                </a:solidFill>
              </a:rPr>
              <a:t>status: paid-tier candidate</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slsa-specification-v1-0 · standard · SLSA Specification v1.0 (Supply-chain Levels for Software Artifacts) · general support; no pinpoint</a:t>
            </a:r>
          </a:p>
          <a:p>
            <a:r>
              <a:rPr sz="800"/>
              <a:t/>
            </a:r>
          </a:p>
          <a:p>
            <a:pPr/>
            <a:r>
              <a:rPr b="0" sz="1400">
                <a:solidFill>
                  <a:srgbClr val="000000"/>
                </a:solidFill>
              </a:rPr>
              <a:t>Evidence cell, verbatim:</a:t>
            </a:r>
          </a:p>
          <a:p>
            <a:r>
              <a:rPr sz="800"/>
              <a:t/>
            </a:r>
          </a:p>
          <a:p>
            <a:pPr/>
            <a:r>
              <a:rPr b="0" sz="1400">
                <a:solidFill>
                  <a:srgbClr val="000000"/>
                </a:solidFill>
              </a:rPr>
              <a:t>slsa-specification-v1-0</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tool:slsa-verifier · open_source · tier · slsa_verifier · a published provenance attestation verified against the released artifact</a:t>
            </a:r>
          </a:p>
          <a:p>
            <a:r>
              <a:rPr sz="800"/>
              <a:t/>
            </a:r>
          </a:p>
          <a:p>
            <a:pPr/>
            <a:r>
              <a:rPr b="1" sz="1400">
                <a:solidFill>
                  <a:srgbClr val="000000"/>
                </a:solidFill>
              </a:rPr>
              <a:t>Verdicts on the cycle of record (scan_2026-09-10_rj4)</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F6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appendix/indicator_F6.md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Verifying a published attestation against the artifact is the open-tool act. The skeleton's tier: paid is the PUBLISHER's cost of signing, a different axis. Rule 3 is read with decision 1's source list, which names 'a tool's documentation on disk'; the tool map §3 and the open-tool record name no tool for F6.</a:t>
            </a:r>
          </a:p>
          <a:p>
            <a:pPr/>
            <a:r>
              <a:rPr b="0" sz="1400">
                <a:solidFill>
                  <a:srgbClr val="000000"/>
                </a:solidFill>
              </a:rPr>
              <a:t>tier_rule: cc_tasks/2026-09-17_measurement_tiers.md decision 2 rule 3</a:t>
            </a:r>
          </a:p>
          <a:p>
            <a:pPr/>
            <a:r>
              <a:rPr b="0" sz="1400">
                <a:solidFill>
                  <a:srgbClr val="000000"/>
                </a:solidFill>
              </a:rPr>
              <a:t>tier_source: corpus/crosswalk/slsa-specification-v1-0.md (doc_id slsa-specification-v1-0), page 'Distributing provenance': "SLSA requires the distribution and verification of provenance metadata in the form of SLSA attestations"; FAQ 'How does SLSA relate to in-toto?': the specification recommends in-toto attestations (https://github.com/in-toto/attestation) as the vehicle to express provenance; definition of ind:F6: "Signed releases / provenance attestations"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G1-D: </a:t>
            </a:r>
            <a:r>
              <a:rPr b="0" sz="1400">
                <a:solidFill>
                  <a:srgbClr val="000000"/>
                </a:solidFill>
              </a:rPr>
              <a:t>G1-D (declared)</a:t>
            </a:r>
            <a:r>
              <a:rPr b="1" sz="1400">
                <a:solidFill>
                  <a:srgbClr val="000000"/>
                </a:solidFill>
              </a:rPr>
              <a:t> — error measures (MOEs, CVs, DP noise parameters) present as structured fields beside the estimates on the product surface, not as footnotes (assessment/harness/probes/g1_declared.py); unchanged.</a:t>
            </a:r>
          </a:p>
          <a:p>
            <a:r>
              <a:rPr sz="800"/>
              <a:t/>
            </a:r>
          </a:p>
          <a:p>
            <a:pPr/>
            <a:r>
              <a:rPr b="0" sz="1400">
                <a:solidFill>
                  <a:srgbClr val="000000"/>
                </a:solidFill>
              </a:rPr>
              <a:t>Record node ind:G1-D. Every value below is a field of that node or of an edge or node it reaches, printed verbatim.</a:t>
            </a:r>
          </a:p>
          <a:p>
            <a:r>
              <a:rPr sz="800"/>
              <a:t/>
            </a:r>
          </a:p>
          <a:p>
            <a:pPr/>
            <a:r>
              <a:rPr b="0" sz="1400">
                <a:solidFill>
                  <a:srgbClr val="000000"/>
                </a:solidFill>
              </a:rPr>
              <a:t>criterion: G</a:t>
            </a:r>
          </a:p>
          <a:p>
            <a:pPr/>
            <a:r>
              <a:rPr b="0" sz="1400">
                <a:solidFill>
                  <a:srgbClr val="000000"/>
                </a:solidFill>
              </a:rPr>
              <a:t>construct: Uncertainty legibility (two legs, scored as a vector)</a:t>
            </a:r>
          </a:p>
          <a:p>
            <a:pPr/>
            <a:r>
              <a:rPr b="0" sz="1400">
                <a:solidFill>
                  <a:srgbClr val="000000"/>
                </a:solidFill>
              </a:rPr>
              <a:t>type: AUTO</a:t>
            </a:r>
          </a:p>
          <a:p>
            <a:pPr/>
            <a:r>
              <a:rPr b="0" sz="1400">
                <a:solidFill>
                  <a:srgbClr val="000000"/>
                </a:solidFill>
              </a:rPr>
              <a:t>access tier (tier): public</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measured</a:t>
            </a:r>
          </a:p>
          <a:p>
            <a:pPr/>
            <a:r>
              <a:rPr b="0" sz="1400">
                <a:solidFill>
                  <a:srgbClr val="000000"/>
                </a:solidFill>
              </a:rPr>
              <a:t>status: v2 harness, frozen for the pilot (DD-036)</a:t>
            </a:r>
          </a:p>
          <a:p>
            <a:pPr/>
            <a:r>
              <a:rPr b="0" sz="1400">
                <a:solidFill>
                  <a:srgbClr val="000000"/>
                </a:solidFill>
              </a:rPr>
              <a:t>candidate (DD-054): no</a:t>
            </a:r>
          </a:p>
          <a:p>
            <a:pPr/>
            <a:r>
              <a:rPr b="0" sz="1400">
                <a:solidFill>
                  <a:srgbClr val="000000"/>
                </a:solidFill>
              </a:rPr>
              <a:t>current rule: G1-D: RULE-G1-D-v1</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spec:G1-D</a:t>
            </a:r>
          </a:p>
          <a:p>
            <a:r>
              <a:rPr sz="800"/>
              <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 g1_declared</a:t>
            </a:r>
          </a:p>
          <a:p>
            <a:pPr/>
            <a:r>
              <a:rPr b="0" sz="1400">
                <a:solidFill>
                  <a:srgbClr val="000000"/>
                </a:solidFill>
              </a:rPr>
              <a:t>collector_pin: assessment/harness/probes/g1_declared.py (frozen, DD-036)</a:t>
            </a:r>
          </a:p>
          <a:p>
            <a:pPr/>
            <a:r>
              <a:rPr b="0" sz="1400">
                <a:solidFill>
                  <a:srgbClr val="000000"/>
                </a:solidFill>
              </a:rPr>
              <a:t>evidence_kind: captured surface file + per-cell verdict</a:t>
            </a:r>
          </a:p>
          <a:p>
            <a:pPr/>
            <a:r>
              <a:rPr b="0" sz="1400">
                <a:solidFill>
                  <a:srgbClr val="000000"/>
                </a:solidFill>
              </a:rPr>
              <a:t>indicator_code: G1-D</a:t>
            </a:r>
          </a:p>
          <a:p>
            <a:pPr/>
            <a:r>
              <a:rPr b="0" sz="1400">
                <a:solidFill>
                  <a:srgbClr val="000000"/>
                </a:solidFill>
              </a:rPr>
              <a:t>leg: G1-D</a:t>
            </a:r>
          </a:p>
          <a:p>
            <a:pPr/>
            <a:r>
              <a:rPr b="0" sz="1400">
                <a:solidFill>
                  <a:srgbClr val="000000"/>
                </a:solidFill>
              </a:rPr>
              <a:t>mode: auto</a:t>
            </a:r>
          </a:p>
          <a:p>
            <a:pPr/>
            <a:r>
              <a:rPr b="0" sz="1400">
                <a:solidFill>
                  <a:srgbClr val="000000"/>
                </a:solidFill>
              </a:rPr>
              <a:t>note: Already built and run — measurement_status: measured.</a:t>
            </a:r>
          </a:p>
          <a:p>
            <a:pPr/>
            <a:r>
              <a:rPr b="0" sz="1400">
                <a:solidFill>
                  <a:srgbClr val="000000"/>
                </a:solidFill>
              </a:rPr>
              <a:t>prior_art: DD-033; DD-036 (instrument frozen at v2)</a:t>
            </a:r>
          </a:p>
          <a:p>
            <a:pPr/>
            <a:r>
              <a:rPr b="0" sz="1400">
                <a:solidFill>
                  <a:srgbClr val="000000"/>
                </a:solidFill>
              </a:rPr>
              <a:t>rule_id: RULE-G1-D-v1</a:t>
            </a:r>
          </a:p>
          <a:p>
            <a:pPr/>
            <a:r>
              <a:rPr b="0" sz="1400">
                <a:solidFill>
                  <a:srgbClr val="000000"/>
                </a:solidFill>
              </a:rPr>
              <a:t>signal: On the captured product surface, test whether error measures (MOE, CV, SE, CI, DP noise parameters) are present as STRUCTURED FIELDS beside the estimates rather than as footnotes.</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bls-employment-situation-2026-05-news-release-archive · federal · BLS news release archive: The Employment Situation — May 2026 (released June 2026; Technical Note on reliability of the estimates) · general support; no pinpoint</a:t>
            </a:r>
          </a:p>
          <a:p>
            <a:pPr/>
            <a:r>
              <a:rPr b="0" sz="1400">
                <a:solidFill>
                  <a:srgbClr val="000000"/>
                </a:solidFill>
              </a:rPr>
              <a:t>bls-employment-situation-2026-08-news-release · federal · BLS news release: The Employment Situation — July 2026 (released August 2026; Technical Note on reliability of the estimates) · general support; no pinpoint</a:t>
            </a:r>
          </a:p>
          <a:p>
            <a:pPr/>
            <a:r>
              <a:rPr b="0" sz="1400">
                <a:solidFill>
                  <a:srgbClr val="000000"/>
                </a:solidFill>
              </a:rPr>
              <a:t>cao-2024-multimodal-long-form-summarization-financial-reports · academic · Characterizing Multimodal Long-form Summarization: A Case Study on Financial Reports · general support; no pinpoint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census-2020-disclosure-avoidance-handbook-2021 · federal · Disclosure Avoidance for the 2020 Census: An Introduction · general support; no pinpoint</a:t>
            </a:r>
          </a:p>
          <a:p>
            <a:pPr/>
            <a:r>
              <a:rPr b="0" sz="1400">
                <a:solidFill>
                  <a:srgbClr val="000000"/>
                </a:solidFill>
              </a:rPr>
              <a:t>census-acs-data-suppression-rules · federal · American Community Survey — Data Suppression (data release rules) · general support; no pinpoint</a:t>
            </a:r>
          </a:p>
          <a:p>
            <a:pPr/>
            <a:r>
              <a:rPr b="0" sz="1400">
                <a:solidFill>
                  <a:srgbClr val="000000"/>
                </a:solidFill>
              </a:rPr>
              <a:t>census-acs-general-handbook-2020 · federal · Understanding and Using American Community Survey Data: What All Data Users Need to Know · general support; no pinpoint</a:t>
            </a:r>
          </a:p>
          <a:p>
            <a:pPr/>
            <a:r>
              <a:rPr b="0" sz="1400">
                <a:solidFill>
                  <a:srgbClr val="000000"/>
                </a:solidFill>
              </a:rPr>
              <a:t>census-api-acs5-2023-b19013-counties-colorado · federal · Census Data API: ACS 5-Year 2023, B19013_001E / B19013_001M (median household income) for all counties in Colorado · general support; no pinpoint</a:t>
            </a:r>
          </a:p>
          <a:p>
            <a:pPr/>
            <a:r>
              <a:rPr b="0" sz="1400">
                <a:solidFill>
                  <a:srgbClr val="000000"/>
                </a:solidFill>
              </a:rPr>
              <a:t>census-api-acs5-2023-b19013-counties-idaho · federal · Census Data API: ACS 5-Year 2023, B19013_001E / B19013_001M (median household income) for all counties in Idaho · general support; no pinpoint</a:t>
            </a:r>
          </a:p>
          <a:p>
            <a:pPr/>
            <a:r>
              <a:rPr b="0" sz="1400">
                <a:solidFill>
                  <a:srgbClr val="000000"/>
                </a:solidFill>
              </a:rPr>
              <a:t>census-api-dec2020-dhc-p1-counties-colorado · federal · Census Data API: 2020 Census Demographic and Housing Characteristics, P1_001N (total population) for all counties in Colorado · general support; no pinpoint</a:t>
            </a:r>
          </a:p>
          <a:p>
            <a:pPr/>
            <a:r>
              <a:rPr b="0" sz="1400">
                <a:solidFill>
                  <a:srgbClr val="000000"/>
                </a:solidFill>
              </a:rPr>
              <a:t>census-quickfacts-denver-county-colorado · federal · Census QuickFacts: Denver County, Colorado · general support; no pinpoint</a:t>
            </a:r>
          </a:p>
          <a:p>
            <a:pPr/>
            <a:r>
              <a:rPr b="0" sz="1400">
                <a:solidFill>
                  <a:srgbClr val="000000"/>
                </a:solidFill>
              </a:rPr>
              <a:t>census-quickfacts-denver-county-colorado-csv · federal · Census QuickFacts CSV export: Denver County, Colorado (PST045224) · general support; no pinpoint</a:t>
            </a:r>
          </a:p>
          <a:p>
            <a:pPr/>
            <a:r>
              <a:rPr b="0" sz="1400">
                <a:solidFill>
                  <a:srgbClr val="000000"/>
                </a:solidFill>
              </a:rPr>
              <a:t>du-2026-possible-or-definite · academic · Possible or Definite? A Benchmark for Evaluating Diagnostic Uncertainty Preservation in Clinical Text · general support; no pinpoint</a:t>
            </a:r>
          </a:p>
          <a:p>
            <a:pPr/>
            <a:r>
              <a:rPr b="0" sz="1400">
                <a:solidFill>
                  <a:srgbClr val="000000"/>
                </a:solidFill>
              </a:rPr>
              <a:t>ebu-bbc-2025-news-integrity-ai-assistants · practitioner · News Integrity in AI Assistants: An international PSM study · general support; no pinpoint</a:t>
            </a:r>
          </a:p>
          <a:p>
            <a:pPr/>
            <a:r>
              <a:rPr b="0" sz="1400">
                <a:solidFill>
                  <a:srgbClr val="000000"/>
                </a:solidFill>
              </a:rPr>
              <a:t>fcsm-23-02-a-framework-for-data-quality-case-studies · federal · FCSM 23-02: A Framework for Data Quality: Case Studies · general support; no pinpoint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lee-2026-when-summaries-distort-decisions · academic · When Summaries Distort Decisions: Information Fidelity in LLM-Compressed Financial Analysis · general support; no pinpoint</a:t>
            </a:r>
          </a:p>
          <a:p>
            <a:pPr/>
            <a:r>
              <a:rPr b="0" sz="1400">
                <a:solidFill>
                  <a:srgbClr val="000000"/>
                </a:solidFill>
              </a:rPr>
              <a:t>manski-2015-communicating-uncertainty-official-economic-statistics · academic · Communicating Uncertainty in Official Economic Statistics: An Appraisal Fifty Years after Morgenstern · general support; no pinpoint</a:t>
            </a:r>
          </a:p>
          <a:p>
            <a:pPr/>
            <a:r>
              <a:rPr b="0" sz="1400">
                <a:solidFill>
                  <a:srgbClr val="000000"/>
                </a:solidFill>
              </a:rPr>
              <a:t>mazzi-2021-measuring-communicating-uncertainty-official-economic-statistics · academic · Measuring and Communicating the Uncertainty in Official Economic Statistics · general support; no pinpoint</a:t>
            </a:r>
          </a:p>
          <a:p>
            <a:pPr/>
            <a:r>
              <a:rPr b="0" sz="1400">
                <a:solidFill>
                  <a:srgbClr val="000000"/>
                </a:solidFill>
              </a:rPr>
              <a:t>min-2023-factscore · academic · FActScore: Fine-grained Atomic Evaluation of Factual Precision in Long Form Text Generation · general support; no pinpoint</a:t>
            </a:r>
          </a:p>
          <a:p>
            <a:pPr/>
            <a:r>
              <a:rPr b="0" sz="1400">
                <a:solidFill>
                  <a:srgbClr val="000000"/>
                </a:solidFill>
              </a:rPr>
              <a:t>nchs-2017-data-presentation-standards-proportions · federal · National Center for Health Statistics Data Presentation Standards for Proportions · general support; no pinpoint</a:t>
            </a:r>
          </a:p>
          <a:p>
            <a:pPr/>
            <a:r>
              <a:rPr b="0" sz="1400">
                <a:solidFill>
                  <a:srgbClr val="000000"/>
                </a:solidFill>
              </a:rPr>
              <a:t>nchs-2023-data-presentation-standards-rates-counts · federal · National Center for Health Statistics Data Presentation Standards for Rates and Counts · general support; no pinpoint</a:t>
            </a:r>
          </a:p>
          <a:p>
            <a:pPr/>
            <a:r>
              <a:rPr b="0" sz="1400">
                <a:solidFill>
                  <a:srgbClr val="000000"/>
                </a:solidFill>
              </a:rPr>
              <a:t>nchs-data-brief-500-dental-visits-adults-65-2022 · federal · Dental Visits Among Adults Age 65 and Older: United States, 2022 (NCHS Data Brief No. 500) · general support; no pinpoint</a:t>
            </a:r>
          </a:p>
          <a:p>
            <a:pPr/>
            <a:r>
              <a:rPr b="0" sz="1400">
                <a:solidFill>
                  <a:srgbClr val="000000"/>
                </a:solidFill>
              </a:rPr>
              <a:t>nchs-data-brief-515-high-total-cholesterol-2021-2023 · federal · Total and High-density Lipoprotein Cholesterol in Adults: United States, August 2021–August 2023 (NCHS Data Brief No. 515) · general support; no pinpoint</a:t>
            </a:r>
          </a:p>
          <a:p>
            <a:pPr/>
            <a:r>
              <a:rPr b="0" sz="1400">
                <a:solidFill>
                  <a:srgbClr val="000000"/>
                </a:solidFill>
              </a:rPr>
              <a:t>nchs-data-brief-530-perinatal-mortality-2022-2023 · federal · Perinatal Mortality in the United States, 2022 and 2023 (NCHS Data Brief No. 530) · general support; no pinpoint</a:t>
            </a:r>
          </a:p>
          <a:p>
            <a:pPr/>
            <a:r>
              <a:rPr b="0" sz="1400">
                <a:solidFill>
                  <a:srgbClr val="000000"/>
                </a:solidFill>
              </a:rPr>
              <a:t>ons-uncertainty-and-how-we-measure-it · federal · Uncertainty and how we measure it for our surveys · general support; no pinpoint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peters-2025-generalization-bias-llm-summarization · academic · Generalization bias in large language model summarization of scientific research · general support; no pinpoint</a:t>
            </a:r>
          </a:p>
          <a:p>
            <a:pPr/>
            <a:r>
              <a:rPr b="0" sz="1400">
                <a:solidFill>
                  <a:srgbClr val="000000"/>
                </a:solidFill>
              </a:rPr>
              <a:t>radhakrishnan-2024-knowing-when-to-ask-data-commons · academic · Knowing When to Ask - Bridging Large Language Models and Data · general support; no pinpoint</a:t>
            </a:r>
          </a:p>
          <a:p>
            <a:pPr/>
            <a:r>
              <a:rPr b="0" sz="1400">
                <a:solidFill>
                  <a:srgbClr val="000000"/>
                </a:solidFill>
              </a:rPr>
              <a:t>statcan-13-10-0096-01-cchs-2022-provinces-percent-ci-csv · federal · Statistics Canada Table 13-10-0096-01, Health characteristics, annual estimates — 2022, Canada and provinces, percent with 95% confidence interval bounds and quality-indicator letters (CSV for database loading) · general support; no pinpoint</a:t>
            </a:r>
          </a:p>
          <a:p>
            <a:pPr/>
            <a:r>
              <a:rPr b="0" sz="1400">
                <a:solidFill>
                  <a:srgbClr val="000000"/>
                </a:solidFill>
              </a:rPr>
              <a:t>statcan-13-10-0096-01-cube-metadata-csv · federal · Statistics Canada Table 13-10-0096-01 — cube metadata (dimensions, members, notes, symbol legend) · general support; no pinpoint</a:t>
            </a:r>
          </a:p>
          <a:p>
            <a:pPr/>
            <a:r>
              <a:rPr b="0" sz="1400">
                <a:solidFill>
                  <a:srgbClr val="000000"/>
                </a:solidFill>
              </a:rPr>
              <a:t>statcan-13-10-0113-01-cchs-2021-2022-quebec-health-regions-percent-ci-csv · federal · Statistics Canada Table 13-10-0113-01, Health characteristics, two-year period estimates — 2021/2022, Quebec health regions, percent with 95% confidence interval bounds and quality-indicator letters (CSV for database loading) · general support; no pinpoint</a:t>
            </a:r>
          </a:p>
          <a:p>
            <a:pPr/>
            <a:r>
              <a:rPr b="0" sz="1400">
                <a:solidFill>
                  <a:srgbClr val="000000"/>
                </a:solidFill>
              </a:rPr>
              <a:t>statcan-13-10-0113-01-cube-metadata-csv · federal · Statistics Canada Table 13-10-0113-01 — cube metadata (dimensions, members, notes, symbol legend) · general support; no pinpoint</a:t>
            </a:r>
          </a:p>
          <a:p>
            <a:pPr/>
            <a:r>
              <a:rPr b="0" sz="1400">
                <a:solidFill>
                  <a:srgbClr val="000000"/>
                </a:solidFill>
              </a:rPr>
              <a:t>statcan-14-10-0287-01-cube-metadata-csv · federal · Statistics Canada Table 14-10-0287-01 — cube metadata (dimensions, members, notes, symbol legend) · general support; no pinpoint</a:t>
            </a:r>
          </a:p>
          <a:p>
            <a:pPr/>
            <a:r>
              <a:rPr b="0" sz="1400">
                <a:solidFill>
                  <a:srgbClr val="000000"/>
                </a:solidFill>
              </a:rPr>
              <a:t>statcan-14-10-0287-01-lfs-2025-12-provinces-estimate-se-csv · federal · Statistics Canada Table 14-10-0287-01, Labour force characteristics, monthly, seasonally adjusted — December 2025, Canada and provinces, estimate and standard error of estimate (CSV for database loading) · general support; no pinpoint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statcan-14-10-0287-01-lfs-2026-07-provinces-estimate-se-csv · federal · Statistics Canada Table 14-10-0287-01, Labour force characteristics, monthly, seasonally adjusted — July 2026, Canada and provinces, estimate and standard error of estimate (CSV for database loading) · general support; no pinpoint</a:t>
            </a:r>
          </a:p>
          <a:p>
            <a:pPr/>
            <a:r>
              <a:rPr b="0" sz="1400">
                <a:solidFill>
                  <a:srgbClr val="000000"/>
                </a:solidFill>
              </a:rPr>
              <a:t>statcan-71-543-g-guide-labour-force-survey-2025 · federal · Guide to the Labour Force Survey, 2025 (Catalogue no. 71-543-G) · general support; no pinpoint</a:t>
            </a:r>
          </a:p>
          <a:p>
            <a:pPr/>
            <a:r>
              <a:rPr b="0" sz="1400">
                <a:solidFill>
                  <a:srgbClr val="000000"/>
                </a:solidFill>
              </a:rPr>
              <a:t>statcan-quality-guidelines-6th-edition · federal · Statistics Canada Quality Guidelines, Sixth Edition · general support; no pinpoint</a:t>
            </a:r>
          </a:p>
          <a:p>
            <a:pPr/>
            <a:r>
              <a:rPr b="0" sz="1400">
                <a:solidFill>
                  <a:srgbClr val="000000"/>
                </a:solidFill>
              </a:rPr>
              <a:t>suleymanli-2025-llms-charts-official-statistics · academic · Are LLMs ready to help non-expert users to make charts of official statistics data? · general support; no pinpoint</a:t>
            </a:r>
          </a:p>
          <a:p>
            <a:pPr/>
            <a:r>
              <a:rPr b="0" sz="1400">
                <a:solidFill>
                  <a:srgbClr val="000000"/>
                </a:solidFill>
              </a:rPr>
              <a:t>van-der-bles-2019-communicating-uncertainty · academic · Communicating uncertainty about facts, numbers and science · general support; no pinpoint</a:t>
            </a:r>
          </a:p>
          <a:p>
            <a:pPr/>
            <a:r>
              <a:rPr b="0" sz="1400">
                <a:solidFill>
                  <a:srgbClr val="000000"/>
                </a:solidFill>
              </a:rPr>
              <a:t>venktesh-2024-quantemp-numerical-claims · academic · QuanTemp: A real-world open-domain benchmark for fact-checking numerical claims · general support; no pinpoint</a:t>
            </a:r>
          </a:p>
          <a:p>
            <a:pPr/>
            <a:r>
              <a:rPr b="0" sz="1400">
                <a:solidFill>
                  <a:srgbClr val="000000"/>
                </a:solidFill>
              </a:rPr>
              <a:t>zhao-2020-reducing-quantity-hallucinations · academic · Reducing Quantity Hallucinations in Abstractive Summarization · general support; no pinpoint</a:t>
            </a:r>
          </a:p>
          <a:p>
            <a:pPr/>
            <a:r>
              <a:rPr b="0" sz="1400">
                <a:solidFill>
                  <a:srgbClr val="000000"/>
                </a:solidFill>
              </a:rPr>
              <a:t>zhou-2026-loomsum-table-grounded-faithfulness · academic · LOOMSUM: Weaving Quantitative and Narrative Evidence for Faithful Long Text-Table Summarization · general support; no pinpoint</a:t>
            </a:r>
          </a:p>
          <a:p>
            <a:r>
              <a:rPr sz="800"/>
              <a:t/>
            </a:r>
          </a:p>
          <a:p>
            <a:pPr/>
            <a:r>
              <a:rPr b="0" sz="1400">
                <a:solidFill>
                  <a:srgbClr val="000000"/>
                </a:solidFill>
              </a:rPr>
              <a:t>Internal references: internal:DD-033, internal:DD-034, internal:DD-035, internal:DD-036, internal:assessment/harness/probes/g1_declared.py, internal:cc_tasks/2026-09-02_g1_eval_probe_family_v0_RESULT.md, internal:cc_tasks/2026-09-03_g1_eval_v1_parser_fullgrid_errata_RESULT.md, internal:cc_tasks/2026-09-03_g1_eval_v2_product_surfaces_compression_RESULT.md.</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0" sz="1400">
                <a:solidFill>
                  <a:srgbClr val="000000"/>
                </a:solidFill>
              </a:rPr>
              <a:t>Evidence cell, verbatim:</a:t>
            </a:r>
          </a:p>
          <a:p>
            <a:r>
              <a:rPr sz="800"/>
              <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fcsm-23-02-a-framework-for-data-quality-case-studies; DD-033 (v0 harness: assessment/harness/probes/g1_declared.py, g1_preservation.py); prior art (memo 2026-09-02): du-2026-possible-or-definite, peters-2025-generalization-bias-llm-summarization, lee-2026-when-summaries-distort-decisions, zhao-2020-reducing-quantity-hallucinations, cao-2024-multimodal-long-form-summarization-financial-reports, zhou-2026-loomsum-table-grounded-faithfulness, venktesh-2024-quantemp-numerical-claims, min-2023-factscore, van-der-bles-2019-communicating-uncertainty, manski-2015-communicating-uncertainty-official-economic-statistics, mazzi-2021-measuring-communicating-uncertainty-official-economic-statistics, census-acs-general-handbook-2020, ons-uncertainty-and-how-we-measure-it, statcan-quality-guidelines-6th-edition, ebu-bbc-2025-news-integrity-ai-assistants, radhakrishnan-2024-knowing-when-to-ask-data-commons, suleymanli-2025-llms-charts-official-statistics; DP: census-2020-disclosure-avoidance-handbook-2021; DD-034 (parser v1, sealed-holdout readiness); suppression / reliability-flag rules: nchs-2017-data-presentation-standards-proportions, nchs-2023-data-presentation-standards-rates-counts, statcan-71-543-g-guide-labour-force-survey-2025, census-acs-data-suppression-rules; DD-035 (v2: product surfaces × compression, families, binding, control arm); DD-036 (instrument frozen at v2 for the January pilot; two-leg G1; reviewer-calibration protocol); product surfaces (epoch g1sfc-2026-09-03, captured as served): census-api-acs5-2023-b19013-counties-colorado, census-api-acs5-2023-b19013-counties-idaho, statcan-14-10-0287-01-lfs-2026-07-provinces-estimate-se-csv, statcan-14-10-0287-01-lfs-2025-12-provinces-estimate-se-csv, statcan-14-10-0287-01-cube-metadata-csv, statcan-13-10-0096-01-cchs-2022-provinces-percent-ci-csv, statcan-13-10-0096-01-cube-metadata-csv, statcan-13-10-0113-01-cchs-2021-2022-quebec-health-regions-percent-ci-csv, statcan-13-10-0113-01-cube-metadata-csv, nchs-data-brief-530-perinatal-mortality-2022-2023, nchs-data-brief-500-dental-visits-adults-65-2022, nchs-data-brief-515-high-total-cholesterol-2021-2023, bls-employment-situation-2026-08-news-release, bls-employment-situation-2026-05-news-release-archive, census-quickfacts-denver-county-colorado, census-quickfacts-denver-county-colorado-csv, census-api-dec2020-dhc-p1-counties-colorado; admissions behind the fixtures, by epoch: 17 prior-art sources (g1eval-2026-09-02, the memo), 4 suppression / reliability-flag producer</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rules (g1srp-2026-09-03), 17 product surfaces (g1sfc-2026-09-03, listed above); pilot execution records: cc_tasks/2026-09-02_g1_eval_probe_family_v0_RESULT.md, cc_tasks/2026-09-03_g1_eval_v1_parser_fullgrid_errata_RESULT.md, cc_tasks/2026-09-03_g1_eval_v2_product_surfaces_compression_RESULT.md</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act:g1d-publish-the-error-measure-as-a-structured-field · Publish the error measure as a structured field beside the estimate · no_error_measure_field · RULE-G1-D-v1 · hours · none</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construct_restated: uncertainty present for the human reader and absent from the markup</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measurement_level: product</a:t>
            </a:r>
          </a:p>
          <a:p>
            <a:pPr/>
            <a:r>
              <a:rPr b="0" sz="1400">
                <a:solidFill>
                  <a:srgbClr val="000000"/>
                </a:solidFill>
              </a:rPr>
              <a:t>tier_note: A deterministic structured-field rule (RULE-G1-D-v1, the frozen g1_declared probe, DD-066 §7), not a judged reading: G1-O is the leg the G1 instrument judges. Measured on product surfaces only (measurement_level).</a:t>
            </a:r>
          </a:p>
          <a:p>
            <a:pPr/>
            <a:r>
              <a:rPr b="0" sz="1400">
                <a:solidFill>
                  <a:srgbClr val="000000"/>
                </a:solidFill>
              </a:rPr>
              <a:t>tier_rule: cc_tasks/2026-09-17_measurement_tiers.md decision 2 rule 1</a:t>
            </a:r>
          </a:p>
          <a:p>
            <a:pPr/>
            <a:r>
              <a:rPr b="0" sz="1400">
                <a:solidFill>
                  <a:srgbClr val="000000"/>
                </a:solidFill>
              </a:rPr>
              <a:t>tier_source: rules.CURRENT['G1-D'] = RULE-G1-D-v1 (assessment/harness/scan/rules/__init__.py); measurement spec spec:G1-D</a:t>
            </a:r>
          </a:p>
          <a:p>
            <a:pPr/>
            <a:r>
              <a:rPr b="0" sz="1400">
                <a:solidFill>
                  <a:srgbClr val="000000"/>
                </a:solidFill>
              </a:rPr>
              <a:t>withdrawn_from: host-level</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G1-O: </a:t>
            </a:r>
            <a:r>
              <a:rPr b="0" sz="1400">
                <a:solidFill>
                  <a:srgbClr val="000000"/>
                </a:solidFill>
              </a:rPr>
              <a:t>G1-O (observed)</a:t>
            </a:r>
            <a:r>
              <a:rPr b="1" sz="1400">
                <a:solidFill>
                  <a:srgbClr val="000000"/>
                </a:solidFill>
              </a:rPr>
              <a:t> — the family preservation rate (the L3+ share of scored qualifier families, D9) when the pinned consumer restates that same captured surface at indirect compression none, reported per surface with the unparseable share and the short / tight rates beside it, every record stamped with consumer, prompt epoch, parser_version and scorer_version (g1_preservation.py). The two legs are reported as a vector and are never composited (protocol §3). </a:t>
            </a:r>
            <a:r>
              <a:rPr b="0" sz="1400">
                <a:solidFill>
                  <a:srgbClr val="000000"/>
                </a:solidFill>
              </a:rPr>
              <a:t>No product-level PASS/PARTIAL/FAIL in v0.2.x:</a:t>
            </a:r>
            <a:r>
              <a:rPr b="1" sz="1400">
                <a:solidFill>
                  <a:srgbClr val="000000"/>
                </a:solidFill>
              </a:rPr>
              <a:t> the rate and its Wilson interval are the score until the January calibration run sets a boundary. Compression is a reported condition, not a scored one, until intended use says which condition the consumer of the assessment cares about</a:t>
            </a:r>
          </a:p>
          <a:p>
            <a:r>
              <a:rPr sz="800"/>
              <a:t/>
            </a:r>
          </a:p>
          <a:p>
            <a:pPr/>
            <a:r>
              <a:rPr b="0" sz="1400">
                <a:solidFill>
                  <a:srgbClr val="000000"/>
                </a:solidFill>
              </a:rPr>
              <a:t>Record node ind:G1-O. Every value below is a field of that node or of an edge or node it reaches, printed verbatim.</a:t>
            </a:r>
          </a:p>
          <a:p>
            <a:r>
              <a:rPr sz="800"/>
              <a:t/>
            </a:r>
          </a:p>
          <a:p>
            <a:pPr/>
            <a:r>
              <a:rPr b="0" sz="1400">
                <a:solidFill>
                  <a:srgbClr val="000000"/>
                </a:solidFill>
              </a:rPr>
              <a:t>criterion: G</a:t>
            </a:r>
          </a:p>
          <a:p>
            <a:pPr/>
            <a:r>
              <a:rPr b="0" sz="1400">
                <a:solidFill>
                  <a:srgbClr val="000000"/>
                </a:solidFill>
              </a:rPr>
              <a:t>construct: Uncertainty legibility (two legs, scored as a vector)</a:t>
            </a:r>
          </a:p>
          <a:p>
            <a:pPr/>
            <a:r>
              <a:rPr b="0" sz="1400">
                <a:solidFill>
                  <a:srgbClr val="000000"/>
                </a:solidFill>
              </a:rPr>
              <a:t>type: EVAL</a:t>
            </a:r>
          </a:p>
          <a:p>
            <a:pPr/>
            <a:r>
              <a:rPr b="0" sz="1400">
                <a:solidFill>
                  <a:srgbClr val="000000"/>
                </a:solidFill>
              </a:rPr>
              <a:t>access tier (tier): paid</a:t>
            </a:r>
          </a:p>
          <a:p>
            <a:pPr/>
            <a:r>
              <a:rPr b="0" sz="1400">
                <a:solidFill>
                  <a:srgbClr val="000000"/>
                </a:solidFill>
              </a:rPr>
              <a:t>measurement tier: M</a:t>
            </a:r>
          </a:p>
          <a:p>
            <a:pPr/>
            <a:r>
              <a:rPr b="0" sz="1400">
                <a:solidFill>
                  <a:srgbClr val="000000"/>
                </a:solidFill>
              </a:rPr>
              <a:t>measurement basis: judged_reading</a:t>
            </a:r>
          </a:p>
          <a:p>
            <a:pPr/>
            <a:r>
              <a:rPr b="0" sz="1400">
                <a:solidFill>
                  <a:srgbClr val="000000"/>
                </a:solidFill>
              </a:rPr>
              <a:t>measurement status: measured</a:t>
            </a:r>
          </a:p>
          <a:p>
            <a:pPr/>
            <a:r>
              <a:rPr b="0" sz="1400">
                <a:solidFill>
                  <a:srgbClr val="000000"/>
                </a:solidFill>
              </a:rPr>
              <a:t>status: v2 harness, frozen for the pilot (DD-036)</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Measurement spec</a:t>
            </a:r>
          </a:p>
          <a:p>
            <a:r>
              <a:rPr sz="800"/>
              <a:t/>
            </a:r>
          </a:p>
          <a:p>
            <a:pPr/>
            <a:r>
              <a:rPr b="0" sz="1400">
                <a:solidFill>
                  <a:srgbClr val="000000"/>
                </a:solidFill>
              </a:rPr>
              <a:t>spec:G1-O</a:t>
            </a:r>
          </a:p>
          <a:p>
            <a:r>
              <a:rPr sz="800"/>
              <a:t/>
            </a:r>
          </a:p>
          <a:p>
            <a:pPr/>
            <a:r>
              <a:rPr b="0" sz="1400">
                <a:solidFill>
                  <a:srgbClr val="000000"/>
                </a:solidFill>
              </a:rPr>
              <a:t>collector: assessment/harness/probes/g1_preservation.py (frozen at v2, DD-036)</a:t>
            </a:r>
          </a:p>
          <a:p>
            <a:pPr/>
            <a:r>
              <a:rPr b="0" sz="1400">
                <a:solidFill>
                  <a:srgbClr val="000000"/>
                </a:solidFill>
              </a:rPr>
              <a:t>collector_pin: assessment/harness/probes/g1_preservation.py (frozen, DD-036)</a:t>
            </a:r>
          </a:p>
          <a:p>
            <a:pPr/>
            <a:r>
              <a:rPr b="0" sz="1400">
                <a:solidFill>
                  <a:srgbClr val="000000"/>
                </a:solidFill>
              </a:rPr>
              <a:t>evidence_kind: raw consumer exchange, persisted before scoring</a:t>
            </a:r>
          </a:p>
          <a:p>
            <a:pPr/>
            <a:r>
              <a:rPr b="0" sz="1400">
                <a:solidFill>
                  <a:srgbClr val="000000"/>
                </a:solidFill>
              </a:rPr>
              <a:t>indicator_code: G1-O</a:t>
            </a:r>
          </a:p>
          <a:p>
            <a:pPr/>
            <a:r>
              <a:rPr b="0" sz="1400">
                <a:solidFill>
                  <a:srgbClr val="000000"/>
                </a:solidFill>
              </a:rPr>
              <a:t>leg: G1-O</a:t>
            </a:r>
          </a:p>
          <a:p>
            <a:pPr/>
            <a:r>
              <a:rPr b="0" sz="1400">
                <a:solidFill>
                  <a:srgbClr val="000000"/>
                </a:solidFill>
              </a:rPr>
              <a:t>mode: harness</a:t>
            </a:r>
          </a:p>
          <a:p>
            <a:pPr/>
            <a:r>
              <a:rPr b="0" sz="1400">
                <a:solidFill>
                  <a:srgbClr val="000000"/>
                </a:solidFill>
              </a:rPr>
              <a:t>prior_art: DD-035; DD-036</a:t>
            </a:r>
          </a:p>
          <a:p>
            <a:pPr/>
            <a:r>
              <a:rPr b="0" sz="1400">
                <a:solidFill>
                  <a:srgbClr val="000000"/>
                </a:solidFill>
              </a:rPr>
              <a:t>rule_id: RULE-G1-O-v0</a:t>
            </a:r>
          </a:p>
          <a:p>
            <a:pPr/>
            <a:r>
              <a:rPr b="0" sz="1400">
                <a:solidFill>
                  <a:srgbClr val="000000"/>
                </a:solidFill>
              </a:rPr>
              <a:t>signal: see assessment/harness/probes/g1_preservation.py (frozen at v2, DD-036)</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bls-employment-situation-2026-05-news-release-archive · federal · BLS news release archive: The Employment Situation — May 2026 (released June 2026; Technical Note on reliability of the estimates) · general support; no pinpoint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bls-employment-situation-2026-08-news-release · federal · BLS news release: The Employment Situation — July 2026 (released August 2026; Technical Note on reliability of the estimates) · general support; no pinpoint</a:t>
            </a:r>
          </a:p>
          <a:p>
            <a:pPr/>
            <a:r>
              <a:rPr b="0" sz="1400">
                <a:solidFill>
                  <a:srgbClr val="000000"/>
                </a:solidFill>
              </a:rPr>
              <a:t>cao-2024-multimodal-long-form-summarization-financial-reports · academic · Characterizing Multimodal Long-form Summarization: A Case Study on Financial Reports · general support; no pinpoint</a:t>
            </a:r>
          </a:p>
          <a:p>
            <a:pPr/>
            <a:r>
              <a:rPr b="0" sz="1400">
                <a:solidFill>
                  <a:srgbClr val="000000"/>
                </a:solidFill>
              </a:rPr>
              <a:t>census-2020-disclosure-avoidance-handbook-2021 · federal · Disclosure Avoidance for the 2020 Census: An Introduction · general support; no pinpoint</a:t>
            </a:r>
          </a:p>
          <a:p>
            <a:pPr/>
            <a:r>
              <a:rPr b="0" sz="1400">
                <a:solidFill>
                  <a:srgbClr val="000000"/>
                </a:solidFill>
              </a:rPr>
              <a:t>census-acs-data-suppression-rules · federal · American Community Survey — Data Suppression (data release rules) · general support; no pinpoint</a:t>
            </a:r>
          </a:p>
          <a:p>
            <a:pPr/>
            <a:r>
              <a:rPr b="0" sz="1400">
                <a:solidFill>
                  <a:srgbClr val="000000"/>
                </a:solidFill>
              </a:rPr>
              <a:t>census-acs-general-handbook-2020 · federal · Understanding and Using American Community Survey Data: What All Data Users Need to Know · general support; no pinpoint</a:t>
            </a:r>
          </a:p>
          <a:p>
            <a:pPr/>
            <a:r>
              <a:rPr b="0" sz="1400">
                <a:solidFill>
                  <a:srgbClr val="000000"/>
                </a:solidFill>
              </a:rPr>
              <a:t>census-api-acs5-2023-b19013-counties-colorado · federal · Census Data API: ACS 5-Year 2023, B19013_001E / B19013_001M (median household income) for all counties in Colorado · general support; no pinpoint</a:t>
            </a:r>
          </a:p>
          <a:p>
            <a:pPr/>
            <a:r>
              <a:rPr b="0" sz="1400">
                <a:solidFill>
                  <a:srgbClr val="000000"/>
                </a:solidFill>
              </a:rPr>
              <a:t>census-api-acs5-2023-b19013-counties-idaho · federal · Census Data API: ACS 5-Year 2023, B19013_001E / B19013_001M (median household income) for all counties in Idaho · general support; no pinpoint</a:t>
            </a:r>
          </a:p>
          <a:p>
            <a:pPr/>
            <a:r>
              <a:rPr b="0" sz="1400">
                <a:solidFill>
                  <a:srgbClr val="000000"/>
                </a:solidFill>
              </a:rPr>
              <a:t>census-api-dec2020-dhc-p1-counties-colorado · federal · Census Data API: 2020 Census Demographic and Housing Characteristics, P1_001N (total population) for all counties in Colorado · general support; no pinpoint</a:t>
            </a:r>
          </a:p>
          <a:p>
            <a:pPr/>
            <a:r>
              <a:rPr b="0" sz="1400">
                <a:solidFill>
                  <a:srgbClr val="000000"/>
                </a:solidFill>
              </a:rPr>
              <a:t>census-quickfacts-denver-county-colorado · federal · Census QuickFacts: Denver County, Colorado · general support; no pinpoint</a:t>
            </a:r>
          </a:p>
          <a:p>
            <a:pPr/>
            <a:r>
              <a:rPr b="0" sz="1400">
                <a:solidFill>
                  <a:srgbClr val="000000"/>
                </a:solidFill>
              </a:rPr>
              <a:t>census-quickfacts-denver-county-colorado-csv · federal · Census QuickFacts CSV export: Denver County, Colorado (PST045224) · general support; no pinpoint</a:t>
            </a:r>
          </a:p>
          <a:p>
            <a:pPr/>
            <a:r>
              <a:rPr b="0" sz="1400">
                <a:solidFill>
                  <a:srgbClr val="000000"/>
                </a:solidFill>
              </a:rPr>
              <a:t>du-2026-possible-or-definite · academic · Possible or Definite? A Benchmark for Evaluating Diagnostic Uncertainty Preservation in Clinical Text · general support; no pinpoint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ebu-bbc-2025-news-integrity-ai-assistants · practitioner · News Integrity in AI Assistants: An international PSM study · general support; no pinpoint</a:t>
            </a:r>
          </a:p>
          <a:p>
            <a:pPr/>
            <a:r>
              <a:rPr b="0" sz="1400">
                <a:solidFill>
                  <a:srgbClr val="000000"/>
                </a:solidFill>
              </a:rPr>
              <a:t>fcsm-23-02-a-framework-for-data-quality-case-studies · federal · FCSM 23-02: A Framework for Data Quality: Case Studies · general support; no pinpoint</a:t>
            </a:r>
          </a:p>
          <a:p>
            <a:pPr/>
            <a:r>
              <a:rPr b="0" sz="1400">
                <a:solidFill>
                  <a:srgbClr val="000000"/>
                </a:solidFill>
              </a:rPr>
              <a:t>lee-2026-when-summaries-distort-decisions · academic · When Summaries Distort Decisions: Information Fidelity in LLM-Compressed Financial Analysis · general support; no pinpoint</a:t>
            </a:r>
          </a:p>
          <a:p>
            <a:pPr/>
            <a:r>
              <a:rPr b="0" sz="1400">
                <a:solidFill>
                  <a:srgbClr val="000000"/>
                </a:solidFill>
              </a:rPr>
              <a:t>manski-2015-communicating-uncertainty-official-economic-statistics · academic · Communicating Uncertainty in Official Economic Statistics: An Appraisal Fifty Years after Morgenstern · general support; no pinpoint</a:t>
            </a:r>
          </a:p>
          <a:p>
            <a:pPr/>
            <a:r>
              <a:rPr b="0" sz="1400">
                <a:solidFill>
                  <a:srgbClr val="000000"/>
                </a:solidFill>
              </a:rPr>
              <a:t>mazzi-2021-measuring-communicating-uncertainty-official-economic-statistics · academic · Measuring and Communicating the Uncertainty in Official Economic Statistics · general support; no pinpoint</a:t>
            </a:r>
          </a:p>
          <a:p>
            <a:pPr/>
            <a:r>
              <a:rPr b="0" sz="1400">
                <a:solidFill>
                  <a:srgbClr val="000000"/>
                </a:solidFill>
              </a:rPr>
              <a:t>min-2023-factscore · academic · FActScore: Fine-grained Atomic Evaluation of Factual Precision in Long Form Text Generation · general support; no pinpoint</a:t>
            </a:r>
          </a:p>
          <a:p>
            <a:pPr/>
            <a:r>
              <a:rPr b="0" sz="1400">
                <a:solidFill>
                  <a:srgbClr val="000000"/>
                </a:solidFill>
              </a:rPr>
              <a:t>nchs-2017-data-presentation-standards-proportions · federal · National Center for Health Statistics Data Presentation Standards for Proportions · general support; no pinpoint</a:t>
            </a:r>
          </a:p>
          <a:p>
            <a:pPr/>
            <a:r>
              <a:rPr b="0" sz="1400">
                <a:solidFill>
                  <a:srgbClr val="000000"/>
                </a:solidFill>
              </a:rPr>
              <a:t>nchs-2023-data-presentation-standards-rates-counts · federal · National Center for Health Statistics Data Presentation Standards for Rates and Counts · general support; no pinpoint</a:t>
            </a:r>
          </a:p>
          <a:p>
            <a:pPr/>
            <a:r>
              <a:rPr b="0" sz="1400">
                <a:solidFill>
                  <a:srgbClr val="000000"/>
                </a:solidFill>
              </a:rPr>
              <a:t>nchs-data-brief-500-dental-visits-adults-65-2022 · federal · Dental Visits Among Adults Age 65 and Older: United States, 2022 (NCHS Data Brief No. 500) · general support; no pinpoint</a:t>
            </a:r>
          </a:p>
          <a:p>
            <a:pPr/>
            <a:r>
              <a:rPr b="0" sz="1400">
                <a:solidFill>
                  <a:srgbClr val="000000"/>
                </a:solidFill>
              </a:rPr>
              <a:t>nchs-data-brief-515-high-total-cholesterol-2021-2023 · federal · Total and High-density Lipoprotein Cholesterol in Adults: United States, August 2021–August 2023 (NCHS Data Brief No. 515) · general support; no pinpoint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nchs-data-brief-530-perinatal-mortality-2022-2023 · federal · Perinatal Mortality in the United States, 2022 and 2023 (NCHS Data Brief No. 530) · general support; no pinpoint</a:t>
            </a:r>
          </a:p>
          <a:p>
            <a:pPr/>
            <a:r>
              <a:rPr b="0" sz="1400">
                <a:solidFill>
                  <a:srgbClr val="000000"/>
                </a:solidFill>
              </a:rPr>
              <a:t>ons-uncertainty-and-how-we-measure-it · federal · Uncertainty and how we measure it for our surveys · general support; no pinpoint</a:t>
            </a:r>
          </a:p>
          <a:p>
            <a:pPr/>
            <a:r>
              <a:rPr b="0" sz="1400">
                <a:solidFill>
                  <a:srgbClr val="000000"/>
                </a:solidFill>
              </a:rPr>
              <a:t>peters-2025-generalization-bias-llm-summarization · academic · Generalization bias in large language model summarization of scientific research · general support; no pinpoint</a:t>
            </a:r>
          </a:p>
          <a:p>
            <a:pPr/>
            <a:r>
              <a:rPr b="0" sz="1400">
                <a:solidFill>
                  <a:srgbClr val="000000"/>
                </a:solidFill>
              </a:rPr>
              <a:t>radhakrishnan-2024-knowing-when-to-ask-data-commons · academic · Knowing When to Ask - Bridging Large Language Models and Data · general support; no pinpoint</a:t>
            </a:r>
          </a:p>
          <a:p>
            <a:pPr/>
            <a:r>
              <a:rPr b="0" sz="1400">
                <a:solidFill>
                  <a:srgbClr val="000000"/>
                </a:solidFill>
              </a:rPr>
              <a:t>statcan-13-10-0096-01-cchs-2022-provinces-percent-ci-csv · federal · Statistics Canada Table 13-10-0096-01, Health characteristics, annual estimates — 2022, Canada and provinces, percent with 95% confidence interval bounds and quality-indicator letters (CSV for database loading) · general support; no pinpoint</a:t>
            </a:r>
          </a:p>
          <a:p>
            <a:pPr/>
            <a:r>
              <a:rPr b="0" sz="1400">
                <a:solidFill>
                  <a:srgbClr val="000000"/>
                </a:solidFill>
              </a:rPr>
              <a:t>statcan-13-10-0096-01-cube-metadata-csv · federal · Statistics Canada Table 13-10-0096-01 — cube metadata (dimensions, members, notes, symbol legend) · general support; no pinpoint</a:t>
            </a:r>
          </a:p>
          <a:p>
            <a:pPr/>
            <a:r>
              <a:rPr b="0" sz="1400">
                <a:solidFill>
                  <a:srgbClr val="000000"/>
                </a:solidFill>
              </a:rPr>
              <a:t>statcan-13-10-0113-01-cchs-2021-2022-quebec-health-regions-percent-ci-csv · federal · Statistics Canada Table 13-10-0113-01, Health characteristics, two-year period estimates — 2021/2022, Quebec health regions, percent with 95% confidence interval bounds and quality-indicator letters (CSV for database loading) · general support; no pinpoint</a:t>
            </a:r>
          </a:p>
          <a:p>
            <a:pPr/>
            <a:r>
              <a:rPr b="0" sz="1400">
                <a:solidFill>
                  <a:srgbClr val="000000"/>
                </a:solidFill>
              </a:rPr>
              <a:t>statcan-13-10-0113-01-cube-metadata-csv · federal · Statistics Canada Table 13-10-0113-01 — cube metadata (dimensions, members, notes, symbol legend) · general support; no pinpoint</a:t>
            </a:r>
          </a:p>
          <a:p>
            <a:pPr/>
            <a:r>
              <a:rPr b="0" sz="1400">
                <a:solidFill>
                  <a:srgbClr val="000000"/>
                </a:solidFill>
              </a:rPr>
              <a:t>statcan-14-10-0287-01-cube-metadata-csv · federal · Statistics Canada Table 14-10-0287-01 — cube metadata (dimensions, members, notes, symbol legend) · general support; no pinpoint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statcan-14-10-0287-01-lfs-2025-12-provinces-estimate-se-csv · federal · Statistics Canada Table 14-10-0287-01, Labour force characteristics, monthly, seasonally adjusted — December 2025, Canada and provinces, estimate and standard error of estimate (CSV for database loading) · general support; no pinpoint</a:t>
            </a:r>
          </a:p>
          <a:p>
            <a:pPr/>
            <a:r>
              <a:rPr b="0" sz="1400">
                <a:solidFill>
                  <a:srgbClr val="000000"/>
                </a:solidFill>
              </a:rPr>
              <a:t>statcan-14-10-0287-01-lfs-2026-07-provinces-estimate-se-csv · federal · Statistics Canada Table 14-10-0287-01, Labour force characteristics, monthly, seasonally adjusted — July 2026, Canada and provinces, estimate and standard error of estimate (CSV for database loading) · general support; no pinpoint</a:t>
            </a:r>
          </a:p>
          <a:p>
            <a:pPr/>
            <a:r>
              <a:rPr b="0" sz="1400">
                <a:solidFill>
                  <a:srgbClr val="000000"/>
                </a:solidFill>
              </a:rPr>
              <a:t>statcan-71-543-g-guide-labour-force-survey-2025 · federal · Guide to the Labour Force Survey, 2025 (Catalogue no. 71-543-G) · general support; no pinpoint</a:t>
            </a:r>
          </a:p>
          <a:p>
            <a:pPr/>
            <a:r>
              <a:rPr b="0" sz="1400">
                <a:solidFill>
                  <a:srgbClr val="000000"/>
                </a:solidFill>
              </a:rPr>
              <a:t>statcan-quality-guidelines-6th-edition · federal · Statistics Canada Quality Guidelines, Sixth Edition · general support; no pinpoint</a:t>
            </a:r>
          </a:p>
          <a:p>
            <a:pPr/>
            <a:r>
              <a:rPr b="0" sz="1400">
                <a:solidFill>
                  <a:srgbClr val="000000"/>
                </a:solidFill>
              </a:rPr>
              <a:t>suleymanli-2025-llms-charts-official-statistics · academic · Are LLMs ready to help non-expert users to make charts of official statistics data? · general support; no pinpoint</a:t>
            </a:r>
          </a:p>
          <a:p>
            <a:pPr/>
            <a:r>
              <a:rPr b="0" sz="1400">
                <a:solidFill>
                  <a:srgbClr val="000000"/>
                </a:solidFill>
              </a:rPr>
              <a:t>van-der-bles-2019-communicating-uncertainty · academic · Communicating uncertainty about facts, numbers and science · general support; no pinpoint</a:t>
            </a:r>
          </a:p>
          <a:p>
            <a:pPr/>
            <a:r>
              <a:rPr b="0" sz="1400">
                <a:solidFill>
                  <a:srgbClr val="000000"/>
                </a:solidFill>
              </a:rPr>
              <a:t>venktesh-2024-quantemp-numerical-claims · academic · QuanTemp: A real-world open-domain benchmark for fact-checking numerical claims · general support; no pinpoint</a:t>
            </a:r>
          </a:p>
          <a:p>
            <a:pPr/>
            <a:r>
              <a:rPr b="0" sz="1400">
                <a:solidFill>
                  <a:srgbClr val="000000"/>
                </a:solidFill>
              </a:rPr>
              <a:t>zhao-2020-reducing-quantity-hallucinations · academic · Reducing Quantity Hallucinations in Abstractive Summarization · general support; no pinpoint</a:t>
            </a:r>
          </a:p>
          <a:p>
            <a:pPr/>
            <a:r>
              <a:rPr b="0" sz="1400">
                <a:solidFill>
                  <a:srgbClr val="000000"/>
                </a:solidFill>
              </a:rPr>
              <a:t>zhou-2026-loomsum-table-grounded-faithfulness · academic · LOOMSUM: Weaving Quantitative and Narrative Evidence for Faithful Long Text-Table Summarization · general support; no pinpoint</a:t>
            </a:r>
          </a:p>
          <a:p>
            <a:r>
              <a:rPr sz="800"/>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Internal references: internal:DD-033, internal:DD-034, internal:DD-035, internal:DD-036, internal:assessment/harness/probes/g1_declared.py, internal:cc_tasks/2026-09-02_g1_eval_probe_family_v0_RESULT.md, internal:cc_tasks/2026-09-03_g1_eval_v1_parser_fullgrid_errata_RESULT.md, internal:cc_tasks/2026-09-03_g1_eval_v2_product_surfaces_compression_RESULT.md.</a:t>
            </a:r>
          </a:p>
          <a:p>
            <a:r>
              <a:rPr sz="800"/>
              <a:t/>
            </a:r>
          </a:p>
          <a:p>
            <a:pPr/>
            <a:r>
              <a:rPr b="0" sz="1400">
                <a:solidFill>
                  <a:srgbClr val="000000"/>
                </a:solidFill>
              </a:rPr>
              <a:t>Evidence cell, verbatim:</a:t>
            </a:r>
          </a:p>
          <a:p>
            <a:r>
              <a:rPr sz="800"/>
              <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fcsm-23-02-a-framework-for-data-quality-case-studies; DD-033 (v0 harness: assessment/harness/probes/g1_declared.py, g1_preservation.py); prior art (memo 2026-09-02): du-2026-possible-or-definite, peters-2025-generalization-bias-llm-summarization, lee-2026-when-summaries-distort-decisions, zhao-2020-reducing-quantity-hallucinations, cao-2024-multimodal-long-form-summarization-financial-reports, zhou-2026-loomsum-table-grounded-faithfulness, venktesh-2024-quantemp-numerical-claims, min-2023-factscore, van-der-bles-2019-communicating-uncertainty, manski-2015-communicating-uncertainty-official-economic-statistics, mazzi-2021-measuring-communicating-uncertainty-official-economic-statistics, census-acs-general-handbook-2020, ons-uncertainty-and-how-we-measure-it, statcan-quality-guidelines-6th-edition, ebu-bbc-2025-news-integrity-ai-assistants, radhakrishnan-2024-knowing-when-to-ask-data-commons, suleymanli-2025-llms-charts-official-statistics; DP: census-2020-disclosure-avoidance-handbook-2021; DD-034 (parser v1, sealed-holdout readiness); suppression / reliability-flag rules: nchs-2017-data-presentation-standards-proportions, nchs-2023-data-presentation-standards-rates-counts, statcan-71-543-g-guide-labour-force-survey-2025, census-acs-data-suppression-rules; DD-035 (v2: product surfaces × compression, families, binding, control arm); DD-036 (instrument frozen at v2 for the January pilot; two-leg G1; reviewer-calibration protocol); product surfaces (epoch g1sfc-2026-09-03, captured as served): census-api-acs5-2023-b19013-counties-colorado, census-api-acs5-2023-b19013-counties-idaho, statcan-14-10-0287-01-lfs-2026-07-provinces-estimate-se-csv, statcan-14-10-0287-01-lfs-2025-12-provinces-estimate-se-csv, statcan-14-10-0287-01-cube-metadata-csv, statcan-13-10-0096-01-cchs-2022-provinces-percent-ci-csv, statcan-13-10-0096-01-cube-metadata-csv, statcan-13-10-0113-01-cchs-2021-2022-quebec-health-regions-percent-ci-csv, statcan-13-10-0113-01-cube-metadata-csv, nchs-data-brief-530-perinatal-mortality-2022-2023, nchs-data-brief-500-dental-visits-adults-65-2022, nchs-data-brief-515-high-total-cholesterol-2021-2023, bls-employment-situation-2026-08-news-release, bls-employment-situation-2026-05-news-release-archive, census-quickfacts-denver-county-colorado, census-quickfacts-denver-county-colorado-csv, census-api-dec2020-dhc-p1-counties-colorado; admissions behind the fixtures, by epoch: 17 prior-art sources (g1eval-2026-09-02, the memo), 4 suppression / reliability-flag producer</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rules (g1srp-2026-09-03), 17 product surfaces (g1sfc-2026-09-03, listed above); pilot execution records: cc_tasks/2026-09-02_g1_eval_probe_family_v0_RESULT.md, cc_tasks/2026-09-03_g1_eval_v1_parser_fullgrid_errata_RESULT.md, cc_tasks/2026-09-03_g1_eval_v2_product_surfaces_compression_RESULT.md</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0" sz="1400">
                <a:solidFill>
                  <a:srgbClr val="000000"/>
                </a:solidFill>
              </a:rPr>
              <a:t>requirement_none_reason: Measured: the G1 instrument exists and judged it (DD-036, measurement_status: measured). Nothing stands between it and a verdict.</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G1-O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appendix/indicator_G1-O.md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tier_note: Reached by rule 5, and its basis is judged_reading rather than evaluation because the instrument exists: it is the one rule 4 cites.</a:t>
            </a:r>
          </a:p>
          <a:p>
            <a:pPr/>
            <a:r>
              <a:rPr b="0" sz="1400">
                <a:solidFill>
                  <a:srgbClr val="000000"/>
                </a:solidFill>
              </a:rPr>
              <a:t>tier_rule: cc_tasks/2026-09-17_measurement_tiers.md decision 2 rule 5</a:t>
            </a:r>
          </a:p>
          <a:p>
            <a:pPr/>
            <a:r>
              <a:rPr b="0" sz="1400">
                <a:solidFill>
                  <a:srgbClr val="000000"/>
                </a:solidFill>
              </a:rPr>
              <a:t>tier_source: DD-036 §2 (docs/design_decisions.md): G1-O is the v2 EVAL; spec spec:G1-O names its collector; instrument: the G1 instrument: DD-036 (docs/design_decisions.md), assessment/harness/probes/g1_preservation.py, frozen at v2; definition of ind:G1-O: "when the pinned consumer restates that same captured surface"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G2: Revision status machine-readable per value (preliminary/revised/final/benchmark), with scheduled-revision dates; EVAL: vintage disambiguation (ties C3)</a:t>
            </a:r>
          </a:p>
          <a:p>
            <a:r>
              <a:rPr sz="800"/>
              <a:t/>
            </a:r>
          </a:p>
          <a:p>
            <a:pPr/>
            <a:r>
              <a:rPr b="0" sz="1400">
                <a:solidFill>
                  <a:srgbClr val="000000"/>
                </a:solidFill>
              </a:rPr>
              <a:t>Record node ind:G2. Every value below is a field of that node or of an edge or node it reaches, printed verbatim.</a:t>
            </a:r>
          </a:p>
          <a:p>
            <a:r>
              <a:rPr sz="800"/>
              <a:t/>
            </a:r>
          </a:p>
          <a:p>
            <a:pPr/>
            <a:r>
              <a:rPr b="0" sz="1400">
                <a:solidFill>
                  <a:srgbClr val="000000"/>
                </a:solidFill>
              </a:rPr>
              <a:t>criterion: G</a:t>
            </a:r>
          </a:p>
          <a:p>
            <a:pPr/>
            <a:r>
              <a:rPr b="0" sz="1400">
                <a:solidFill>
                  <a:srgbClr val="000000"/>
                </a:solidFill>
              </a:rPr>
              <a:t>construct: Revision semantics</a:t>
            </a:r>
          </a:p>
          <a:p>
            <a:pPr/>
            <a:r>
              <a:rPr b="0" sz="1400">
                <a:solidFill>
                  <a:srgbClr val="000000"/>
                </a:solidFill>
              </a:rPr>
              <a:t>type: DOC + EVAL</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evaluation</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a:p>
            <a:pPr/>
            <a:r>
              <a:rPr b="0" sz="1400">
                <a:solidFill>
                  <a:srgbClr val="000000"/>
                </a:solidFill>
              </a:rPr>
              <a:t>pre:vintage-disambiguation-set · benchmark_set · tier · benchmark · whether retrieval returns the vintage a question asks for</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G2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appendix/indicator_G2.md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Other record fields</a:t>
            </a:r>
          </a:p>
          <a:p>
            <a:r>
              <a:rPr sz="800"/>
              <a:t/>
            </a:r>
          </a:p>
          <a:p>
            <a:pPr/>
            <a:r>
              <a:rPr b="0" sz="1400">
                <a:solidFill>
                  <a:srgbClr val="000000"/>
                </a:solidFill>
              </a:rPr>
              <a:t>tier_note: docs/design/scan_tool_map.md §2 at commit 52af6c7 said content-evaluation; rule 4's confirmation fails because the reading the definition asks for is C3's evaluation, not the G1 instrument, so rule 5 reaches it. The declared half (revision status machine-readable per value) is a structured-field test no rule makes yet. No such instrument exists yet.</a:t>
            </a:r>
          </a:p>
          <a:p>
            <a:pPr/>
            <a:r>
              <a:rPr b="0" sz="1400">
                <a:solidFill>
                  <a:srgbClr val="000000"/>
                </a:solidFill>
              </a:rPr>
              <a:t>tier_rule: cc_tasks/2026-09-17_measurement_tiers.md decision 2 rule 5</a:t>
            </a:r>
          </a:p>
          <a:p>
            <a:pPr/>
            <a:r>
              <a:rPr b="0" sz="1400">
                <a:solidFill>
                  <a:srgbClr val="000000"/>
                </a:solidFill>
              </a:rPr>
              <a:t>tier_source: definition of ind:G2 in framework/ai_readiness_framework.json: "EVAL: vintage disambiguation (ties C3)"</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G3: Stable series IDs; machine-readable crosswalks when classifications or geographies change (industry codes, boundary revisions)</a:t>
            </a:r>
          </a:p>
          <a:p>
            <a:r>
              <a:rPr sz="800"/>
              <a:t/>
            </a:r>
          </a:p>
          <a:p>
            <a:pPr/>
            <a:r>
              <a:rPr b="0" sz="1400">
                <a:solidFill>
                  <a:srgbClr val="000000"/>
                </a:solidFill>
              </a:rPr>
              <a:t>Record node ind:G3. Every value below is a field of that node or of an edge or node it reaches, printed verbatim.</a:t>
            </a:r>
          </a:p>
          <a:p>
            <a:r>
              <a:rPr sz="800"/>
              <a:t/>
            </a:r>
          </a:p>
          <a:p>
            <a:pPr/>
            <a:r>
              <a:rPr b="0" sz="1400">
                <a:solidFill>
                  <a:srgbClr val="000000"/>
                </a:solidFill>
              </a:rPr>
              <a:t>criterion: G</a:t>
            </a:r>
          </a:p>
          <a:p>
            <a:pPr/>
            <a:r>
              <a:rPr b="0" sz="1400">
                <a:solidFill>
                  <a:srgbClr val="000000"/>
                </a:solidFill>
              </a:rPr>
              <a:t>construct: Classification/vintage identity</a:t>
            </a:r>
          </a:p>
          <a:p>
            <a:pPr/>
            <a:r>
              <a:rPr b="0" sz="1400">
                <a:solidFill>
                  <a:srgbClr val="000000"/>
                </a:solidFill>
              </a:rPr>
              <a:t>type: AUTO/DOC</a:t>
            </a:r>
          </a:p>
          <a:p>
            <a:pPr/>
            <a:r>
              <a:rPr b="0" sz="1400">
                <a:solidFill>
                  <a:srgbClr val="000000"/>
                </a:solidFill>
              </a:rPr>
              <a:t>access tier (tier): public</a:t>
            </a:r>
          </a:p>
          <a:p>
            <a:pPr/>
            <a:r>
              <a:rPr b="0" sz="1400">
                <a:solidFill>
                  <a:srgbClr val="000000"/>
                </a:solidFill>
              </a:rPr>
              <a:t>measurement tier: unassigned</a:t>
            </a:r>
          </a:p>
          <a:p>
            <a:pPr/>
            <a:r>
              <a:rPr b="0" sz="1400">
                <a:solidFill>
                  <a:srgbClr val="000000"/>
                </a:solidFill>
              </a:rPr>
              <a:t>measurement basis: </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r>
              <a:rPr b="1" sz="1400">
                <a:solidFill>
                  <a:srgbClr val="000000"/>
                </a:solidFill>
              </a:rPr>
              <a:t>gap</a:t>
            </a:r>
          </a:p>
          <a:p>
            <a:r>
              <a:rPr sz="800"/>
              <a:t/>
            </a:r>
          </a:p>
          <a:p>
            <a:pPr/>
            <a:r>
              <a:rPr b="1" sz="1400">
                <a:solidFill>
                  <a:srgbClr val="000000"/>
                </a:solidFill>
              </a:rPr>
              <a:t>Measurement spec</a:t>
            </a:r>
          </a:p>
          <a:p>
            <a:r>
              <a:rPr sz="800"/>
              <a:t/>
            </a:r>
          </a:p>
          <a:p>
            <a:pPr/>
            <a:r>
              <a:rPr b="0" sz="1400">
                <a:solidFill>
                  <a:srgbClr val="000000"/>
                </a:solidFill>
              </a:rPr>
              <a:t>spec:G3</a:t>
            </a:r>
          </a:p>
          <a:p>
            <a:r>
              <a:rPr sz="800"/>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appendix/indicator_G3.md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 none_known</a:t>
            </a:r>
          </a:p>
          <a:p>
            <a:pPr/>
            <a:r>
              <a:rPr b="0" sz="1400">
                <a:solidFill>
                  <a:srgbClr val="000000"/>
                </a:solidFill>
              </a:rPr>
              <a:t>collector_pin: n/a</a:t>
            </a:r>
          </a:p>
          <a:p>
            <a:pPr/>
            <a:r>
              <a:rPr b="0" sz="1400">
                <a:solidFill>
                  <a:srgbClr val="000000"/>
                </a:solidFill>
              </a:rPr>
              <a:t>evidence_kind: series id sets + crosswalk document</a:t>
            </a:r>
          </a:p>
          <a:p>
            <a:pPr/>
            <a:r>
              <a:rPr b="0" sz="1400">
                <a:solidFill>
                  <a:srgbClr val="000000"/>
                </a:solidFill>
              </a:rPr>
              <a:t>indicator_code: G3</a:t>
            </a:r>
          </a:p>
          <a:p>
            <a:pPr/>
            <a:r>
              <a:rPr b="0" sz="1400">
                <a:solidFill>
                  <a:srgbClr val="000000"/>
                </a:solidFill>
              </a:rPr>
              <a:t>leg: G3</a:t>
            </a:r>
          </a:p>
          <a:p>
            <a:pPr/>
            <a:r>
              <a:rPr b="0" sz="1400">
                <a:solidFill>
                  <a:srgbClr val="000000"/>
                </a:solidFill>
              </a:rPr>
              <a:t>mode: auto</a:t>
            </a:r>
          </a:p>
          <a:p>
            <a:pPr/>
            <a:r>
              <a:rPr b="0" sz="1400">
                <a:solidFill>
                  <a:srgbClr val="000000"/>
                </a:solidFill>
              </a:rPr>
              <a:t>prior_art: </a:t>
            </a:r>
            <a:r>
              <a:rPr b="1" sz="1400">
                <a:solidFill>
                  <a:srgbClr val="000000"/>
                </a:solidFill>
              </a:rPr>
              <a:t>gap</a:t>
            </a:r>
            <a:r>
              <a:rPr b="0" sz="1400">
                <a:solidFill>
                  <a:srgbClr val="000000"/>
                </a:solidFill>
              </a:rPr>
              <a:t> — no admitted source</a:t>
            </a:r>
          </a:p>
          <a:p>
            <a:pPr/>
            <a:r>
              <a:rPr b="0" sz="1400">
                <a:solidFill>
                  <a:srgbClr val="000000"/>
                </a:solidFill>
              </a:rPr>
              <a:t>rule_id: RULE-G3-v0</a:t>
            </a:r>
          </a:p>
          <a:p>
            <a:pPr/>
            <a:r>
              <a:rPr b="0" sz="1400">
                <a:solidFill>
                  <a:srgbClr val="000000"/>
                </a:solidFill>
              </a:rPr>
              <a:t>signal: Test for stable series IDs across vintages and a published crosswalk when a classification or geography changes.</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a:p>
            <a:r>
              <a:rPr sz="800"/>
              <a:t/>
            </a:r>
          </a:p>
          <a:p>
            <a:pPr/>
            <a:r>
              <a:rPr b="0" sz="1400">
                <a:solidFill>
                  <a:srgbClr val="000000"/>
                </a:solidFill>
              </a:rPr>
              <a:t>Evidence cell, verbatim:</a:t>
            </a:r>
          </a:p>
          <a:p>
            <a:r>
              <a:rPr sz="800"/>
              <a:t/>
            </a:r>
          </a:p>
          <a:p>
            <a:pPr/>
            <a:r>
              <a:rPr b="1" sz="1400">
                <a:solidFill>
                  <a:srgbClr val="000000"/>
                </a:solidFill>
              </a:rPr>
              <a:t>gap</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G3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appendix/indicator_G3.md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tier_rule: cc_tasks/2026-09-17_unassigned_indicators.md decision 2, no test reaches it</a:t>
            </a:r>
          </a:p>
          <a:p>
            <a:pPr/>
            <a:r>
              <a:rPr b="0" sz="1400">
                <a:solidFill>
                  <a:srgbClr val="000000"/>
                </a:solidFill>
              </a:rPr>
              <a:t>tier_unassigned_reason: cc_tasks/2026-09-17_unassigned_indicators.md decision 5: a corpus document names the artifact the crosswalk would be, and no collector reads it. corpus/kernel/sdmx-3-0-section-1-framework.pdf (doc_id sdmx-3-0-section-1-framework) defines the Structure Map — "Structure maps describes a mapping between data structure definitions or dataflows for the purpose of transforming a data set into a different structure" — and the representation maps that map value and code lists. No collector in docs/design/scan_tool_map.md §1 reads SDMX, so decision 2's second half fails and the tier stays undetermined. Candidate: M, harness_leg, once an SDMX collector exists; the stable-series-ID half would be DCAT-US 3 previousVersion and hasCurrentVersion through dcat.fetch_catalog.</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G4: The issuing authority of a data product is carried as machine-readable metadata on the product, in the fields DCAT-US defines (publisher, bureauCode, programCode)</a:t>
            </a:r>
          </a:p>
          <a:p>
            <a:r>
              <a:rPr sz="800"/>
              <a:t/>
            </a:r>
          </a:p>
          <a:p>
            <a:pPr/>
            <a:r>
              <a:rPr b="0" sz="1400">
                <a:solidFill>
                  <a:srgbClr val="000000"/>
                </a:solidFill>
              </a:rPr>
              <a:t>Record node ind:G4. Every value below is a field of that node or of an edge or node it reaches, printed verbatim.</a:t>
            </a:r>
          </a:p>
          <a:p>
            <a:r>
              <a:rPr sz="800"/>
              <a:t/>
            </a:r>
          </a:p>
          <a:p>
            <a:pPr/>
            <a:r>
              <a:rPr b="0" sz="1400">
                <a:solidFill>
                  <a:srgbClr val="000000"/>
                </a:solidFill>
              </a:rPr>
              <a:t>criterion: G</a:t>
            </a:r>
          </a:p>
          <a:p>
            <a:pPr/>
            <a:r>
              <a:rPr b="0" sz="1400">
                <a:solidFill>
                  <a:srgbClr val="000000"/>
                </a:solidFill>
              </a:rPr>
              <a:t>construct: Authority metadata</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harness_leg</a:t>
            </a:r>
          </a:p>
          <a:p>
            <a:pPr/>
            <a:r>
              <a:rPr b="0" sz="1400">
                <a:solidFill>
                  <a:srgbClr val="000000"/>
                </a:solidFill>
              </a:rPr>
              <a:t>measurement status: harness_built</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G4: RULE-G4-v1</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spec:G4</a:t>
            </a:r>
          </a:p>
          <a:p>
            <a:r>
              <a:rPr sz="800"/>
              <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collector: dcat-record-fields</a:t>
            </a:r>
          </a:p>
          <a:p>
            <a:pPr/>
            <a:r>
              <a:rPr b="0" sz="1400">
                <a:solidFill>
                  <a:srgbClr val="000000"/>
                </a:solidFill>
              </a:rPr>
              <a:t>collector_pin: assessment/harness/scan/collectors/v2clauses.py dcat_record_fields (scheme 1), over dcat.fetch_catalog's D4 observation</a:t>
            </a:r>
          </a:p>
          <a:p>
            <a:pPr/>
            <a:r>
              <a:rPr b="0" sz="1400">
                <a:solidFill>
                  <a:srgbClr val="000000"/>
                </a:solidFill>
              </a:rPr>
              <a:t>evidence_kind: D4's catalog document + per-record field profile</a:t>
            </a:r>
          </a:p>
          <a:p>
            <a:pPr/>
            <a:r>
              <a:rPr b="0" sz="1400">
                <a:solidFill>
                  <a:srgbClr val="000000"/>
                </a:solidFill>
              </a:rPr>
              <a:t>indicator_code: G4</a:t>
            </a:r>
          </a:p>
          <a:p>
            <a:pPr/>
            <a:r>
              <a:rPr b="0" sz="1400">
                <a:solidFill>
                  <a:srgbClr val="000000"/>
                </a:solidFill>
              </a:rPr>
              <a:t>leg: G4</a:t>
            </a:r>
          </a:p>
          <a:p>
            <a:pPr/>
            <a:r>
              <a:rPr b="0" sz="1400">
                <a:solidFill>
                  <a:srgbClr val="000000"/>
                </a:solidFill>
              </a:rPr>
              <a:t>mode: auto</a:t>
            </a:r>
          </a:p>
          <a:p>
            <a:pPr/>
            <a:r>
              <a:rPr b="0" sz="1400">
                <a:solidFill>
                  <a:srgbClr val="000000"/>
                </a:solidFill>
              </a:rPr>
              <a:t>note: The statutory-mandate and statistical-versus-administrative clauses have no field in any admitted document and are recorded as unmeasured.</a:t>
            </a:r>
          </a:p>
          <a:p>
            <a:pPr/>
            <a:r>
              <a:rPr b="0" sz="1400">
                <a:solidFill>
                  <a:srgbClr val="000000"/>
                </a:solidFill>
              </a:rPr>
              <a:t>prior_art: dcat-us-1-1-schema</a:t>
            </a:r>
          </a:p>
          <a:p>
            <a:pPr/>
            <a:r>
              <a:rPr b="0" sz="1400">
                <a:solidFill>
                  <a:srgbClr val="000000"/>
                </a:solidFill>
              </a:rPr>
              <a:t>rule_id: RULE-G4-v1</a:t>
            </a:r>
          </a:p>
          <a:p>
            <a:pPr/>
            <a:r>
              <a:rPr b="0" sz="1400">
                <a:solidFill>
                  <a:srgbClr val="000000"/>
                </a:solidFill>
              </a:rPr>
              <a:t>signal: On D4's /data.json observation, test whether every catalog record for the product carries a well-formed bureauCode and programCode.</a:t>
            </a:r>
          </a:p>
          <a:p>
            <a:r>
              <a:rPr sz="800"/>
              <a:t/>
            </a:r>
          </a:p>
          <a:p>
            <a:pPr/>
            <a:r>
              <a:rPr b="1" sz="1400">
                <a:solidFill>
                  <a:srgbClr val="000000"/>
                </a:solidFill>
              </a:rPr>
              <a:t>Evidence</a:t>
            </a:r>
          </a:p>
          <a:p>
            <a:r>
              <a:rPr sz="800"/>
              <a:t/>
            </a:r>
          </a:p>
          <a:p>
            <a:pPr/>
            <a:r>
              <a:rPr b="1" sz="1400">
                <a:solidFill>
                  <a:srgbClr val="000000"/>
                </a:solidFill>
              </a:rPr>
              <a:t>doc_id · doc_type · title · locator (evidence cell)</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dcat-us-1-1-schema · federal · DCAT-US Schema v1.1 (Project Open Data Metadata Schema) - resources.data.gov · Dataset Required Fields and the field definitions, which support the issuing-authority clause and define the fields RULE-G4-v1 tests: Publisher, "The publishing entity and optionally their parent organization(s)."; bureauCode, required "Yes, for United States Federal Government agencies", "Represent each bureau responsible for the dataset according to the codes found in OMB Circular A-11, Appendix C"; programCode, "Provide an array of programs related to this data asset"</a:t>
            </a:r>
          </a:p>
          <a:p>
            <a:pPr/>
            <a:r>
              <a:rPr b="0" sz="1400">
                <a:solidFill>
                  <a:srgbClr val="000000"/>
                </a:solidFill>
              </a:rPr>
              <a:t>dcat-us-3-dataset-schema · standard · DCAT-US 3.0 Schema: Dataset (resources.data.gov) · Dataset, publisher, Mandatory, for the issuing-authority clause: "Organization responsible for publishing and making the dataset available"</a:t>
            </a:r>
          </a:p>
          <a:p>
            <a:pPr/>
            <a:r>
              <a:rPr b="0" sz="1400">
                <a:solidFill>
                  <a:srgbClr val="000000"/>
                </a:solidFill>
              </a:rPr>
              <a:t>dcat-us-3-overview · standard · DCAT-US 3.0 Overview (resources.data.gov) · Changes from v1.1, Fields not in the v3.0 core schema, on the bureau and program codes RULE-G4-v1 tests: "The following fields were introduced in v1.1 specifically for U.S. federal agencies. They are not defined in the v3.0 core schema however the v3.0 schema will not reject records that include them."</a:t>
            </a:r>
          </a:p>
          <a:p>
            <a:pPr/>
            <a:r>
              <a:rPr b="0" sz="1400">
                <a:solidFill>
                  <a:srgbClr val="000000"/>
                </a:solidFill>
              </a:rPr>
              <a:t>schema-org-dataset · standard · schema.org: Dataset · sourceOrganization, for the issuing-authority clause: "The Organization on whose behalf the creator was working."</a:t>
            </a:r>
          </a:p>
          <a:p>
            <a:pPr/>
            <a:r>
              <a:rPr b="0" sz="1400">
                <a:solidFill>
                  <a:srgbClr val="000000"/>
                </a:solidFill>
              </a:rPr>
              <a:t>w3c-dcat-3 · standard · Data Catalog Vocabulary (DCAT) - Version 3 (W3C Recommendation) · §6.4.10 Property: publisher, dcterms:publisher, for the issuing-authority clause: "The entity responsible for making the resource available."</a:t>
            </a:r>
          </a:p>
          <a:p>
            <a:pPr/>
            <a:r>
              <a:rPr b="0" sz="1400">
                <a:solidFill>
                  <a:srgbClr val="000000"/>
                </a:solidFill>
              </a:rPr>
              <a:t>w3c-prov-o-ontology · standard · PROV-O: The PROV Ontology (W3C Recommendation, 30 April 2013) · prov:wasAttributedTo, the issuing-authority clause as a provenance relation: "Attribution is the ascribing of an entity to an agent."</a:t>
            </a:r>
          </a:p>
          <a:p>
            <a:r>
              <a:rPr sz="800"/>
              <a:t/>
            </a:r>
          </a:p>
          <a:p>
            <a:pPr/>
            <a:r>
              <a:rPr b="0" sz="1400">
                <a:solidFill>
                  <a:srgbClr val="000000"/>
                </a:solidFill>
              </a:rPr>
              <a:t>Evidence cell, verbatim:</a:t>
            </a:r>
          </a:p>
          <a:p>
            <a:r>
              <a:rPr sz="800"/>
              <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dcat-us-1-1-schema (Dataset Required Fields and the field definitions, which support the issuing-authority clause and define the fields RULE-G4-v1 tests: Publisher, "The publishing entity and optionally their parent organization(s)."; bureauCode, required "Yes, for United States Federal Government agencies", "Represent each bureau responsible for the dataset according to the codes found in OMB Circular A-11, Appendix C"; programCode, "Provide an array of programs related to this data asset"); dcat-us-3-dataset-schema (Dataset, publisher, Mandatory, for the issuing-authority clause: "Organization responsible for publishing and making the dataset available"); dcat-us-3-overview (Changes from v1.1, Fields not in the v3.0 core schema, on the bureau and program codes RULE-G4-v1 tests: "The following fields were introduced in v1.1 specifically for U.S. federal agencies. They are not defined in the v3.0 core schema however the v3.0 schema will not reject records that include them."); w3c-dcat-3 (§6.4.10 Property: publisher, dcterms:publisher, for the issuing-authority clause: "The entity responsible for making the resource available."); w3c-prov-o-ontology (prov:wasAttributedTo, the issuing-authority clause as a provenance relation: "Attribution is the ascribing of an entity to an agent."); schema-org-dataset (sourceOrganization, for the issuing-authority clause: "The Organization on whose behalf the creator was working.")</a:t>
            </a:r>
          </a:p>
          <a:p>
            <a:r>
              <a:rPr sz="800"/>
              <a:t/>
            </a:r>
          </a:p>
          <a:p>
            <a:pPr/>
            <a:r>
              <a:rPr b="1" sz="1400">
                <a:solidFill>
                  <a:srgbClr val="000000"/>
                </a:solidFill>
              </a:rPr>
              <a:t>Actions (prescriptions)</a:t>
            </a:r>
          </a:p>
          <a:p>
            <a:r>
              <a:rPr sz="800"/>
              <a:t/>
            </a:r>
          </a:p>
          <a:p>
            <a:pPr/>
            <a:r>
              <a:rPr b="1" sz="1400">
                <a:solidFill>
                  <a:srgbClr val="000000"/>
                </a:solidFill>
              </a:rPr>
              <a:t>action · title · outcome · rule · effort · cost</a:t>
            </a:r>
          </a:p>
          <a:p>
            <a:pPr/>
            <a:r>
              <a:rPr b="0" sz="1400">
                <a:solidFill>
                  <a:srgbClr val="000000"/>
                </a:solidFill>
              </a:rPr>
              <a:t>act:g4-carry-bureau-and-program-codes-on-the-record · Carry bureauCode and programCode on the product's catalog record · authority_codes_absent · RULE-G4-v1 · hours · none</a:t>
            </a:r>
          </a:p>
          <a:p>
            <a:pPr/>
            <a:r>
              <a:rPr b="0" sz="1400">
                <a:solidFill>
                  <a:srgbClr val="000000"/>
                </a:solidFill>
              </a:rPr>
              <a:t>act:g4-publish-the-products-record-with-its-authority-codes · Publish the product's catalog record carrying its bureau and program codes · no_product_record · RULE-G4-v1 · days · staff_time</a:t>
            </a:r>
          </a:p>
          <a:p>
            <a:r>
              <a:rPr sz="800"/>
              <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G4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appendix/indicator_G4.md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0" sz="1400">
                <a:solidFill>
                  <a:srgbClr val="000000"/>
                </a:solidFill>
              </a:rPr>
              <a:t>requirement_none_reason: The statutory-mandate and statistical-versus-administrative clauses have no field in any admitted document. What is missing is a standard, not a tool or a grant.</a:t>
            </a:r>
          </a:p>
          <a:p>
            <a:r>
              <a:rPr sz="800"/>
              <a:t/>
            </a:r>
          </a:p>
          <a:p>
            <a:pPr/>
            <a:r>
              <a:rPr b="1" sz="1400">
                <a:solidFill>
                  <a:srgbClr val="000000"/>
                </a:solidFill>
              </a:rPr>
              <a:t>Verdicts on the cycle of record (scan_2026-09-10_rj4)</a:t>
            </a:r>
          </a:p>
          <a:p>
            <a:r>
              <a:rPr sz="800"/>
              <a:t/>
            </a:r>
          </a:p>
          <a:p>
            <a:pPr/>
            <a:r>
              <a:rPr b="1" sz="1400">
                <a:solidFill>
                  <a:srgbClr val="000000"/>
                </a:solidFill>
              </a:rPr>
              <a:t>leg · matrix · pass · fail · not_applicable · error · cells</a:t>
            </a:r>
          </a:p>
          <a:p>
            <a:pPr/>
            <a:r>
              <a:rPr b="0" sz="1400">
                <a:solidFill>
                  <a:srgbClr val="000000"/>
                </a:solidFill>
              </a:rPr>
              <a:t>G4 · product · 1 · 18 · 0 · 4 · 23</a:t>
            </a:r>
          </a:p>
          <a:p>
            <a:r>
              <a:rPr sz="800"/>
              <a:t/>
            </a:r>
          </a:p>
          <a:p>
            <a:pPr/>
            <a:r>
              <a:rPr b="1" sz="1400">
                <a:solidFill>
                  <a:srgbClr val="000000"/>
                </a:solidFill>
              </a:rPr>
              <a:t>Other record fields</a:t>
            </a:r>
          </a:p>
          <a:p>
            <a:r>
              <a:rPr sz="800"/>
              <a:t/>
            </a:r>
          </a:p>
          <a:p>
            <a:pPr/>
            <a:r>
              <a:rPr b="0" sz="1400">
                <a:solidFill>
                  <a:srgbClr val="000000"/>
                </a:solidFill>
              </a:rPr>
              <a:t>tier_note: The rule measures the issuing-authority clause (bureauCode and programCode, well-formed) on the product's catalog record. The statutory-mandate and statistical-versus-administrative clauses have no field in any admitted document and are recorded as unmeasured.</a:t>
            </a:r>
          </a:p>
          <a:p>
            <a:pPr/>
            <a:r>
              <a:rPr b="0" sz="1400">
                <a:solidFill>
                  <a:srgbClr val="000000"/>
                </a:solidFill>
              </a:rPr>
              <a:t>tier_rule: cc_tasks/2026-09-17_measurement_tiers.md decision 2 rule 1</a:t>
            </a:r>
          </a:p>
          <a:p>
            <a:pPr/>
            <a:r>
              <a:rPr b="0" sz="1400">
                <a:solidFill>
                  <a:srgbClr val="000000"/>
                </a:solidFill>
              </a:rPr>
              <a:t>tier_source: rules.CURRENT['G4'] = RULE-G4-v1 (assessment/harness/scan/rules/__init__.py); measurement spec spec:G4</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G5: Suppression and disclosure-avoidance documented machine-readably with unique identifiers (strengthens the guide's own bullet from prose to spec)</a:t>
            </a:r>
          </a:p>
          <a:p>
            <a:r>
              <a:rPr sz="800"/>
              <a:t/>
            </a:r>
          </a:p>
          <a:p>
            <a:pPr/>
            <a:r>
              <a:rPr b="0" sz="1400">
                <a:solidFill>
                  <a:srgbClr val="000000"/>
                </a:solidFill>
              </a:rPr>
              <a:t>Record node ind:G5. Every value below is a field of that node or of an edge or node it reaches, printed verbatim.</a:t>
            </a:r>
          </a:p>
          <a:p>
            <a:r>
              <a:rPr sz="800"/>
              <a:t/>
            </a:r>
          </a:p>
          <a:p>
            <a:pPr/>
            <a:r>
              <a:rPr b="0" sz="1400">
                <a:solidFill>
                  <a:srgbClr val="000000"/>
                </a:solidFill>
              </a:rPr>
              <a:t>criterion: G</a:t>
            </a:r>
          </a:p>
          <a:p>
            <a:pPr/>
            <a:r>
              <a:rPr b="0" sz="1400">
                <a:solidFill>
                  <a:srgbClr val="000000"/>
                </a:solidFill>
              </a:rPr>
              <a:t>construct: Disclosure semantics</a:t>
            </a:r>
          </a:p>
          <a:p>
            <a:pPr/>
            <a:r>
              <a:rPr b="0" sz="1400">
                <a:solidFill>
                  <a:srgbClr val="000000"/>
                </a:solidFill>
              </a:rPr>
              <a:t>type: DOC</a:t>
            </a:r>
          </a:p>
          <a:p>
            <a:pPr/>
            <a:r>
              <a:rPr b="0" sz="1400">
                <a:solidFill>
                  <a:srgbClr val="000000"/>
                </a:solidFill>
              </a:rPr>
              <a:t>access tier (tier): agency_instrumented</a:t>
            </a:r>
          </a:p>
          <a:p>
            <a:pPr/>
            <a:r>
              <a:rPr b="0" sz="1400">
                <a:solidFill>
                  <a:srgbClr val="000000"/>
                </a:solidFill>
              </a:rPr>
              <a:t>measurement tier: unassigned</a:t>
            </a:r>
          </a:p>
          <a:p>
            <a:pPr/>
            <a:r>
              <a:rPr b="0" sz="1400">
                <a:solidFill>
                  <a:srgbClr val="000000"/>
                </a:solidFill>
              </a:rPr>
              <a:t>measurement basis: </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a:p>
            <a:r>
              <a:rPr sz="800"/>
              <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appendix/indicator_G5.md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usafacts-ai-ready-data-guide · practitioner · AI-Ready Data: Ensuring Public Data Meets the Needs of AI and the American Public — The USAFacts Guide to AI-Ready Data for Government Agencies · general support; no pinpoint</a:t>
            </a:r>
          </a:p>
          <a:p>
            <a:r>
              <a:rPr sz="800"/>
              <a:t/>
            </a:r>
          </a:p>
          <a:p>
            <a:pPr/>
            <a:r>
              <a:rPr b="0" sz="1400">
                <a:solidFill>
                  <a:srgbClr val="000000"/>
                </a:solidFill>
              </a:rPr>
              <a:t>Evidence cell, verbatim:</a:t>
            </a:r>
          </a:p>
          <a:p>
            <a:r>
              <a:rPr sz="800"/>
              <a:t/>
            </a:r>
          </a:p>
          <a:p>
            <a:pPr/>
            <a:r>
              <a:rPr b="0" sz="1400">
                <a:solidFill>
                  <a:srgbClr val="000000"/>
                </a:solidFill>
              </a:rPr>
              <a:t>usafacts-ai-ready-data-guide</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0" sz="1400">
                <a:solidFill>
                  <a:srgbClr val="000000"/>
                </a:solidFill>
              </a:rPr>
              <a:t>No REQUIRES edge.</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G5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appendix/indicator_G5.md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Other record fields</a:t>
            </a:r>
          </a:p>
          <a:p>
            <a:r>
              <a:rPr sz="800"/>
              <a:t/>
            </a:r>
          </a:p>
          <a:p>
            <a:pPr/>
            <a:r>
              <a:rPr b="0" sz="1400">
                <a:solidFill>
                  <a:srgbClr val="000000"/>
                </a:solidFill>
              </a:rPr>
              <a:t>tier_rule: cc_tasks/2026-09-17_unassigned_indicators.md decision 2, no test reaches it</a:t>
            </a:r>
          </a:p>
          <a:p>
            <a:pPr/>
            <a:r>
              <a:rPr b="0" sz="1400">
                <a:solidFill>
                  <a:srgbClr val="000000"/>
                </a:solidFill>
              </a:rPr>
              <a:t>tier_unassigned_reason: cc_tasks/2026-09-17_unassigned_indicators.md decision 2: no admitted document names a machine-readable suppression or disclosure field. The search that failed: suppress, confidential and disclosure across corpus/kernel, corpus/crosswalk and corpus/components — the only hit is bing-webmaster-guidelines, on search-result suppression — and across the SDMX 3.0 §1 and DDI codebook texts. The indicator's own source, usafacts-ai-ready-data-guide, asks publishers to "Properly identify and document suppressed data (e.g., in very small counties) in plain language with unique identifiers": plain language is the prose this indicator says it strengthens, and the field that would replace it does not exist in any admitted document. Stays unassigned.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G6</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G6: Collection instrument/protocol carried as a versioned epoch on the series; changes annotated machine-readably with reason and inter-epoch crosswalk (SDMX break-in-series class metadata). The consumer-side test: an AI system asked to compare values across a break must surface the break</a:t>
            </a:r>
          </a:p>
          <a:p>
            <a:r>
              <a:rPr sz="800"/>
              <a:t/>
            </a:r>
          </a:p>
          <a:p>
            <a:pPr/>
            <a:r>
              <a:rPr b="0" sz="1400">
                <a:solidFill>
                  <a:srgbClr val="000000"/>
                </a:solidFill>
              </a:rPr>
              <a:t>Record node ind:G6. Every value below is a field of that node or of an edge or node it reaches, printed verbatim.</a:t>
            </a:r>
          </a:p>
          <a:p>
            <a:r>
              <a:rPr sz="800"/>
              <a:t/>
            </a:r>
          </a:p>
          <a:p>
            <a:pPr/>
            <a:r>
              <a:rPr b="0" sz="1400">
                <a:solidFill>
                  <a:srgbClr val="000000"/>
                </a:solidFill>
              </a:rPr>
              <a:t>criterion: G</a:t>
            </a:r>
          </a:p>
          <a:p>
            <a:pPr/>
            <a:r>
              <a:rPr b="0" sz="1400">
                <a:solidFill>
                  <a:srgbClr val="000000"/>
                </a:solidFill>
              </a:rPr>
              <a:t>construct: Measurement-protocol provenance</a:t>
            </a:r>
          </a:p>
          <a:p>
            <a:pPr/>
            <a:r>
              <a:rPr b="0" sz="1400">
                <a:solidFill>
                  <a:srgbClr val="000000"/>
                </a:solidFill>
              </a:rPr>
              <a:t>type: DOC + EVAL</a:t>
            </a:r>
          </a:p>
          <a:p>
            <a:pPr/>
            <a:r>
              <a:rPr b="0" sz="1400">
                <a:solidFill>
                  <a:srgbClr val="000000"/>
                </a:solidFill>
              </a:rPr>
              <a:t>access tier (tier): agency_instrumented</a:t>
            </a:r>
          </a:p>
          <a:p>
            <a:pPr/>
            <a:r>
              <a:rPr b="0" sz="1400">
                <a:solidFill>
                  <a:srgbClr val="000000"/>
                </a:solidFill>
              </a:rPr>
              <a:t>measurement tier: M</a:t>
            </a:r>
          </a:p>
          <a:p>
            <a:pPr/>
            <a:r>
              <a:rPr b="0" sz="1400">
                <a:solidFill>
                  <a:srgbClr val="000000"/>
                </a:solidFill>
              </a:rPr>
              <a:t>measurement basis: judged_reading</a:t>
            </a:r>
          </a:p>
          <a:p>
            <a:pPr/>
            <a:r>
              <a:rPr b="0" sz="1400">
                <a:solidFill>
                  <a:srgbClr val="000000"/>
                </a:solidFill>
              </a:rPr>
              <a:t>measurement status: specified</a:t>
            </a:r>
          </a:p>
          <a:p>
            <a:pPr/>
            <a:r>
              <a:rPr b="0" sz="1400">
                <a:solidFill>
                  <a:srgbClr val="000000"/>
                </a:solidFill>
              </a:rPr>
              <a:t>status: draft</a:t>
            </a:r>
          </a:p>
          <a:p>
            <a:pPr/>
            <a:r>
              <a:rPr b="0" sz="1400">
                <a:solidFill>
                  <a:srgbClr val="000000"/>
                </a:solidFill>
              </a:rPr>
              <a:t>candidate (DD-054): no</a:t>
            </a:r>
          </a:p>
          <a:p>
            <a:pPr/>
            <a:r>
              <a:rPr b="0" sz="1400">
                <a:solidFill>
                  <a:srgbClr val="000000"/>
                </a:solidFill>
              </a:rPr>
              <a:t>current rule: none</a:t>
            </a:r>
          </a:p>
          <a:p>
            <a:pPr/>
            <a:r>
              <a:rPr b="0" sz="1400">
                <a:solidFill>
                  <a:srgbClr val="000000"/>
                </a:solidFill>
              </a:rPr>
              <a:t>gap: </a:t>
            </a:r>
          </a:p>
          <a:p>
            <a:r>
              <a:rPr sz="800"/>
              <a:t/>
            </a:r>
          </a:p>
          <a:p>
            <a:pPr/>
            <a:r>
              <a:rPr b="1" sz="1400">
                <a:solidFill>
                  <a:srgbClr val="000000"/>
                </a:solidFill>
              </a:rPr>
              <a:t>Measurement spec</a:t>
            </a:r>
          </a:p>
          <a:p>
            <a:r>
              <a:rPr sz="800"/>
              <a:t/>
            </a:r>
          </a:p>
          <a:p>
            <a:pPr/>
            <a:r>
              <a:rPr b="0" sz="1400">
                <a:solidFill>
                  <a:srgbClr val="000000"/>
                </a:solidFill>
              </a:rPr>
              <a:t>No MEASURED_BY edge in the record.</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appendix/indicator_G6.md</a:t>
            </a:r>
          </a:p>
        </p:txBody>
      </p:sp>
      <p:sp>
        <p:nvSpPr>
          <p:cNvPr id="4" name="TextBox 3"/>
          <p:cNvSpPr txBox="1"/>
          <p:nvPr/>
        </p:nvSpPr>
        <p:spPr>
          <a:xfrm>
            <a:off x="457200" y="1325880"/>
            <a:ext cx="11274552" cy="5029200"/>
          </a:xfrm>
          <a:prstGeom prst="rect">
            <a:avLst/>
          </a:prstGeom>
          <a:noFill/>
        </p:spPr>
        <p:txBody>
          <a:bodyPr wrap="square">
            <a:spAutoFit/>
          </a:bodyPr>
          <a:lstStyle/>
          <a:p>
            <a:r>
              <a:rPr sz="800"/>
              <a:t/>
            </a:r>
          </a:p>
          <a:p>
            <a:pPr/>
            <a:r>
              <a:rPr b="1" sz="1400">
                <a:solidFill>
                  <a:srgbClr val="000000"/>
                </a:solidFill>
              </a:rPr>
              <a:t>Evidence</a:t>
            </a:r>
          </a:p>
          <a:p>
            <a:r>
              <a:rPr sz="800"/>
              <a:t/>
            </a:r>
          </a:p>
          <a:p>
            <a:pPr/>
            <a:r>
              <a:rPr b="1" sz="1400">
                <a:solidFill>
                  <a:srgbClr val="000000"/>
                </a:solidFill>
              </a:rPr>
              <a:t>doc_id · doc_type · title · locator (evidence cell)</a:t>
            </a:r>
          </a:p>
          <a:p>
            <a:pPr/>
            <a:r>
              <a:rPr b="0" sz="1400">
                <a:solidFill>
                  <a:srgbClr val="000000"/>
                </a:solidFill>
              </a:rPr>
              <a:t>odcs-open-data-contract-standard · standard · Open Data Contract Standard (ODCS) — Definition · general support; no pinpoint</a:t>
            </a:r>
          </a:p>
          <a:p>
            <a:pPr/>
            <a:r>
              <a:rPr b="0" sz="1400">
                <a:solidFill>
                  <a:srgbClr val="000000"/>
                </a:solidFill>
              </a:rPr>
              <a:t>sdmx-3-0-section-1-framework · standard · SDMX 3.0 Technical Specifications, Section 1: Framework for SDMX Technical Standards · general support; no pinpoint</a:t>
            </a:r>
          </a:p>
          <a:p>
            <a:pPr/>
            <a:r>
              <a:rPr b="0" sz="1400">
                <a:solidFill>
                  <a:srgbClr val="000000"/>
                </a:solidFill>
              </a:rPr>
              <a:t>sdmx-standards-overview · standard · SDMX Standards (sdmx.org standards page) · general support; no pinpoint</a:t>
            </a:r>
          </a:p>
          <a:p>
            <a:r>
              <a:rPr sz="800"/>
              <a:t/>
            </a:r>
          </a:p>
          <a:p>
            <a:pPr/>
            <a:r>
              <a:rPr b="0" sz="1400">
                <a:solidFill>
                  <a:srgbClr val="000000"/>
                </a:solidFill>
              </a:rPr>
              <a:t>Evidence cell, verbatim:</a:t>
            </a:r>
          </a:p>
          <a:p>
            <a:r>
              <a:rPr sz="800"/>
              <a:t/>
            </a:r>
          </a:p>
          <a:p>
            <a:pPr/>
            <a:r>
              <a:rPr b="0" sz="1400">
                <a:solidFill>
                  <a:srgbClr val="000000"/>
                </a:solidFill>
              </a:rPr>
              <a:t>sdmx-3-0-section-1-framework; sdmx-standards-overview; odcs-open-data-contract-standard</a:t>
            </a:r>
          </a:p>
          <a:p>
            <a:r>
              <a:rPr sz="800"/>
              <a:t/>
            </a:r>
          </a:p>
          <a:p>
            <a:pPr/>
            <a:r>
              <a:rPr b="1" sz="1400">
                <a:solidFill>
                  <a:srgbClr val="000000"/>
                </a:solidFill>
              </a:rPr>
              <a:t>Actions (prescriptions)</a:t>
            </a:r>
          </a:p>
          <a:p>
            <a:r>
              <a:rPr sz="800"/>
              <a:t/>
            </a:r>
          </a:p>
          <a:p>
            <a:pPr/>
            <a:r>
              <a:rPr b="0" sz="1400">
                <a:solidFill>
                  <a:srgbClr val="000000"/>
                </a:solidFill>
              </a:rPr>
              <a:t>No REMEDIATES edge reaches this indicator.</a:t>
            </a:r>
          </a:p>
          <a:p>
            <a:r>
              <a:rPr sz="800"/>
              <a:t/>
            </a:r>
          </a:p>
          <a:p>
            <a:pPr/>
            <a:r>
              <a:rPr b="1" sz="1400">
                <a:solidFill>
                  <a:srgbClr val="000000"/>
                </a:solidFill>
              </a:rPr>
              <a:t>Requirements (what stands between it and a verdict)</a:t>
            </a:r>
          </a:p>
          <a:p>
            <a:r>
              <a:rPr sz="800"/>
              <a:t/>
            </a:r>
          </a:p>
          <a:p>
            <a:pPr/>
            <a:r>
              <a:rPr b="1" sz="1400">
                <a:solidFill>
                  <a:srgbClr val="000000"/>
                </a:solidFill>
              </a:rPr>
              <a:t>requires · kind · closes · route · test</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Indicator G6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appendix/indicator_G6.md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pre:series-break-cases · benchmark_set · tier · break_cases · whether an AI consumer comparing values across a break surfaces the break</a:t>
            </a:r>
          </a:p>
          <a:p>
            <a:r>
              <a:rPr sz="800"/>
              <a:t/>
            </a:r>
          </a:p>
          <a:p>
            <a:pPr/>
            <a:r>
              <a:rPr b="1" sz="1400">
                <a:solidFill>
                  <a:srgbClr val="000000"/>
                </a:solidFill>
              </a:rPr>
              <a:t>Verdicts on the cycle of record (scan_2026-09-10_rj4)</a:t>
            </a:r>
          </a:p>
          <a:p>
            <a:r>
              <a:rPr sz="800"/>
              <a:t/>
            </a:r>
          </a:p>
          <a:p>
            <a:pPr/>
            <a:r>
              <a:rPr b="0" sz="1400">
                <a:solidFill>
                  <a:srgbClr val="000000"/>
                </a:solidFill>
              </a:rPr>
              <a:t>No leg of this indicator is a column of the cycle of record's matrices.</a:t>
            </a:r>
          </a:p>
          <a:p>
            <a:r>
              <a:rPr sz="800"/>
              <a:t/>
            </a:r>
          </a:p>
          <a:p>
            <a:pPr/>
            <a:r>
              <a:rPr b="1" sz="1400">
                <a:solidFill>
                  <a:srgbClr val="000000"/>
                </a:solidFill>
              </a:rPr>
              <a:t>Other record fields</a:t>
            </a:r>
          </a:p>
          <a:p>
            <a:r>
              <a:rPr sz="800"/>
              <a:t/>
            </a:r>
          </a:p>
          <a:p>
            <a:pPr/>
            <a:r>
              <a:rPr b="0" sz="1400">
                <a:solidFill>
                  <a:srgbClr val="000000"/>
                </a:solidFill>
              </a:rPr>
              <a:t>tier_note: The consumer-side half is a G1-style preservation test (does the restatement keep the qualifier); the declared half, the versioned epoch carried as metadata, is a structured-field test no rule makes yet.</a:t>
            </a:r>
          </a:p>
          <a:p>
            <a:pPr/>
            <a:r>
              <a:rPr b="0" sz="1400">
                <a:solidFill>
                  <a:srgbClr val="000000"/>
                </a:solidFill>
              </a:rPr>
              <a:t>tier_rule: cc_tasks/2026-09-17_measurement_tiers.md decision 2 rule 4</a:t>
            </a:r>
          </a:p>
          <a:p>
            <a:pPr/>
            <a:r>
              <a:rPr b="0" sz="1400">
                <a:solidFill>
                  <a:srgbClr val="000000"/>
                </a:solidFill>
              </a:rPr>
              <a:t>tier_source: docs/design/scan_tool_map.md §2 at commit 52af6c7 (verdict content-evaluation), confirmed against the definition; instrument: the G1 instrument: DD-036 (docs/design_decisions.md), assessment/harness/probes/g1_preservation.py, frozen at v2; definition of ind:G6: "The consumer-side test: an AI system asked to compare values across a break must surface the break"</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RULE-A1-v1 · superseded · existence · product · A1 — machine-readable formats: the product is available as structured data, not PDF-only.</a:t>
            </a:r>
          </a:p>
          <a:p>
            <a:pPr/>
            <a:r>
              <a:rPr b="0" sz="1800">
                <a:solidFill>
                  <a:srgbClr val="000000"/>
                </a:solidFill>
              </a:rPr>
              <a:t>RULE-A1-v2 · superseded · existence · product · A1 v2 — machine-readable formats, classified on what each link SERVES.</a:t>
            </a:r>
          </a:p>
          <a:p>
            <a:pPr/>
            <a:r>
              <a:rPr b="0" sz="1800">
                <a:solidFill>
                  <a:srgbClr val="000000"/>
                </a:solidFill>
              </a:rPr>
              <a:t>RULE-A1-v3 · superseded · existence · product · A1 v3 — machine-readable formats, judged from the SHARED per-surface link probe.</a:t>
            </a:r>
          </a:p>
          <a:p>
            <a:pPr/>
            <a:r>
              <a:rPr b="0" sz="1800">
                <a:solidFill>
                  <a:srgbClr val="000000"/>
                </a:solidFill>
              </a:rPr>
              <a:t>RULE-A1-v4 · current · existence · product · A1 v4 — a link nobody observed is not a format the product fails to offer.</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RULE-A2-v1 · superseded · absence · product · A2 — programmatic access: a documented public API with a machine-readable description.</a:t>
            </a:r>
          </a:p>
          <a:p>
            <a:pPr/>
            <a:r>
              <a:rPr b="0" sz="1800">
                <a:solidFill>
                  <a:srgbClr val="000000"/>
                </a:solidFill>
              </a:rPr>
              <a:t>RULE-A2-v2 · superseded · absence · product · A2 v2 — programmatic access: a machine-readable description that declares its auth model.</a:t>
            </a:r>
          </a:p>
          <a:p>
            <a:pPr/>
            <a:r>
              <a:rPr b="0" sz="1800">
                <a:solidFill>
                  <a:srgbClr val="000000"/>
                </a:solidFill>
              </a:rPr>
              <a:t>RULE-A2-v3 · current · absence · product · A2 v3 — programmatic access: a machine-readable description that declares its auth model.</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RULE-A3-v1 · superseded · absence · product · A3 — bulk access: a whole-product download exists and is linked from the product page.</a:t>
            </a:r>
          </a:p>
          <a:p>
            <a:pPr/>
            <a:r>
              <a:rPr b="0" sz="1800">
                <a:solidFill>
                  <a:srgbClr val="000000"/>
                </a:solidFill>
              </a:rPr>
              <a:t>RULE-A3-v2 · superseded · absence · product · A3 v2 — bulk access: a WHOLE-PRODUCT download, not a filtered export.</a:t>
            </a:r>
          </a:p>
          <a:p>
            <a:pPr/>
            <a:r>
              <a:rPr b="0" sz="1800">
                <a:solidFill>
                  <a:srgbClr val="000000"/>
                </a:solidFill>
              </a:rPr>
              <a:t>RULE-A3-v3 · superseded · absence · product · A3 v3 — bulk access: a WHOLE-PRODUCT download, not a filtered export.</a:t>
            </a:r>
          </a:p>
          <a:p>
            <a:pPr/>
            <a:r>
              <a:rPr b="0" sz="1800">
                <a:solidFill>
                  <a:srgbClr val="000000"/>
                </a:solidFill>
              </a:rPr>
              <a:t>RULE-A3-v4 · superseded · absence · product · A3 v4 — bulk access, judged from the SHARED per-surface link probe.</a:t>
            </a:r>
          </a:p>
          <a:p>
            <a:pPr/>
            <a:r>
              <a:rPr b="0" sz="1800">
                <a:solidFill>
                  <a:srgbClr val="000000"/>
                </a:solidFill>
              </a:rPr>
              <a:t>RULE-A3-v5 · superseded · absence · product · A3 v5 — a link nobody observed is not a bulk download the product fails to offer.</a:t>
            </a:r>
          </a:p>
          <a:p>
            <a:pPr/>
            <a:r>
              <a:rPr b="0" sz="1800">
                <a:solidFill>
                  <a:srgbClr val="000000"/>
                </a:solidFill>
              </a:rPr>
              <a:t>RULE-A3-v6 · current · absence · product · A3 v6 — a rule that could not look at the candidate does not get to say it is not there.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RULE-A4-v1 · current · existence · product · A4 — crawler/agent access: robots.txt permits retrieval for the AI-crawler UA list.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RULE-A5-v1 · superseded · absence · product · A5 — discoverability surface: a sitemap covering the product, or an equivalent.</a:t>
            </a:r>
          </a:p>
          <a:p>
            <a:pPr/>
            <a:r>
              <a:rPr b="0" sz="1800">
                <a:solidFill>
                  <a:srgbClr val="000000"/>
                </a:solidFill>
              </a:rPr>
              <a:t>RULE-A5-v2 · current · absence · product · A5 v2 — a sitemap declared on another SITE is not a discovery failure, and a discovery</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A6</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RULE-A6-v1 · superseded · existence · product · A6 — structured markup: schema.org Dataset or DCAT on the product page.</a:t>
            </a:r>
          </a:p>
          <a:p>
            <a:pPr/>
            <a:r>
              <a:rPr b="0" sz="1800">
                <a:solidFill>
                  <a:srgbClr val="000000"/>
                </a:solidFill>
              </a:rPr>
              <a:t>RULE-A6-v2 · current · existence · product · A6 v2 — structured markup that VALIDATES, not markup that merely names a type.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A8</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RULE-A8-v1 · superseded · absence · product · A8 — timeliness of surface: a machine-readable release/modification date.</a:t>
            </a:r>
          </a:p>
          <a:p>
            <a:pPr/>
            <a:r>
              <a:rPr b="0" sz="1800">
                <a:solidFill>
                  <a:srgbClr val="000000"/>
                </a:solidFill>
              </a:rPr>
              <a:t>RULE-A8-v2 · superseded · absence · product · A8 v2 — a declared vintage AND a latest-vintage pointer that resolves.</a:t>
            </a:r>
          </a:p>
          <a:p>
            <a:pPr/>
            <a:r>
              <a:rPr b="0" sz="1800">
                <a:solidFill>
                  <a:srgbClr val="000000"/>
                </a:solidFill>
              </a:rPr>
              <a:t>RULE-A8-v3 · superseded · absence · product · A8 v3 — a latest-vintage pointer must be ON THE PRODUCT'S HOST and must not be a mailing list.</a:t>
            </a:r>
          </a:p>
          <a:p>
            <a:pPr/>
            <a:r>
              <a:rPr b="0" sz="1800">
                <a:solidFill>
                  <a:srgbClr val="000000"/>
                </a:solidFill>
              </a:rPr>
              <a:t>RULE-A8-v4 · current · absence · product · A8 v4 — four states, not one boolean: resolved, observed non-resolution, blind, out of scope.</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A9</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RULE-A9-v1 · current · existence · product · A9 — M2M agent surface. FRONTIER (as_of 2026-01): reported, never in a core score.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A10</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RULE-A10-v1 · superseded · existence · product · A10 — application/data-tool machine surface: no soft-404, content before JS.</a:t>
            </a:r>
          </a:p>
          <a:p>
            <a:pPr/>
            <a:r>
              <a:rPr b="0" sz="1800">
                <a:solidFill>
                  <a:srgbClr val="000000"/>
                </a:solidFill>
              </a:rPr>
              <a:t>RULE-A10-v2 · superseded · existence · product · A10 v2 — soft-404 detection that tests the SHELL, and content before JS that is measured.</a:t>
            </a:r>
          </a:p>
          <a:p>
            <a:pPr/>
            <a:r>
              <a:rPr b="0" sz="1800">
                <a:solidFill>
                  <a:srgbClr val="000000"/>
                </a:solidFill>
              </a:rPr>
              <a:t>RULE-A10-v3 · current · existence · product · A10 v3 — an unobserved probe is never a pass.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A11-declared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RULE-A11-declared-v1 · superseded · existence · product · A11 declared leg — the DECLARED layer of the three-layer crawler-access comparison.</a:t>
            </a:r>
          </a:p>
          <a:p>
            <a:pPr/>
            <a:r>
              <a:rPr b="0" sz="1800">
                <a:solidFill>
                  <a:srgbClr val="000000"/>
                </a:solidFill>
              </a:rPr>
              <a:t>RULE-A11-declared-v2 · current · existence · product · A11-declared v2 — both declared-layer sources, and the per-UA verdicts actually read.</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A12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RULE-A12-v1 · superseded · candidate · existence · host · A12 — access policy coherence. </a:t>
            </a:r>
            <a:r>
              <a:rPr b="1" sz="1800">
                <a:solidFill>
                  <a:srgbClr val="000000"/>
                </a:solidFill>
              </a:rPr>
              <a:t>CANDIDATE (DD-054): reported, never in any fraction.</a:t>
            </a:r>
          </a:p>
          <a:p>
            <a:pPr/>
            <a:r>
              <a:rPr b="0" sz="1800">
                <a:solidFill>
                  <a:srgbClr val="000000"/>
                </a:solidFill>
              </a:rPr>
              <a:t>RULE-A12-v2 · superseded · candidate · existence · host · A12 v2 — access policy coherence, reading the refusal ON PURPOSE. </a:t>
            </a:r>
            <a:r>
              <a:rPr b="1" sz="1800">
                <a:solidFill>
                  <a:srgbClr val="000000"/>
                </a:solidFill>
              </a:rPr>
              <a:t>CANDIDATE (DD-054).</a:t>
            </a:r>
          </a:p>
          <a:p>
            <a:pPr/>
            <a:r>
              <a:rPr b="0" sz="1800">
                <a:solidFill>
                  <a:srgbClr val="000000"/>
                </a:solidFill>
              </a:rPr>
              <a:t>RULE-A12-v3 · current · candidate · existence · host · A12 v3 — access policy coherence, with a reason that describes what the host DID.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B1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RULE-B1-v1 · superseded · absence · product · B1 v1 — the DCAT half: a data dictionary is linked from the product's catalog record.</a:t>
            </a:r>
          </a:p>
          <a:p>
            <a:pPr/>
            <a:r>
              <a:rPr b="0" sz="1800">
                <a:solidFill>
                  <a:srgbClr val="000000"/>
                </a:solidFill>
              </a:rPr>
              <a:t>RULE-B1-v2 · current · absence · product · B1 v2 — variable-level metadata reachable by a machine, from the catalog OR the page.</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B2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RULE-B2-v1 · current · absence · product · B2 v1 — concept definitions published as schema.org DefinedTerms and linked from the</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B3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RULE-B3-v1 · superseded · absence · product · B3 — methodology legibility: structured text, not PDF-only, retrievable without JS.</a:t>
            </a:r>
          </a:p>
          <a:p>
            <a:pPr/>
            <a:r>
              <a:rPr b="0" sz="1800">
                <a:solidFill>
                  <a:srgbClr val="000000"/>
                </a:solidFill>
              </a:rPr>
              <a:t>RULE-B3-v2 · superseded · absence · product · B3 v2 — a methodology document that is actually retrievable without JavaScript.</a:t>
            </a:r>
          </a:p>
          <a:p>
            <a:pPr/>
            <a:r>
              <a:rPr b="0" sz="1800">
                <a:solidFill>
                  <a:srgbClr val="000000"/>
                </a:solidFill>
              </a:rPr>
              <a:t>RULE-B3-v3 · current · absence · product · B3 v3 — a methodology document nobody was allowed to fetch is not a methodology document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B4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RULE-B4-v1 · current · absence · product · B4 v1 — data-quality attributes published as metadata on the product's catalog record.</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B5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RULE-B5-v1 · current · absence · host · B5 v1 — the same concept carries the same identifier across a body's products.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D1</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RULE-D1-v1 · superseded · existence · product · D1 — licence clarity: a recognised, machine-readable licence identifier.</a:t>
            </a:r>
          </a:p>
          <a:p>
            <a:pPr/>
            <a:r>
              <a:rPr b="0" sz="1800">
                <a:solidFill>
                  <a:srgbClr val="000000"/>
                </a:solidFill>
              </a:rPr>
              <a:t>RULE-D1-v2 · superseded · existence · product · D1 v2 — a recognised licence from any of the three sources the signal names.</a:t>
            </a:r>
          </a:p>
          <a:p>
            <a:pPr/>
            <a:r>
              <a:rPr b="0" sz="1800">
                <a:solidFill>
                  <a:srgbClr val="000000"/>
                </a:solidFill>
              </a:rPr>
              <a:t>RULE-D1-v3 · current · existence · product · D1 v3 — a recognised licence from any of the three sources the signal names.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D2</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RULE-D2-v1 · current · absence · product · D2 v1 — the host's robots.txt declares, as a Content-Signal, its terms for AI training and</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D3</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RULE-D3-v1 · current · absence · product · D3 v1 — source lineage published on the product's catalog record.</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D4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RULE-D4-v1 · superseded · absence · product · D4 — no dark data: the product is enumerable from a public catalog.</a:t>
            </a:r>
          </a:p>
          <a:p>
            <a:pPr/>
            <a:r>
              <a:rPr b="0" sz="1800">
                <a:solidFill>
                  <a:srgbClr val="000000"/>
                </a:solidFill>
              </a:rPr>
              <a:t>RULE-D4-v2 · superseded · absence · product · D4 v2 — the product is enumerable from a catalog that VALIDATES.</a:t>
            </a:r>
          </a:p>
          <a:p>
            <a:pPr/>
            <a:r>
              <a:rPr b="0" sz="1800">
                <a:solidFill>
                  <a:srgbClr val="000000"/>
                </a:solidFill>
              </a:rPr>
              <a:t>RULE-D4-v3 · current · absence · product · D4 v3 — the product is enumerable from a catalog that validates, and "in the catalog" means a</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E5</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RULE-E5-v1 · superseded · existence · product · E5 — positive controls: the harness's own cycle validity gate.</a:t>
            </a:r>
          </a:p>
          <a:p>
            <a:pPr/>
            <a:r>
              <a:rPr b="0" sz="1800">
                <a:solidFill>
                  <a:srgbClr val="000000"/>
                </a:solidFill>
              </a:rPr>
              <a:t>RULE-E5-v2 · current · existence · product · E5 v2 — the controls fired, returned what they should, AND ran before any real host.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F4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RULE-F4-v1 · superseded · existence · product · F4 — change legibility: a machine-readable changelog per release.</a:t>
            </a:r>
          </a:p>
          <a:p>
            <a:pPr/>
            <a:r>
              <a:rPr b="0" sz="1800">
                <a:solidFill>
                  <a:srgbClr val="000000"/>
                </a:solidFill>
              </a:rPr>
              <a:t>RULE-F4-v2 · superseded · existence · product · F4 v2 — a machine-readable changelog whose ENTRIES carry a revision class.</a:t>
            </a:r>
          </a:p>
          <a:p>
            <a:pPr/>
            <a:r>
              <a:rPr b="0" sz="1800">
                <a:solidFill>
                  <a:srgbClr val="000000"/>
                </a:solidFill>
              </a:rPr>
              <a:t>RULE-F4-v3 · current · existence · product · F4 v3 — a machine-readable changelog whose ENTRIES carry a revision class.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G1-D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RULE-G1-D-v1 · current · absence · product · G1-D declared leg — error measures present as STRUCTURED FIELDS beside the estimates.</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Rules: G4</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appendix/rules.md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rule_id · state · candidate · claim · measures · summary</a:t>
            </a:r>
          </a:p>
          <a:p>
            <a:pPr/>
            <a:r>
              <a:rPr b="0" sz="1800">
                <a:solidFill>
                  <a:srgbClr val="000000"/>
                </a:solidFill>
              </a:rPr>
              <a:t>RULE-G4-v1 · current · absence · product · G4 v1 — the issuing authority is carried as structured metadata on the product's catalog record.</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Appendix · The corpus, by document type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corpus/manifest.json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doc_type · excluded · included · pending_refetch · pending_review</a:t>
            </a:r>
          </a:p>
          <a:p>
            <a:pPr/>
            <a:r>
              <a:rPr b="0" sz="1800">
                <a:solidFill>
                  <a:srgbClr val="000000"/>
                </a:solidFill>
              </a:rPr>
              <a:t>academic · excluded 53 · included 60 · pending_refetch 13 · pending_review 0</a:t>
            </a:r>
          </a:p>
          <a:p>
            <a:pPr/>
            <a:r>
              <a:rPr b="0" sz="1800">
                <a:solidFill>
                  <a:srgbClr val="000000"/>
                </a:solidFill>
              </a:rPr>
              <a:t>federal · excluded 4 · included 94 · pending_refetch 15 · pending_review 0</a:t>
            </a:r>
          </a:p>
          <a:p>
            <a:pPr/>
            <a:r>
              <a:rPr b="0" sz="1800">
                <a:solidFill>
                  <a:srgbClr val="000000"/>
                </a:solidFill>
              </a:rPr>
              <a:t>government · excluded 1 · included 0 · pending_refetch 0 · pending_review 0</a:t>
            </a:r>
          </a:p>
          <a:p>
            <a:pPr/>
            <a:r>
              <a:rPr b="0" sz="1800">
                <a:solidFill>
                  <a:srgbClr val="000000"/>
                </a:solidFill>
              </a:rPr>
              <a:t>industry · excluded 5 · included 49 · pending_refetch 10 · pending_review 0</a:t>
            </a:r>
          </a:p>
          <a:p>
            <a:pPr/>
            <a:r>
              <a:rPr b="0" sz="1800">
                <a:solidFill>
                  <a:srgbClr val="000000"/>
                </a:solidFill>
              </a:rPr>
              <a:t>intergovernmental · excluded 0 · included 16 · pending_refetch 5 · pending_review 0</a:t>
            </a:r>
          </a:p>
          <a:p>
            <a:pPr/>
            <a:r>
              <a:rPr b="0" sz="1800">
                <a:solidFill>
                  <a:srgbClr val="000000"/>
                </a:solidFill>
              </a:rPr>
              <a:t>none · excluded 6 · included 0 · pending_refetch 0 · pending_review 1</a:t>
            </a:r>
          </a:p>
          <a:p>
            <a:pPr/>
            <a:r>
              <a:rPr b="0" sz="1800">
                <a:solidFill>
                  <a:srgbClr val="000000"/>
                </a:solidFill>
              </a:rPr>
              <a:t>platform · excluded 0 · included 1 · pending_refetch 0 · pending_review 0</a:t>
            </a:r>
          </a:p>
          <a:p>
            <a:pPr/>
            <a:r>
              <a:rPr b="0" sz="1800">
                <a:solidFill>
                  <a:srgbClr val="000000"/>
                </a:solidFill>
              </a:rPr>
              <a:t>practitioner · excluded 2 · included 10 · pending_refetch 0 · pending_review 0</a:t>
            </a:r>
          </a:p>
          <a:p>
            <a:pPr/>
            <a:r>
              <a:rPr b="0" sz="1800">
                <a:solidFill>
                  <a:srgbClr val="000000"/>
                </a:solidFill>
              </a:rPr>
              <a:t>standard · excluded 1 · included 34 · pending_refetch 0 · pending_review 0</a:t>
            </a:r>
          </a:p>
          <a:p>
            <a:pPr/>
            <a:r>
              <a:rPr b="0" sz="1800">
                <a:solidFill>
                  <a:srgbClr val="000000"/>
                </a:solidFill>
              </a:rPr>
              <a:t>all · excluded 72 · included 264 · pending_refetch 43 · pending_review 1</a:t>
            </a:r>
          </a:p>
          <a:p>
            <a:r>
              <a:rPr sz="900"/>
              <a:t/>
            </a:r>
          </a:p>
          <a:p>
            <a:pPr/>
            <a:r>
              <a:rPr b="0" sz="1800">
                <a:solidFill>
                  <a:srgbClr val="000000"/>
                </a:solidFill>
              </a:rPr>
              <a:t>From corpus/manifest.json (identity.doc_type by screening.decision). The admitted documents, one row per indicator citation, are in docs/brief/C_provenance.csv.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
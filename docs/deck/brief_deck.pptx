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An AI-readiness framework for federal statistical publishers: a way to rate and score, quantitatively and qualitatively, whether the public and the tools the public now uses can reach, understand and use the data they paid for.</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Brock Webb</a:t>
            </a:r>
          </a:p>
          <a:p>
            <a:r>
              <a:rPr b="0" sz="1800">
                <a:solidFill>
                  <a:srgbClr val="000000"/>
                </a:solidFill>
              </a:rPr>
              <a:t>2026-09-23 · pack commit ed2b3c205588 · cycle of record scan_2026-09-10_rj4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 What it is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DN-005 §1, transcribed; chapter A has no pack 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goal, unchanged since the project began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An AI-readiness framework for federal statistical publishers: a way to rate and score, quantitatively and qualitatively, whether the public and the tools the public now uses can reach, understand and use the data they paid for.</a:t>
            </a:r>
            <a:r>
              <a:rPr b="0" sz="1700">
                <a:solidFill>
                  <a:srgbClr val="000000"/>
                </a:solidFill>
              </a:rPr>
              <a:t> Everything else in this repository is a level of it, a measurement of it, a view of it, or a demonstration of it.</a:t>
            </a:r>
          </a:p>
          <a:p>
            <a:r>
              <a:rPr sz="800"/>
              <a:t/>
            </a:r>
          </a:p>
          <a:p>
            <a:pPr/>
            <a:r>
              <a:rPr b="1" sz="1700">
                <a:solidFill>
                  <a:srgbClr val="000000"/>
                </a:solidFill>
              </a:rPr>
              <a:t>L0</a:t>
            </a:r>
            <a:r>
              <a:rPr b="0" sz="1700">
                <a:solidFill>
                  <a:srgbClr val="000000"/>
                </a:solidFill>
              </a:rPr>
              <a:t> is the most basic level (host-level: crawler policy present, discovery files, deep links, declared versus enforced access). It is one step, and the one with cold, re-derivable data behind it today.</a:t>
            </a:r>
          </a:p>
          <a:p>
            <a:pPr/>
            <a:r>
              <a:rPr b="1" sz="1700">
                <a:solidFill>
                  <a:srgbClr val="000000"/>
                </a:solidFill>
              </a:rPr>
              <a:t>The L0 report</a:t>
            </a:r>
            <a:r>
              <a:rPr b="0" sz="1700">
                <a:solidFill>
                  <a:srgbClr val="000000"/>
                </a:solidFill>
              </a:rPr>
              <a:t> (docs/reports/2026-09_fss_ai_readiness_L0.pdf) is evidence under the framework. It is not the product and it is not a publication in the release sense; nobody has been told it exists.</a:t>
            </a:r>
          </a:p>
          <a:p>
            <a:pPr/>
            <a:r>
              <a:rPr b="1" sz="1700">
                <a:solidFill>
                  <a:srgbClr val="000000"/>
                </a:solidFill>
              </a:rPr>
              <a:t>The site</a:t>
            </a:r>
            <a:r>
              <a:rPr b="0" sz="1700">
                <a:solidFill>
                  <a:srgbClr val="000000"/>
                </a:solidFill>
              </a:rPr>
              <a:t> (brockwebb.github.io/ai-readiness-kg) is a demonstration of what an AI-ready site looks like, data-first, with its own scorecard visible. That is the whole of its purpose.</a:t>
            </a:r>
          </a:p>
          <a:p>
            <a:pPr/>
            <a:r>
              <a:rPr b="1" sz="1700">
                <a:solidFill>
                  <a:srgbClr val="000000"/>
                </a:solidFill>
              </a:rPr>
              <a:t>The January ICSP briefing</a:t>
            </a:r>
            <a:r>
              <a:rPr b="0" sz="1700">
                <a:solidFill>
                  <a:srgbClr val="000000"/>
                </a:solidFill>
              </a:rPr>
              <a:t> is a view of the framework at whatever state it is in then: professionally, FSS sites are not AI ready, the public who paid for the data is underserved, here is who, here is what to do. Slides with visuals from matrices that already exist.</a:t>
            </a:r>
          </a:p>
          <a:p>
            <a:pPr/>
            <a:r>
              <a:rPr b="1" sz="1700">
                <a:solidFill>
                  <a:srgbClr val="000000"/>
                </a:solidFill>
              </a:rPr>
              <a:t>Open source</a:t>
            </a:r>
            <a:r>
              <a:rPr b="0" sz="1700">
                <a:solidFill>
                  <a:srgbClr val="000000"/>
                </a:solidFill>
              </a:rPr>
              <a:t> exists to protect the work from being hidden or gatekept, not to publish it. Provenance is git, the append-only log with timestamps and hashes, and CC BY 4.0. No DOI is needed for that and none is being minted.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you are looking 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INDEX.md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docs/brief/ at commit ed2b3c205588 (2026-09-23), written by scripts/build_brief_pack.py and by nothing else</a:t>
            </a:r>
          </a:p>
          <a:p>
            <a:pPr/>
            <a:r>
              <a:rPr b="0" sz="1800">
                <a:solidFill>
                  <a:srgbClr val="000000"/>
                </a:solidFill>
              </a:rPr>
              <a:t>Cycle of record: scan_2026-09-10_rj4</a:t>
            </a:r>
          </a:p>
          <a:p>
            <a:pPr/>
            <a:r>
              <a:rPr b="0" sz="1800">
                <a:solidFill>
                  <a:srgbClr val="000000"/>
                </a:solidFill>
              </a:rPr>
              <a:t>Framework record: framework/ai_readiness_framework.json at commit 9ffcffddbf8f, generated from docs/crosswalk/usafacts_operationalization_skeleton.md</a:t>
            </a:r>
          </a:p>
          <a:p>
            <a:pPr/>
            <a:r>
              <a:rPr b="0" sz="1800">
                <a:solidFill>
                  <a:srgbClr val="000000"/>
                </a:solidFill>
              </a:rPr>
              <a:t>Deck: docs/deck/brief_deck_content.md rendered by scripts/build_brief_deck.py; the appendix is generated from the pack at build time</a:t>
            </a:r>
          </a:p>
          <a:p>
            <a:r>
              <a:rPr sz="900"/>
              <a:t/>
            </a:r>
          </a:p>
          <a:p>
            <a:pPr/>
            <a:r>
              <a:rPr b="0" sz="1800">
                <a:solidFill>
                  <a:srgbClr val="000000"/>
                </a:solidFill>
              </a:rPr>
              <a:t>Every file under docs/brief/ is written by scripts/build_brief_pack.py (cc_tasks/2026-09-22_brief_material_pack_v2.md) and by nothing else. --check re-renders the pack and compares it byte for byte. The numbers each page states in prose are on numbers.json, with the source of each.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B · Delta against the USAFacts framework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B_usafacts_delta.md, B_usafacts_delta.csv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delta is derived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framework record has no origin field, so no mark on this page is read off the record directly. Each mark is derived by three rules, and each rule cites the skeleton line it rests on:</a:t>
            </a:r>
          </a:p>
          <a:p>
            <a:pPr/>
            <a:r>
              <a:rPr b="0" sz="1800">
                <a:solidFill>
                  <a:srgbClr val="000000"/>
                </a:solidFill>
              </a:rPr>
              <a:t>1. Criteria A to D are USAFacts' four and are kept as the top-level structure (docs/crosswalk/usafacts_operationalization_skeleton.md:9).</a:t>
            </a:r>
          </a:p>
          <a:p>
            <a:pPr/>
            <a:r>
              <a:rPr b="0" sz="1800">
                <a:solidFill>
                  <a:srgbClr val="000000"/>
                </a:solidFill>
              </a:rPr>
              <a:t>2. Criteria E, F and G are additions. The section of the skeleton each one comes from is the section whose tables carry its indicator codes, and that section's heading says why it was added (table below).</a:t>
            </a:r>
          </a:p>
          <a:p>
            <a:pPr/>
            <a:r>
              <a:rPr b="0" sz="1800">
                <a:solidFill>
                  <a:srgbClr val="000000"/>
                </a:solidFill>
              </a:rPr>
              <a:t>3. Within A to D, USAFacts named criteria and gave no indicator-level tests (docs/crosswalk/usafacts_operationalization_skeleton.md:15), so every indicator is an operationalization and is marked added (operationalizes &lt;criterion&gt;).</a:t>
            </a:r>
          </a:p>
          <a:p>
            <a:r>
              <a:rPr sz="900"/>
              <a:t/>
            </a:r>
          </a:p>
          <a:p>
            <a:pPr/>
            <a:r>
              <a:rPr b="0" sz="1800">
                <a:solidFill>
                  <a:srgbClr val="000000"/>
                </a:solidFill>
              </a:rPr>
              <a:t>USAFacts names four criteria and argues for pairing LLMs with retrieval and holding results to accuracy evaluations. It does not give an agency a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marks say, and what the verbatim test found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An indicator whose record status is candidate is marked that way instead. No indicator in the record has a status of withdrawn or dropped.</a:t>
            </a:r>
          </a:p>
          <a:p>
            <a:r>
              <a:rPr sz="900"/>
              <a:t/>
            </a:r>
          </a:p>
          <a:p>
            <a:pPr/>
            <a:r>
              <a:rPr b="0" sz="1800">
                <a:solidFill>
                  <a:srgbClr val="000000"/>
                </a:solidFill>
              </a:rPr>
              <a:t>The kept_verbatim_or_restated column is measured against the admitted USAFacts documents (usafacts-ai-ready-data-guide, usafacts-fde-standards-detailed, usafacts-fde-standards-quick-reference): an indicator of criteria A to D is verbatim (&lt;doc_id&gt;) when its construct, else its indicator, string grounds verbatim in one of them under kg/extraction/grounding.py normalization, restated when neither grounds in any, and an indicator of criteria E, F and G is n/a (added criterion); 0 are verbatim, 27 restated and 22 n/a.</a:t>
            </a:r>
          </a:p>
          <a:p>
            <a:r>
              <a:rPr sz="900"/>
              <a:t/>
            </a:r>
          </a:p>
          <a:p>
            <a:pPr/>
            <a:r>
              <a:rPr b="0" sz="1800">
                <a:solidFill>
                  <a:srgbClr val="000000"/>
                </a:solidFill>
              </a:rPr>
              <a:t>Of 49 indicator nodes, 24 have a current rule in the registry. 5 carry a departure quote, either from skeleton §8 (items that name the indicator's code) or from a record property that records a restatement or a withdrawal.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criteria: four kept, three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name · mark · §8 items</a:t>
            </a:r>
          </a:p>
          <a:p>
            <a:pPr/>
            <a:r>
              <a:rPr b="0" sz="1800">
                <a:solidFill>
                  <a:srgbClr val="000000"/>
                </a:solidFill>
              </a:rPr>
              <a:t>A · ACCESSIBLE · kept (USAFacts criterion; skeleton line 9)</a:t>
            </a:r>
          </a:p>
          <a:p>
            <a:pPr/>
            <a:r>
              <a:rPr b="0" sz="1800">
                <a:solidFill>
                  <a:srgbClr val="000000"/>
                </a:solidFill>
              </a:rPr>
              <a:t>B · UNDERSTANDABLE · kept (USAFacts criterion; skeleton line 9) · line 161</a:t>
            </a:r>
          </a:p>
          <a:p>
            <a:pPr/>
            <a:r>
              <a:rPr b="0" sz="1800">
                <a:solidFill>
                  <a:srgbClr val="000000"/>
                </a:solidFill>
              </a:rPr>
              <a:t>C · ACCURATE · kept (USAFacts criterion; skeleton line 9) · line 164</a:t>
            </a:r>
          </a:p>
          <a:p>
            <a:pPr/>
            <a:r>
              <a:rPr b="0" sz="1800">
                <a:solidFill>
                  <a:srgbClr val="000000"/>
                </a:solidFill>
              </a:rPr>
              <a:t>D · OPEN · kept (USAFacts criterion; skeleton line 9)</a:t>
            </a:r>
          </a:p>
          <a:p>
            <a:pPr/>
            <a:r>
              <a:rPr b="0" sz="1800">
                <a:solidFill>
                  <a:srgbClr val="000000"/>
                </a:solidFill>
              </a:rPr>
              <a:t>E · TEVV loop · added (skeleton line 88: 5b. Cross-cutting — the TEVV loop (the framework's structural gap; operator feedback already delivered to USAFacts)) · line 164; line 170</a:t>
            </a:r>
          </a:p>
          <a:p>
            <a:pPr/>
            <a:r>
              <a:rPr b="0" sz="1800">
                <a:solidFill>
                  <a:srgbClr val="000000"/>
                </a:solidFill>
              </a:rPr>
              <a:t>F · release engineering · added (skeleton line 106: 5c. Cross-cutting — release engineering (CI/CD for data; operator feedback already delivered to USAFacts)) · line 166</a:t>
            </a:r>
          </a:p>
          <a:p>
            <a:pPr/>
            <a:r>
              <a:rPr b="0" sz="1800">
                <a:solidFill>
                  <a:srgbClr val="000000"/>
                </a:solidFill>
              </a:rPr>
              <a:t>G · FSS-derived constructs · added (skeleton line 119: 5d. FSS-derived constructs — generalizable beyond the statistical system) · line 167; line 169</a:t>
            </a:r>
          </a:p>
          <a:p>
            <a:r>
              <a:rPr sz="900"/>
              <a:t/>
            </a:r>
          </a:p>
          <a:p>
            <a:pPr/>
            <a:r>
              <a:rPr b="0" sz="1800">
                <a:solidFill>
                  <a:srgbClr val="000000"/>
                </a:solidFill>
              </a:rPr>
              <a:t>A §8 item is linked to a criterion when it names the criterion or cites the skeleton section the criterion's indicators sit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1. </a:t>
            </a:r>
            <a:r>
              <a:rPr b="1" sz="1400">
                <a:solidFill>
                  <a:srgbClr val="000000"/>
                </a:solidFill>
              </a:rPr>
              <a:t>Decomposition with receipts</a:t>
            </a:r>
            <a:r>
              <a:rPr b="0" sz="1400">
                <a:solidFill>
                  <a:srgbClr val="000000"/>
                </a:solidFill>
              </a:rPr>
              <a:t> — four criteria → ~30 indicators, each carrying literature provenance through the KG rather than assertion.</a:t>
            </a:r>
          </a:p>
          <a:p>
            <a:r>
              <a:rPr sz="800"/>
              <a:t/>
            </a:r>
          </a:p>
          <a:p>
            <a:pPr/>
            <a:r>
              <a:rPr b="0" sz="1400">
                <a:solidFill>
                  <a:srgbClr val="000000"/>
                </a:solidFill>
              </a:rPr>
              <a:t>2. </a:t>
            </a:r>
            <a:r>
              <a:rPr b="1" sz="1400">
                <a:solidFill>
                  <a:srgbClr val="000000"/>
                </a:solidFill>
              </a:rPr>
              <a:t>"Understandable" needs the FCSM extension</a:t>
            </a:r>
            <a:r>
              <a:rPr b="0" sz="1400">
                <a:solidFill>
                  <a:srgbClr val="000000"/>
                </a:solidFill>
              </a:rPr>
              <a:t> — machine-understandable (semantics, definitions, variable-level metadata), not just parseable; their current text under-specifies this.</a:t>
            </a:r>
          </a:p>
          <a:p>
            <a:r>
              <a:rPr sz="800"/>
              <a:t/>
            </a:r>
          </a:p>
          <a:p>
            <a:pPr/>
            <a:r>
              <a:rPr b="0" sz="1400">
                <a:solidFill>
                  <a:srgbClr val="000000"/>
                </a:solidFill>
              </a:rPr>
              <a:t>3. </a:t>
            </a:r>
            <a:r>
              <a:rPr b="1" sz="1400">
                <a:solidFill>
                  <a:srgbClr val="000000"/>
                </a:solidFill>
              </a:rPr>
              <a:t>The accuracy evaluations they call for, instantiated</a:t>
            </a:r>
            <a:r>
              <a:rPr b="0" sz="1400">
                <a:solidFill>
                  <a:srgbClr val="000000"/>
                </a:solidFill>
              </a:rPr>
              <a:t> — a runnable harness (retrieval-grounded QA + entailment judging) rather than a principle.</a:t>
            </a:r>
          </a:p>
          <a:p>
            <a:r>
              <a:rPr sz="800"/>
              <a:t/>
            </a:r>
          </a:p>
          <a:p>
            <a:pPr/>
            <a:r>
              <a:rPr b="0" sz="1400">
                <a:solidFill>
                  <a:srgbClr val="000000"/>
                </a:solidFill>
              </a:rPr>
              <a:t>4. </a:t>
            </a:r>
            <a:r>
              <a:rPr b="1" sz="1400">
                <a:solidFill>
                  <a:srgbClr val="000000"/>
                </a:solidFill>
              </a:rPr>
              <a:t>A measurable visibility layer</a:t>
            </a:r>
            <a:r>
              <a:rPr b="0" sz="1400">
                <a:solidFill>
                  <a:srgbClr val="000000"/>
                </a:solidFill>
              </a:rPr>
              <a:t> — GEO/llms.txt/Dataset-markup checks make "AI-optimization" auditable instead of vibes.</a:t>
            </a:r>
          </a:p>
          <a:p>
            <a:r>
              <a:rPr sz="800"/>
              <a:t/>
            </a:r>
          </a:p>
          <a:p>
            <a:pPr/>
            <a:r>
              <a:rPr b="0" sz="1400">
                <a:solidFill>
                  <a:srgbClr val="000000"/>
                </a:solidFill>
              </a:rPr>
              <a:t>5. </a:t>
            </a:r>
            <a:r>
              <a:rPr b="1" sz="1400">
                <a:solidFill>
                  <a:srgbClr val="000000"/>
                </a:solidFill>
              </a:rPr>
              <a:t>ACCURATE becomes a closed TEVV loop (§5b)</a:t>
            </a:r>
            <a:r>
              <a:rPr b="0" sz="1400">
                <a:solidFill>
                  <a:srgbClr val="000000"/>
                </a:solidFill>
              </a:rPr>
              <a:t> — verification/validation split, pre-registered thresholds, versioned instruments, contamination policy, positive controls, failure attribution, corrective-action closure. This is the operator's delivered feedback, now with an indicator set and NIST AI RMF framing behind it.</a:t>
            </a:r>
          </a:p>
          <a:p>
            <a:r>
              <a:rPr sz="800"/>
              <a:t/>
            </a:r>
          </a:p>
          <a:p>
            <a:pPr/>
            <a:r>
              <a:rPr b="0" sz="1400">
                <a:solidFill>
                  <a:srgbClr val="000000"/>
                </a:solidFill>
              </a:rPr>
              <a:t>6. </a:t>
            </a:r>
            <a:r>
              <a:rPr b="1" sz="1400">
                <a:solidFill>
                  <a:srgbClr val="000000"/>
                </a:solidFill>
              </a:rPr>
              <a:t>Statistical-standards correction</a:t>
            </a:r>
            <a:r>
              <a:rPr b="0" sz="1400">
                <a:solidFill>
                  <a:srgbClr val="000000"/>
                </a:solidFill>
              </a:rPr>
              <a:t> — SDMX/DDI/DCAT where the guide says NIEM.</a:t>
            </a:r>
          </a:p>
          <a:p>
            <a:r>
              <a:rPr sz="800"/>
              <a:t/>
            </a:r>
          </a:p>
          <a:p>
            <a:pPr/>
            <a:r>
              <a:rPr b="0" sz="1400">
                <a:solidFill>
                  <a:srgbClr val="000000"/>
                </a:solidFill>
              </a:rPr>
              <a:t>7. </a:t>
            </a:r>
            <a:r>
              <a:rPr b="1" sz="1400">
                <a:solidFill>
                  <a:srgbClr val="000000"/>
                </a:solidFill>
              </a:rPr>
              <a:t>Publication is a deploy (§5c)</a:t>
            </a:r>
            <a:r>
              <a:rPr b="0" sz="1400">
                <a:solidFill>
                  <a:srgbClr val="000000"/>
                </a:solidFill>
              </a:rPr>
              <a:t> — the CI/CD feedback operationalized: pre-release gates, contract stability, vintage regression, staged rollout, signed releases.</a:t>
            </a:r>
          </a:p>
          <a:p>
            <a:r>
              <a:rPr sz="800"/>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8. </a:t>
            </a:r>
            <a:r>
              <a:rPr b="1" sz="1400">
                <a:solidFill>
                  <a:srgbClr val="000000"/>
                </a:solidFill>
              </a:rPr>
              <a:t>Uncertainty legibility (§5d G1)</a:t>
            </a:r>
            <a:r>
              <a:rPr b="0" sz="1400">
                <a:solidFill>
                  <a:srgbClr val="000000"/>
                </a:solidFill>
              </a:rPr>
              <a:t> — in their guide, error and noise appear only as privacy safeguards (DP, suppression); no framework treats uncertainty as something the AI consumer must *preserve*. G1 supplies that: structured error measures (G1-D) plus an eval of whether AI restatements keep them (G1-O).</a:t>
            </a:r>
          </a:p>
          <a:p>
            <a:r>
              <a:rPr sz="800"/>
              <a:t/>
            </a:r>
          </a:p>
          <a:p>
            <a:pPr/>
            <a:r>
              <a:rPr b="0" sz="1400">
                <a:solidFill>
                  <a:srgbClr val="000000"/>
                </a:solidFill>
              </a:rPr>
              <a:t>9. </a:t>
            </a:r>
            <a:r>
              <a:rPr b="1" sz="1400">
                <a:solidFill>
                  <a:srgbClr val="000000"/>
                </a:solidFill>
              </a:rPr>
              <a:t>Machine as first-class user (§1b)</a:t>
            </a:r>
            <a:r>
              <a:rPr b="0" sz="1400">
                <a:solidFill>
                  <a:srgbClr val="000000"/>
                </a:solidFill>
              </a:rPr>
              <a:t> — delivered feedback, grounded in FAIR rather than prediction: machine-actionability as primary design target, human surface derived; A9 makes it auditable.</a:t>
            </a:r>
          </a:p>
          <a:p>
            <a:r>
              <a:rPr sz="800"/>
              <a:t/>
            </a:r>
          </a:p>
          <a:p>
            <a:pPr/>
            <a:r>
              <a:rPr b="0" sz="1400">
                <a:solidFill>
                  <a:srgbClr val="000000"/>
                </a:solidFill>
              </a:rPr>
              <a:t>10. </a:t>
            </a:r>
            <a:r>
              <a:rPr b="1" sz="1400">
                <a:solidFill>
                  <a:srgbClr val="000000"/>
                </a:solidFill>
              </a:rPr>
              <a:t>Protocol as contract (§5d G6)</a:t>
            </a:r>
            <a:r>
              <a:rPr b="0" sz="1400">
                <a:solidFill>
                  <a:srgbClr val="000000"/>
                </a:solidFill>
              </a:rPr>
              <a:t> — delivered feedback: measurement-protocol epochs with machine-readable breaks and reasons; SDMX + ODCS give it standards footing.</a:t>
            </a:r>
          </a:p>
          <a:p>
            <a:r>
              <a:rPr sz="800"/>
              <a:t/>
            </a:r>
          </a:p>
          <a:p>
            <a:pPr/>
            <a:r>
              <a:rPr b="0" sz="1400">
                <a:solidFill>
                  <a:srgbClr val="000000"/>
                </a:solidFill>
              </a:rPr>
              <a:t>11. </a:t>
            </a:r>
            <a:r>
              <a:rPr b="1" sz="1400">
                <a:solidFill>
                  <a:srgbClr val="000000"/>
                </a:solidFill>
              </a:rPr>
              <a:t>Red teaming (§5b E9)</a:t>
            </a:r>
            <a:r>
              <a:rPr b="0" sz="1400">
                <a:solidFill>
                  <a:srgbClr val="000000"/>
                </a:solidFill>
              </a:rPr>
              <a:t> — delivered feedback: the framework tests what works; it must also enumerate how products break, with a standing adversarial bank.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A ACCESSIBLE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A1 · Machine-readable formats · M · RULE-A1-v4 · added (operationalizes A ACCESSIBLE) · restated</a:t>
            </a:r>
          </a:p>
          <a:p>
            <a:pPr/>
            <a:r>
              <a:rPr b="0" sz="1800">
                <a:solidFill>
                  <a:srgbClr val="000000"/>
                </a:solidFill>
              </a:rPr>
              <a:t>A2 · Programmatic access · M · RULE-A2-v3 · added (operationalizes A ACCESSIBLE) · restated</a:t>
            </a:r>
          </a:p>
          <a:p>
            <a:pPr/>
            <a:r>
              <a:rPr b="0" sz="1800">
                <a:solidFill>
                  <a:srgbClr val="000000"/>
                </a:solidFill>
              </a:rPr>
              <a:t>A3 · Bulk access · M · RULE-A3-v6 · added (operationalizes A ACCESSIBLE) · restated</a:t>
            </a:r>
          </a:p>
          <a:p>
            <a:pPr/>
            <a:r>
              <a:rPr b="0" sz="1800">
                <a:solidFill>
                  <a:srgbClr val="000000"/>
                </a:solidFill>
              </a:rPr>
              <a:t>A4 · Crawler/agent access · M · RULE-A4-v1 · added (operationalizes A ACCESSIBLE) · restated</a:t>
            </a:r>
          </a:p>
          <a:p>
            <a:pPr/>
            <a:r>
              <a:rPr b="0" sz="1800">
                <a:solidFill>
                  <a:srgbClr val="000000"/>
                </a:solidFill>
              </a:rPr>
              <a:t>A5 · Discoverability surface · M · RULE-A5-v2 · added (operationalizes A ACCESSIBLE) · restated</a:t>
            </a:r>
          </a:p>
          <a:p>
            <a:pPr/>
            <a:r>
              <a:rPr b="0" sz="1800">
                <a:solidFill>
                  <a:srgbClr val="000000"/>
                </a:solidFill>
              </a:rPr>
              <a:t>A6 · Structured markup · M · RULE-A6-v2 · added (operationalizes A ACCESSIBLE) · restated</a:t>
            </a:r>
          </a:p>
          <a:p>
            <a:pPr/>
            <a:r>
              <a:rPr b="0" sz="1800">
                <a:solidFill>
                  <a:srgbClr val="000000"/>
                </a:solidFill>
              </a:rPr>
              <a:t>A7 · Stable identifiers · O · none · added (operationalizes A ACCESSIBLE) · restated</a:t>
            </a:r>
          </a:p>
          <a:p>
            <a:pPr/>
            <a:r>
              <a:rPr b="0" sz="1800">
                <a:solidFill>
                  <a:srgbClr val="000000"/>
                </a:solidFill>
              </a:rPr>
              <a:t>A8 · Timeliness of surface · M · RULE-A8-v4 · added (operationalizes A ACCESSIBLE) · restated</a:t>
            </a:r>
          </a:p>
          <a:p>
            <a:pPr/>
            <a:r>
              <a:rPr b="0" sz="1800">
                <a:solidFill>
                  <a:srgbClr val="000000"/>
                </a:solidFill>
              </a:rPr>
              <a:t>A9 · M2M agent surface · M · RULE-A9-v1 · added (operationalizes A ACCESSIBLE) · restated</a:t>
            </a:r>
          </a:p>
          <a:p>
            <a:pPr/>
            <a:r>
              <a:rPr b="0" sz="1800">
                <a:solidFill>
                  <a:srgbClr val="000000"/>
                </a:solidFill>
              </a:rPr>
              <a:t>A10 · Application/data-tool machine surface · M · RULE-A10-v3 · added (operationalizes A ACCESSIBLE) · restated</a:t>
            </a:r>
          </a:p>
          <a:p>
            <a:pPr/>
            <a:r>
              <a:rPr b="0" sz="1800">
                <a:solidFill>
                  <a:srgbClr val="000000"/>
                </a:solidFill>
              </a:rPr>
              <a:t>A11 · Effective crawler access (declared / enforced / observed) · M · RULE-A11-declared-v2 · added (operationalizes A ACCESSIBLE) · restated</a:t>
            </a:r>
          </a:p>
          <a:p>
            <a:pPr/>
            <a:r>
              <a:rPr b="0" sz="1800">
                <a:solidFill>
                  <a:srgbClr val="000000"/>
                </a:solidFill>
              </a:rPr>
              <a:t>A12 · Access policy coherence · M · RULE-A12-v3 · candidate (DD-054: reported, not part of the framework) · restated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B UNDERSTANDABLE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B1 · Variable-level semantics · M · RULE-B1-v2 · added (operationalizes B UNDERSTANDABLE) · restated</a:t>
            </a:r>
          </a:p>
          <a:p>
            <a:pPr/>
            <a:r>
              <a:rPr b="0" sz="1800">
                <a:solidFill>
                  <a:srgbClr val="000000"/>
                </a:solidFill>
              </a:rPr>
              <a:t>B2 · Definitions surface · M · RULE-B2-v1 · added (operationalizes B UNDERSTANDABLE) · restated</a:t>
            </a:r>
          </a:p>
          <a:p>
            <a:pPr/>
            <a:r>
              <a:rPr b="0" sz="1800">
                <a:solidFill>
                  <a:srgbClr val="000000"/>
                </a:solidFill>
              </a:rPr>
              <a:t>B3 · Methodology legibility · M · RULE-B3-v3 · added (operationalizes B UNDERSTANDABLE) · restated</a:t>
            </a:r>
          </a:p>
          <a:p>
            <a:pPr/>
            <a:r>
              <a:rPr b="0" sz="1800">
                <a:solidFill>
                  <a:srgbClr val="000000"/>
                </a:solidFill>
              </a:rPr>
              <a:t>B4 · Quality metadata · M · RULE-B4-v1 · added (operationalizes B UNDERSTANDABLE) · restated</a:t>
            </a:r>
          </a:p>
          <a:p>
            <a:pPr/>
            <a:r>
              <a:rPr b="0" sz="1800">
                <a:solidFill>
                  <a:srgbClr val="000000"/>
                </a:solidFill>
              </a:rPr>
              <a:t>B5 · Semantic consistency · M · RULE-B5-v1 · added (operationalizes B UNDERSTANDABLE) · restated</a:t>
            </a:r>
          </a:p>
          <a:p>
            <a:pPr/>
            <a:r>
              <a:rPr b="0" sz="1800">
                <a:solidFill>
                  <a:srgbClr val="000000"/>
                </a:solidFill>
              </a:rPr>
              <a:t>B6 · NL affordances · unassigned · none · added (operationalizes B UNDERSTANDABLE) · restated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C ACCURATE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C1 · Retrieval-grounded QA accuracy · M · none · added (operationalizes C ACCURATE) · restated</a:t>
            </a:r>
          </a:p>
          <a:p>
            <a:pPr/>
            <a:r>
              <a:rPr b="0" sz="1800">
                <a:solidFill>
                  <a:srgbClr val="000000"/>
                </a:solidFill>
              </a:rPr>
              <a:t>C2 · Faithfulness of AI restatement · M · none · added (operationalizes C ACCURATE) · restated</a:t>
            </a:r>
          </a:p>
          <a:p>
            <a:pPr/>
            <a:r>
              <a:rPr b="0" sz="1800">
                <a:solidFill>
                  <a:srgbClr val="000000"/>
                </a:solidFill>
              </a:rPr>
              <a:t>C3 · Value-drift resistance · M · none · added (operationalizes C ACCURATE) · restated</a:t>
            </a:r>
          </a:p>
          <a:p>
            <a:pPr/>
            <a:r>
              <a:rPr b="0" sz="1800">
                <a:solidFill>
                  <a:srgbClr val="000000"/>
                </a:solidFill>
              </a:rPr>
              <a:t>C4 · Citation quality · M · none · added (operationalizes C ACCURATE) · restated</a:t>
            </a:r>
          </a:p>
          <a:p>
            <a:pPr/>
            <a:r>
              <a:rPr b="0" sz="1800">
                <a:solidFill>
                  <a:srgbClr val="000000"/>
                </a:solidFill>
              </a:rPr>
              <a:t>C5 · Readiness metrics baseline · O · none · added (operationalizes C ACCURATE) · restated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D OPEN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D1 · License clarity · M · RULE-D1-v3 · added (operationalizes D OPEN) · restated</a:t>
            </a:r>
          </a:p>
          <a:p>
            <a:pPr/>
            <a:r>
              <a:rPr b="0" sz="1800">
                <a:solidFill>
                  <a:srgbClr val="000000"/>
                </a:solidFill>
              </a:rPr>
              <a:t>D2 · Reuse permissions for AI · M · RULE-D2-v1 · added (operationalizes D OPEN) · restated</a:t>
            </a:r>
          </a:p>
          <a:p>
            <a:pPr/>
            <a:r>
              <a:rPr b="0" sz="1800">
                <a:solidFill>
                  <a:srgbClr val="000000"/>
                </a:solidFill>
              </a:rPr>
              <a:t>D3 · Provenance completeness · M · RULE-D3-v1 · added (operationalizes D OPEN) · restated</a:t>
            </a:r>
          </a:p>
          <a:p>
            <a:pPr/>
            <a:r>
              <a:rPr b="0" sz="1800">
                <a:solidFill>
                  <a:srgbClr val="000000"/>
                </a:solidFill>
              </a:rPr>
              <a:t>D4 · No dark data · M · RULE-D4-v3 · added (operationalizes D OPEN) · restated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E TEVV loop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500">
                <a:solidFill>
                  <a:srgbClr val="000000"/>
                </a:solidFill>
              </a:rPr>
              <a:t>code · construct · measurement_tier · rule · mark · kept_verbatim_or_restated</a:t>
            </a:r>
          </a:p>
          <a:p>
            <a:pPr/>
            <a:r>
              <a:rPr b="0" sz="1500">
                <a:solidFill>
                  <a:srgbClr val="000000"/>
                </a:solidFill>
              </a:rPr>
              <a:t>E1 · Verification vs validation split · M · none · added (criterion E, skeleton line 88: 5b. Cross-cutting — the TEVV loop (the framework's structural gap; operator feedback already delivered to USAFacts)) · n/a (added criterion)</a:t>
            </a:r>
          </a:p>
          <a:p>
            <a:pPr/>
            <a:r>
              <a:rPr b="0" sz="1500">
                <a:solidFill>
                  <a:srgbClr val="000000"/>
                </a:solidFill>
              </a:rPr>
              <a:t>E2 · Acceptance thresholds · D · none · added (criterion E, skeleton line 88: 5b. Cross-cutting — the TEVV loop (the framework's structural gap; operator feedback already delivered to USAFacts)) · n/a (added criterion)</a:t>
            </a:r>
          </a:p>
          <a:p>
            <a:pPr/>
            <a:r>
              <a:rPr b="0" sz="1500">
                <a:solidFill>
                  <a:srgbClr val="000000"/>
                </a:solidFill>
              </a:rPr>
              <a:t>E3 · Instrument versioning · M · none · added (criterion E, skeleton line 88: 5b. Cross-cutting — the TEVV loop (the framework's structural gap; operator feedback already delivered to USAFacts)) · n/a (added criterion)</a:t>
            </a:r>
          </a:p>
          <a:p>
            <a:pPr/>
            <a:r>
              <a:rPr b="0" sz="1500">
                <a:solidFill>
                  <a:srgbClr val="000000"/>
                </a:solidFill>
              </a:rPr>
              <a:t>E4 · Contamination policy · D · none · added (criterion E, skeleton line 88: 5b. Cross-cutting — the TEVV loop (the framework's structural gap; operator feedback already delivered to USAFacts)) · n/a (added criterion)</a:t>
            </a:r>
          </a:p>
          <a:p>
            <a:pPr/>
            <a:r>
              <a:rPr b="0" sz="1500">
                <a:solidFill>
                  <a:srgbClr val="000000"/>
                </a:solidFill>
              </a:rPr>
              <a:t>E5 · Positive controls · M · RULE-E5-v2 · added (criterion E, skeleton line 88: 5b. Cross-cutting — the TEVV loop (the framework's structural gap; operator feedback already delivered to USAFacts)) · n/a (added criterion)</a:t>
            </a:r>
          </a:p>
          <a:p>
            <a:pPr/>
            <a:r>
              <a:rPr b="0" sz="1500">
                <a:solidFill>
                  <a:srgbClr val="000000"/>
                </a:solidFill>
              </a:rPr>
              <a:t>E6 · Failure attribution · M · none · added (criterion E, skeleton line 88: 5b. Cross-cutting — the TEVV loop (the framework's structural gap; operator feedback already delivered to USAFacts)) · n/a (added criterion)</a:t>
            </a:r>
          </a:p>
          <a:p>
            <a:pPr/>
            <a:r>
              <a:rPr b="0" sz="1500">
                <a:solidFill>
                  <a:srgbClr val="000000"/>
                </a:solidFill>
              </a:rPr>
              <a:t>E7 · Corrective-action closure · D · none · added (criterion E, skeleton line 88: 5b. Cross-cutting — the TEVV loop (the framework's structural gap; operator feedback already delivered to USAFacts)) · n/a (added criterion)</a:t>
            </a:r>
          </a:p>
          <a:p>
            <a:pPr/>
            <a:r>
              <a:rPr b="0" sz="1500">
                <a:solidFill>
                  <a:srgbClr val="000000"/>
                </a:solidFill>
              </a:rPr>
              <a:t>E8 · Drift sentinels (golden questions) · M · none · added (criterion E, skeleton line 88: 5b. Cross-cutting — the TEVV loop (the framework's structural gap; operator feedback already delivered to USAFacts)) · n/a (added criterion)</a:t>
            </a:r>
          </a:p>
          <a:p>
            <a:pPr/>
            <a:r>
              <a:rPr b="0" sz="1500">
                <a:solidFill>
                  <a:srgbClr val="000000"/>
                </a:solidFill>
              </a:rPr>
              <a:t>E9 · Adversarial evaluation (red team) · M · none · added (criterion E, skeleton line 88: 5b. Cross-cutting — the TEVV loop (the framework's structural gap; operator feedback already delivered to USAFacts)) · n/a (added criterion)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F release engineering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F1 · Pre-release gates · D · none · added (criterion F, skeleton line 106: 5c. Cross-cutting — release engineering (CI/CD for data; operator feedback already delivered to USAFacts)) · n/a (added criterion)</a:t>
            </a:r>
          </a:p>
          <a:p>
            <a:pPr/>
            <a:r>
              <a:rPr b="0" sz="1700">
                <a:solidFill>
                  <a:srgbClr val="000000"/>
                </a:solidFill>
              </a:rPr>
              <a:t>F2 · Contract stability · O · none · added (criterion F, skeleton line 106: 5c. Cross-cutting — release engineering (CI/CD for data; operator feedback already delivered to USAFacts)) · n/a (added criterion)</a:t>
            </a:r>
          </a:p>
          <a:p>
            <a:pPr/>
            <a:r>
              <a:rPr b="0" sz="1700">
                <a:solidFill>
                  <a:srgbClr val="000000"/>
                </a:solidFill>
              </a:rPr>
              <a:t>F3 · Regression on vintage transition · O · none · added (criterion F, skeleton line 106: 5c. Cross-cutting — release engineering (CI/CD for data; operator feedback already delivered to USAFacts)) · n/a (added criterion)</a:t>
            </a:r>
          </a:p>
          <a:p>
            <a:pPr/>
            <a:r>
              <a:rPr b="0" sz="1700">
                <a:solidFill>
                  <a:srgbClr val="000000"/>
                </a:solidFill>
              </a:rPr>
              <a:t>F4 · Change legibility · M · RULE-F4-v3 · added (criterion F, skeleton line 106: 5c. Cross-cutting — release engineering (CI/CD for data; operator feedback already delivered to USAFacts)) · n/a (added criterion)</a:t>
            </a:r>
          </a:p>
          <a:p>
            <a:pPr/>
            <a:r>
              <a:rPr b="0" sz="1700">
                <a:solidFill>
                  <a:srgbClr val="000000"/>
                </a:solidFill>
              </a:rPr>
              <a:t>F5 · Staged rollout · D · none · added (criterion F, skeleton line 106: 5c. Cross-cutting — release engineering (CI/CD for data; operator feedback already delivered to USAFacts)) · n/a (added criterion)</a:t>
            </a:r>
          </a:p>
          <a:p>
            <a:pPr/>
            <a:r>
              <a:rPr b="0" sz="1700">
                <a:solidFill>
                  <a:srgbClr val="000000"/>
                </a:solidFill>
              </a:rPr>
              <a:t>F6 · Release authenticity · O · none · added (criterion F, skeleton line 106: 5c. Cross-cutting — release engineering (CI/CD for data; operator feedback already delivered to USAFacts)) · n/a (added criterion)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G FSS-derived constructs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G1-D · Uncertainty legibility (two legs, scored as a vector) · M · RULE-G1-D-v1 · added (criterion G, skeleton line 119: 5d. FSS-derived constructs — generalizable beyond the statistical system) · n/a (added criterion)</a:t>
            </a:r>
          </a:p>
          <a:p>
            <a:pPr/>
            <a:r>
              <a:rPr b="0" sz="1700">
                <a:solidFill>
                  <a:srgbClr val="000000"/>
                </a:solidFill>
              </a:rPr>
              <a:t>G1-O · Uncertainty legibility (two legs, scored as a vector) · M · none · added (criterion G, skeleton line 119: 5d. FSS-derived constructs — generalizable beyond the statistical system) · n/a (added criterion)</a:t>
            </a:r>
          </a:p>
          <a:p>
            <a:pPr/>
            <a:r>
              <a:rPr b="0" sz="1700">
                <a:solidFill>
                  <a:srgbClr val="000000"/>
                </a:solidFill>
              </a:rPr>
              <a:t>G2 · Revision semantics · M · none · added (criterion G, skeleton line 119: 5d. FSS-derived constructs — generalizable beyond the statistical system) · n/a (added criterion)</a:t>
            </a:r>
          </a:p>
          <a:p>
            <a:pPr/>
            <a:r>
              <a:rPr b="0" sz="1700">
                <a:solidFill>
                  <a:srgbClr val="000000"/>
                </a:solidFill>
              </a:rPr>
              <a:t>G3 · Classification/vintage identity · unassigned · none · added (criterion G, skeleton line 119: 5d. FSS-derived constructs — generalizable beyond the statistical system) · n/a (added criterion)</a:t>
            </a:r>
          </a:p>
          <a:p>
            <a:pPr/>
            <a:r>
              <a:rPr b="0" sz="1700">
                <a:solidFill>
                  <a:srgbClr val="000000"/>
                </a:solidFill>
              </a:rPr>
              <a:t>G4 · Authority metadata · M · RULE-G4-v1 · added (criterion G, skeleton line 119: 5d. FSS-derived constructs — generalizable beyond the statistical system) · n/a (added criterion)</a:t>
            </a:r>
          </a:p>
          <a:p>
            <a:pPr/>
            <a:r>
              <a:rPr b="0" sz="1700">
                <a:solidFill>
                  <a:srgbClr val="000000"/>
                </a:solidFill>
              </a:rPr>
              <a:t>G5 · Disclosure semantics · unassigned · none · added (criterion G, skeleton line 119: 5d. FSS-derived constructs — generalizable beyond the statistical system) · n/a (added criterion)</a:t>
            </a:r>
          </a:p>
          <a:p>
            <a:pPr/>
            <a:r>
              <a:rPr b="0" sz="1700">
                <a:solidFill>
                  <a:srgbClr val="000000"/>
                </a:solidFill>
              </a:rPr>
              <a:t>G6 · Measurement-protocol provenance · M · none · added (criterion G, skeleton line 119: 5d. FSS-derived constructs — generalizable beyond the statistical system) · n/a (added criterion)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 ·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C_provenance.md, C_provenance.csv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Coverage, stated first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Coverage, stated first.</a:t>
            </a:r>
            <a:r>
              <a:rPr b="0" sz="1800">
                <a:solidFill>
                  <a:srgbClr val="000000"/>
                </a:solidFill>
              </a:rPr>
              <a:t> 9 of 49 indicator evidence cells carry a pinpoint locator for at least one cited document. The test is scripts/report_traceability.py::locators, the same one the report's Locator column prints: a backticked doc id followed by a parenthetical. 27 of 147 EVIDENCED_BY edges point at a document the cell locates. 16 indicators have no EVIDENCED_BY edge at all. The rest cite their sources as general support, with no place inside the source.</a:t>
            </a:r>
          </a:p>
          <a:p>
            <a:r>
              <a:rPr sz="900"/>
              <a:t/>
            </a:r>
          </a:p>
          <a:p>
            <a:pPr/>
            <a:r>
              <a:rPr b="0" sz="1800">
                <a:solidFill>
                  <a:srgbClr val="000000"/>
                </a:solidFill>
              </a:rPr>
              <a:t>Indicators with a located cell: A1, A3, A8, A10, A12, B3, D3, D4, G4.</a:t>
            </a:r>
          </a:p>
          <a:p>
            <a:r>
              <a:rPr sz="900"/>
              <a:t/>
            </a:r>
          </a:p>
          <a:p>
            <a:pPr/>
            <a:r>
              <a:rPr b="0" sz="1800">
                <a:solidFill>
                  <a:srgbClr val="000000"/>
                </a:solidFill>
              </a:rPr>
              <a:t>No admitted document matches Title 13, CIPSEA, SPD (Statistical Policy Directive). Those rows are absences in this corpus. They are not claims about the instruments. The statistical-policy corpus is a separate graph (fss-policy-kg), and this page does not reach into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Corpus documents per type: admitted and cited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admitted · cited by the framework</a:t>
            </a:r>
          </a:p>
          <a:p>
            <a:pPr/>
            <a:r>
              <a:rPr b="0" sz="1800">
                <a:solidFill>
                  <a:srgbClr val="000000"/>
                </a:solidFill>
              </a:rPr>
              <a:t>academic · 60 · 23</a:t>
            </a:r>
          </a:p>
          <a:p>
            <a:pPr/>
            <a:r>
              <a:rPr b="0" sz="1800">
                <a:solidFill>
                  <a:srgbClr val="000000"/>
                </a:solidFill>
              </a:rPr>
              <a:t>federal · 94 · 35</a:t>
            </a:r>
          </a:p>
          <a:p>
            <a:pPr/>
            <a:r>
              <a:rPr b="0" sz="1800">
                <a:solidFill>
                  <a:srgbClr val="000000"/>
                </a:solidFill>
              </a:rPr>
              <a:t>industry · 49 · 6</a:t>
            </a:r>
          </a:p>
          <a:p>
            <a:pPr/>
            <a:r>
              <a:rPr b="0" sz="1800">
                <a:solidFill>
                  <a:srgbClr val="000000"/>
                </a:solidFill>
              </a:rPr>
              <a:t>intergovernmental · 16 · 0</a:t>
            </a:r>
          </a:p>
          <a:p>
            <a:pPr/>
            <a:r>
              <a:rPr b="0" sz="1800">
                <a:solidFill>
                  <a:srgbClr val="000000"/>
                </a:solidFill>
              </a:rPr>
              <a:t>platform · 1 · 0</a:t>
            </a:r>
          </a:p>
          <a:p>
            <a:pPr/>
            <a:r>
              <a:rPr b="0" sz="1800">
                <a:solidFill>
                  <a:srgbClr val="000000"/>
                </a:solidFill>
              </a:rPr>
              <a:t>practitioner · 10 · 2</a:t>
            </a:r>
          </a:p>
          <a:p>
            <a:pPr/>
            <a:r>
              <a:rPr b="0" sz="1800">
                <a:solidFill>
                  <a:srgbClr val="000000"/>
                </a:solidFill>
              </a:rPr>
              <a:t>standard · 34 · 16</a:t>
            </a:r>
          </a:p>
          <a:p>
            <a:pPr/>
            <a:r>
              <a:rPr b="0" sz="1800">
                <a:solidFill>
                  <a:srgbClr val="000000"/>
                </a:solidFill>
              </a:rPr>
              <a:t>all · 264 · 82</a:t>
            </a:r>
          </a:p>
          <a:p>
            <a:r>
              <a:rPr sz="900"/>
              <a:t/>
            </a:r>
          </a:p>
          <a:p>
            <a:pPr/>
            <a:r>
              <a:rPr b="0" sz="1800">
                <a:solidFill>
                  <a:srgbClr val="000000"/>
                </a:solidFill>
              </a:rPr>
              <a:t>Admitted means screening.decision: included. Cited means cited by at least one indicator's EVIDENCED_BY edge.</a:t>
            </a:r>
          </a:p>
          <a:p>
            <a:r>
              <a:rPr sz="900"/>
              <a:t/>
            </a:r>
          </a:p>
          <a:p>
            <a:pPr/>
            <a:r>
              <a:rPr b="0" sz="1800">
                <a:solidFill>
                  <a:srgbClr val="000000"/>
                </a:solidFill>
              </a:rPr>
              <a:t>It does not split statute from OMB guidance, or a W3C recommendation from other standards. That split is not in the manifest, and this page does not guess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policy-instrument 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instrument · admitted documents · by edge · by text only</a:t>
            </a:r>
          </a:p>
          <a:p>
            <a:pPr/>
            <a:r>
              <a:rPr b="0" sz="1800">
                <a:solidFill>
                  <a:srgbClr val="000000"/>
                </a:solidFill>
              </a:rPr>
              <a:t>Evidence Act · foundations-for-evidence-based-policymaking-act-of-2018-evid; m-19-23-phase-1-implementation-of-the-evidence-act; m-25-05-phase-2-implementation-of-the-evidence-act-open-gove · A1; D4 · none</a:t>
            </a:r>
          </a:p>
          <a:p>
            <a:pPr/>
            <a:r>
              <a:rPr b="0" sz="1800">
                <a:solidFill>
                  <a:srgbClr val="000000"/>
                </a:solidFill>
              </a:rPr>
              <a:t>M-25-05 · m-25-05-phase-2-implementation-of-the-evidence-act-open-gove · A1; D4 · none</a:t>
            </a:r>
          </a:p>
          <a:p>
            <a:pPr/>
            <a:r>
              <a:rPr b="0" sz="1800">
                <a:solidFill>
                  <a:srgbClr val="000000"/>
                </a:solidFill>
              </a:rPr>
              <a:t>M-23-22 · omb-m-23-22-digital-first-public-experience · A8; B3 · none</a:t>
            </a:r>
          </a:p>
          <a:p>
            <a:pPr/>
            <a:r>
              <a:rPr b="0" sz="1800">
                <a:solidFill>
                  <a:srgbClr val="000000"/>
                </a:solidFill>
              </a:rPr>
              <a:t>Title 13 · none admitted · none · none</a:t>
            </a:r>
          </a:p>
          <a:p>
            <a:pPr/>
            <a:r>
              <a:rPr b="0" sz="1800">
                <a:solidFill>
                  <a:srgbClr val="000000"/>
                </a:solidFill>
              </a:rPr>
              <a:t>CIPSEA · none admitted · none · none</a:t>
            </a:r>
          </a:p>
          <a:p>
            <a:pPr/>
            <a:r>
              <a:rPr b="0" sz="1800">
                <a:solidFill>
                  <a:srgbClr val="000000"/>
                </a:solidFill>
              </a:rPr>
              <a:t>SPD (Statistical Policy Directive) · none admitted · none · none</a:t>
            </a:r>
          </a:p>
          <a:p>
            <a:pPr/>
            <a:r>
              <a:rPr b="0" sz="1800">
                <a:solidFill>
                  <a:srgbClr val="000000"/>
                </a:solidFill>
              </a:rPr>
              <a:t>DCAT-US · dcat-us-1-1-schema; dcat-us-3-dataset-schema; dcat-us-3-overview · A3; A8; D4; G4 · none</a:t>
            </a:r>
          </a:p>
          <a:p>
            <a:r>
              <a:rPr sz="900"/>
              <a:t/>
            </a:r>
          </a:p>
          <a:p>
            <a:pPr/>
            <a:r>
              <a:rPr b="0" sz="1800">
                <a:solidFill>
                  <a:srgbClr val="000000"/>
                </a:solidFill>
              </a:rPr>
              <a:t>by edge lists the indicators with an EVIDENCED_BY edge to a matched document. by text only lists the indicators whose evidence cell names the instrument but which have no such edge.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Per-indicator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One row per EVIDENCED_BY edge, in C_provenance.csv as well. Internal references (EVIDENCED_BY_INTERNAL) are listed after the table.</a:t>
            </a:r>
          </a:p>
          <a:p>
            <a:r>
              <a:rPr sz="900"/>
              <a:t/>
            </a:r>
          </a:p>
          <a:p>
            <a:pPr/>
            <a:r>
              <a:rPr b="0" sz="1800">
                <a:solidFill>
                  <a:srgbClr val="000000"/>
                </a:solidFill>
              </a:rPr>
              <a:t>Each indicator's cited documents, with their locators where the cell has one, are on its appendix slide.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 · Using it: the offline demo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D_demo_runbook.md, D_demo_capture.json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demo was run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Each command is copied from a file that already documents it. The source file and the exact source text are named under each step, and so is any substitution. Every command was executed once, by scripts/build_brief_pack.py --capture-demo at commit d330014dbfe8, and the lines it printed are pasted under it: the first lines, then the last lines when there were more. A command that failed is left in with its failure and a note.</a:t>
            </a:r>
          </a:p>
          <a:p>
            <a:r>
              <a:rPr sz="900"/>
              <a:t/>
            </a:r>
          </a:p>
          <a:p>
            <a:pPr/>
            <a:r>
              <a:rPr b="0" sz="1800">
                <a:solidFill>
                  <a:srgbClr val="000000"/>
                </a:solidFill>
              </a:rPr>
              <a:t>Failed steps: none.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Neo4j is up and the framework projection is current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Source: CLAUDE.md, which documents python -m pytest tests/test_framework_projection_roundtrip.py.</a:t>
            </a:r>
          </a:p>
          <a:p>
            <a:pPr/>
            <a:r>
              <a:rPr b="0" sz="1800">
                <a:solidFill>
                  <a:srgbClr val="000000"/>
                </a:solidFill>
              </a:rPr>
              <a:t>Output: exit 0, 2 lines, run at 2026-09-22T11:09:12+00:00.</a:t>
            </a:r>
          </a:p>
          <a:p>
            <a:pPr/>
            <a:r>
              <a:rPr b="0" sz="1200">
                <a:solidFill>
                  <a:srgbClr val="000000"/>
                </a:solidFill>
                <a:latin typeface="Courier New"/>
              </a:rPr>
              <a:t>     $ /opt/anaconda3/bin/python3 -m pytest tests/test_framework_projection_roundtrip.py -q</a:t>
            </a:r>
          </a:p>
          <a:p>
            <a:pPr/>
            <a:r>
              <a:rPr b="0" sz="1200">
                <a:solidFill>
                  <a:srgbClr val="000000"/>
                </a:solidFill>
                <a:latin typeface="Courier New"/>
              </a:rPr>
              <a:t>     .........                                                                [100%]</a:t>
            </a:r>
          </a:p>
          <a:p>
            <a:pPr/>
            <a:r>
              <a:rPr b="0" sz="1200">
                <a:solidFill>
                  <a:srgbClr val="000000"/>
                </a:solidFill>
                <a:latin typeface="Courier New"/>
              </a:rPr>
              <a:t>     9 passed in 0.88s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CLAUDE.md, which documents seldon go --brief.</a:t>
            </a:r>
          </a:p>
          <a:p>
            <a:pPr/>
            <a:r>
              <a:rPr b="0" sz="1400">
                <a:solidFill>
                  <a:srgbClr val="000000"/>
                </a:solidFill>
              </a:rPr>
              <a:t>Output: exit 0, 741 lines, run at 2026-09-22T11:09:13+00:00.</a:t>
            </a:r>
          </a:p>
          <a:p>
            <a:pPr/>
            <a:r>
              <a:rPr b="0" sz="1200">
                <a:solidFill>
                  <a:srgbClr val="000000"/>
                </a:solidFill>
                <a:latin typeface="Courier New"/>
              </a:rPr>
              <a:t>     $ seldon go --brief</a:t>
            </a:r>
          </a:p>
          <a:p>
            <a:pPr/>
            <a:r>
              <a:rPr b="0" sz="1200">
                <a:solidFill>
                  <a:srgbClr val="000000"/>
                </a:solidFill>
                <a:latin typeface="Courier New"/>
              </a:rPr>
              <a:t>     ## Role &amp; Behavioral Contract</a:t>
            </a:r>
          </a:p>
          <a:p>
            <a:r>
              <a:rPr sz="800"/>
              <a:t/>
            </a:r>
          </a:p>
          <a:p>
            <a:pPr/>
            <a:r>
              <a:rPr b="0" sz="1200">
                <a:solidFill>
                  <a:srgbClr val="000000"/>
                </a:solidFill>
                <a:latin typeface="Courier New"/>
              </a:rPr>
              <a:t>     You are orienting to a Seldon-managed project.</a:t>
            </a:r>
          </a:p>
          <a:p>
            <a:r>
              <a:rPr sz="800"/>
              <a:t/>
            </a:r>
          </a:p>
          <a:p>
            <a:pPr/>
            <a:r>
              <a:rPr b="0" sz="1200">
                <a:solidFill>
                  <a:srgbClr val="000000"/>
                </a:solidFill>
                <a:latin typeface="Courier New"/>
              </a:rPr>
              <a:t>     ### If You Are a Desktop Session (Claude Desktop, claude.ai)</a:t>
            </a:r>
          </a:p>
          <a:p>
            <a:r>
              <a:rPr sz="800"/>
              <a:t/>
            </a:r>
          </a:p>
          <a:p>
            <a:pPr/>
            <a:r>
              <a:rPr b="0" sz="1200">
                <a:solidFill>
                  <a:srgbClr val="000000"/>
                </a:solidFill>
                <a:latin typeface="Courier New"/>
              </a:rPr>
              <a:t>     - You design, plan, review, and produce CC task specs. You do NOT edit existing project files directly.</a:t>
            </a:r>
          </a:p>
          <a:p>
            <a:pPr/>
            <a:r>
              <a:rPr b="0" sz="1200">
                <a:solidFill>
                  <a:srgbClr val="000000"/>
                </a:solidFill>
                <a:latin typeface="Courier New"/>
              </a:rPr>
              <a:t>     - If you are about to </a:t>
            </a:r>
            <a:r>
              <a:rPr b="1" sz="1200">
                <a:solidFill>
                  <a:srgbClr val="000000"/>
                </a:solidFill>
                <a:latin typeface="Courier New"/>
              </a:rPr>
              <a:t>modify</a:t>
            </a:r>
            <a:r>
              <a:rPr b="0" sz="1200">
                <a:solidFill>
                  <a:srgbClr val="000000"/>
                </a:solidFill>
                <a:latin typeface="Courier New"/>
              </a:rPr>
              <a:t> a tracked file (anything in book/, paper/, sections/, or any file registered</a:t>
            </a:r>
          </a:p>
          <a:p>
            <a:pPr/>
            <a:r>
              <a:rPr b="0" sz="1200">
                <a:solidFill>
                  <a:srgbClr val="000000"/>
                </a:solidFill>
                <a:latin typeface="Courier New"/>
              </a:rPr>
              <a:t>     as a Seldon artifact), STOP. Write a CC task instead.</a:t>
            </a:r>
          </a:p>
          <a:p>
            <a:pPr/>
            <a:r>
              <a:rPr b="0" sz="1200">
                <a:solidFill>
                  <a:srgbClr val="000000"/>
                </a:solidFill>
                <a:latin typeface="Courier New"/>
              </a:rPr>
              <a:t>     - The only files you may write directly: CC tasks (in cc_tasks/), handoffs (in handoffs/), and design notes (i</a:t>
            </a:r>
          </a:p>
          <a:p>
            <a:pPr/>
            <a:r>
              <a:rPr b="0" sz="1200">
                <a:solidFill>
                  <a:srgbClr val="000000"/>
                </a:solidFill>
                <a:latin typeface="Courier New"/>
              </a:rPr>
              <a:t>     n docs/).</a:t>
            </a:r>
          </a:p>
          <a:p>
            <a:pPr/>
            <a:r>
              <a:rPr b="0" sz="1200">
                <a:solidFill>
                  <a:srgbClr val="000000"/>
                </a:solidFill>
                <a:latin typeface="Courier New"/>
              </a:rPr>
              <a:t>     - CC task files go in cc_tasks/ with naming convention YYYY-MM-DD_&lt;descriptive_slug&gt;.md.</a:t>
            </a:r>
          </a:p>
          <a:p>
            <a:pPr/>
            <a:r>
              <a:rPr b="0" sz="1200">
                <a:solidFill>
                  <a:srgbClr val="000000"/>
                </a:solidFill>
                <a:latin typeface="Courier New"/>
              </a:rPr>
              <a:t>     - CC task files are immutable once written. If changes are needed, write a new file or get explicit permission</a:t>
            </a:r>
          </a:p>
          <a:p>
            <a:pPr/>
            <a:r>
              <a:rPr b="0" sz="1200">
                <a:solidFill>
                  <a:srgbClr val="000000"/>
                </a:solidFill>
                <a:latin typeface="Courier New"/>
              </a:rPr>
              <a:t>     .</a:t>
            </a:r>
          </a:p>
          <a:p>
            <a:pPr/>
            <a:r>
              <a:rPr b="0" sz="1200">
                <a:solidFill>
                  <a:srgbClr val="000000"/>
                </a:solidFill>
                <a:latin typeface="Courier New"/>
              </a:rPr>
              <a:t>     - For trivial housekeeping (creating tasks, closing stale items, marking CC tasks complete), use MCP tools dir</a:t>
            </a:r>
          </a:p>
          <a:p>
            <a:pPr/>
            <a:r>
              <a:rPr b="0" sz="1200">
                <a:solidFill>
                  <a:srgbClr val="000000"/>
                </a:solidFill>
                <a:latin typeface="Courier New"/>
              </a:rPr>
              <a:t>     ectly: seldon_task_create, seldon_task_update, seldon_task_close, seldon_issue_create, seldon_cc_comp</a:t>
            </a:r>
          </a:p>
          <a:p>
            <a:pPr/>
            <a:r>
              <a:rPr b="0" sz="1200">
                <a:solidFill>
                  <a:srgbClr val="000000"/>
                </a:solidFill>
                <a:latin typeface="Courier New"/>
              </a:rPr>
              <a:t>     lete, seldon_cc_register, seldon_query.</a:t>
            </a:r>
          </a:p>
          <a:p>
            <a:pPr/>
            <a:r>
              <a:rPr b="0" sz="1200">
                <a:solidFill>
                  <a:srgbClr val="000000"/>
                </a:solidFill>
                <a:latin typeface="Courier New"/>
              </a:rPr>
              <a:t>     - You do NOT perform prose audits, glossary checks, cross-reference scans, or any compliance verification dire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ctly (no grep substitutes, no container-side scripts). These are seldon verify, seldon paper audit, and s</a:t>
            </a:r>
          </a:p>
          <a:p>
            <a:pPr/>
            <a:r>
              <a:rPr b="0" sz="1200">
                <a:solidFill>
                  <a:srgbClr val="000000"/>
                </a:solidFill>
                <a:latin typeface="Courier New"/>
              </a:rPr>
              <a:t>     eldon paper sync responsibilities — CLI tools that run on the user's machine via CC. If an audit is needed, w</a:t>
            </a:r>
          </a:p>
          <a:p>
            <a:pPr/>
            <a:r>
              <a:rPr b="0" sz="1200">
                <a:solidFill>
                  <a:srgbClr val="000000"/>
                </a:solidFill>
                <a:latin typeface="Courier New"/>
              </a:rPr>
              <a:t>     rite a CC task whose first step invokes the appropriate Seldon CLI tools. Findings go into the graph as Issues</a:t>
            </a:r>
          </a:p>
          <a:p>
            <a:pPr/>
            <a:r>
              <a:rPr b="0" sz="1200">
                <a:solidFill>
                  <a:srgbClr val="000000"/>
                </a:solidFill>
                <a:latin typeface="Courier New"/>
              </a:rPr>
              <a:t>     /ResearchTasks, not as prose in chat.</a:t>
            </a:r>
          </a:p>
          <a:p>
            <a:r>
              <a:rPr sz="800"/>
              <a:t/>
            </a:r>
          </a:p>
          <a:p>
            <a:pPr/>
            <a:r>
              <a:rPr b="0" sz="1200">
                <a:solidFill>
                  <a:srgbClr val="000000"/>
                </a:solidFill>
                <a:latin typeface="Courier New"/>
              </a:rPr>
              <a:t>     […]</a:t>
            </a:r>
          </a:p>
          <a:p>
            <a:pPr/>
            <a:r>
              <a:rPr b="0" sz="1200">
                <a:solidFill>
                  <a:srgbClr val="000000"/>
                </a:solidFill>
                <a:latin typeface="Courier New"/>
              </a:rPr>
              <a:t>     - seldon_cc_register(filepath, project_dir) — register CC task as proposed</a:t>
            </a:r>
          </a:p>
          <a:p>
            <a:pPr/>
            <a:r>
              <a:rPr b="0" sz="1200">
                <a:solidFill>
                  <a:srgbClr val="000000"/>
                </a:solidFill>
                <a:latin typeface="Courier New"/>
              </a:rPr>
              <a:t>     - seldon_handoff(project_dir, slug, summary, next) — close the session; returns the resume and CC dispatch b</a:t>
            </a:r>
          </a:p>
          <a:p>
            <a:pPr/>
            <a:r>
              <a:rPr b="0" sz="1200">
                <a:solidFill>
                  <a:srgbClr val="000000"/>
                </a:solidFill>
                <a:latin typeface="Courier New"/>
              </a:rPr>
              <a:t>     locks</a:t>
            </a:r>
          </a:p>
          <a:p>
            <a:pPr/>
            <a:r>
              <a:rPr b="0" sz="1200">
                <a:solidFill>
                  <a:srgbClr val="000000"/>
                </a:solidFill>
                <a:latin typeface="Courier New"/>
              </a:rPr>
              <a:t>     - seldon_query(cypher, project_dir) — read-only Cypher query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the project's published report in place of an adopter run's; the PDF beside it is docs/reports/2026-09_fss_ai_readiness_L0.pdf.</a:t>
            </a:r>
          </a:p>
          <a:p>
            <a:pPr/>
            <a:r>
              <a:rPr b="0" sz="1400">
                <a:solidFill>
                  <a:srgbClr val="000000"/>
                </a:solidFill>
              </a:rPr>
              <a:t>Output: exit 0, 633 lines, run at 2026-09-22T11:09:16+00:00.</a:t>
            </a:r>
          </a:p>
          <a:p>
            <a:pPr/>
            <a:r>
              <a:rPr b="0" sz="1200">
                <a:solidFill>
                  <a:srgbClr val="000000"/>
                </a:solidFill>
                <a:latin typeface="Courier New"/>
              </a:rPr>
              <a:t>     $ cat docs/reports/2026-09_fss_ai_readiness_L0.md</a:t>
            </a:r>
          </a:p>
          <a:p>
            <a:pPr/>
            <a:r>
              <a:rPr b="0" sz="1200">
                <a:solidFill>
                  <a:srgbClr val="000000"/>
                </a:solidFill>
                <a:latin typeface="Courier New"/>
              </a:rPr>
              <a:t>     # AI readiness of the federal statistical system: host-level findings</a:t>
            </a:r>
          </a:p>
          <a:p>
            <a:r>
              <a:rPr sz="800"/>
              <a:t/>
            </a:r>
          </a:p>
          <a:p>
            <a:pPr/>
            <a:r>
              <a:rPr b="0" sz="1200">
                <a:solidFill>
                  <a:srgbClr val="000000"/>
                </a:solidFill>
                <a:latin typeface="Courier New"/>
              </a:rPr>
              <a:t>     </a:t>
            </a:r>
            <a:r>
              <a:rPr b="1" sz="1200">
                <a:solidFill>
                  <a:srgbClr val="000000"/>
                </a:solidFill>
                <a:latin typeface="Courier New"/>
              </a:rPr>
              <a:t>Version.</a:t>
            </a:r>
            <a:r>
              <a:rPr b="0" sz="1200">
                <a:solidFill>
                  <a:srgbClr val="000000"/>
                </a:solidFill>
                <a:latin typeface="Courier New"/>
              </a:rPr>
              <a:t> Snapshot cycle scan_2026-09-10_rj4 · version 2026-09-10_rj4 · released 2026-09-19; the comm</a:t>
            </a:r>
          </a:p>
          <a:p>
            <a:pPr/>
            <a:r>
              <a:rPr b="0" sz="1200">
                <a:solidFill>
                  <a:srgbClr val="000000"/>
                </a:solidFill>
                <a:latin typeface="Courier New"/>
              </a:rPr>
              <a:t>     it this build was read from is recorded in data/index.json beside it. This document is a VIEW of data publis</a:t>
            </a:r>
          </a:p>
          <a:p>
            <a:pPr/>
            <a:r>
              <a:rPr b="0" sz="1200">
                <a:solidFill>
                  <a:srgbClr val="000000"/>
                </a:solidFill>
                <a:latin typeface="Courier New"/>
              </a:rPr>
              <a:t>     hed beside it: the matrices as JSON and CSV, the per-check source appendix, and every Result quoted below with</a:t>
            </a:r>
          </a:p>
          <a:p>
            <a:pPr/>
            <a:r>
              <a:rPr b="0" sz="1200">
                <a:solidFill>
                  <a:srgbClr val="000000"/>
                </a:solidFill>
                <a:latin typeface="Courier New"/>
              </a:rPr>
              <a:t>      its value, its state and the artifact that generated it. The site index links all of them. </a:t>
            </a:r>
            <a:r>
              <a:rPr b="1" sz="1200">
                <a:solidFill>
                  <a:srgbClr val="000000"/>
                </a:solidFill>
                <a:latin typeface="Courier New"/>
              </a:rPr>
              <a:t>Licence.</a:t>
            </a:r>
            <a:r>
              <a:rPr b="0" sz="1200">
                <a:solidFill>
                  <a:srgbClr val="000000"/>
                </a:solidFill>
                <a:latin typeface="Courier New"/>
              </a:rPr>
              <a:t> The r</a:t>
            </a:r>
          </a:p>
          <a:p>
            <a:pPr/>
            <a:r>
              <a:rPr b="0" sz="1200">
                <a:solidFill>
                  <a:srgbClr val="000000"/>
                </a:solidFill>
                <a:latin typeface="Courier New"/>
              </a:rPr>
              <a:t>     eport and the data it is a view of are CC-BY-4.0 (LICENSE-DATA); the code that produced them is MIT (LI</a:t>
            </a:r>
          </a:p>
          <a:p>
            <a:pPr/>
            <a:r>
              <a:rPr b="0" sz="1200">
                <a:solidFill>
                  <a:srgbClr val="000000"/>
                </a:solidFill>
                <a:latin typeface="Courier New"/>
              </a:rPr>
              <a:t>     CENSE). Documents under corpus/ are third-party works, retained as evidence under their own terms: neither li</a:t>
            </a:r>
          </a:p>
          <a:p>
            <a:pPr/>
            <a:r>
              <a:rPr b="0" sz="1200">
                <a:solidFill>
                  <a:srgbClr val="000000"/>
                </a:solidFill>
                <a:latin typeface="Courier New"/>
              </a:rPr>
              <a:t>     cence in this repository applies to them. </a:t>
            </a:r>
            <a:r>
              <a:rPr b="1" sz="1200">
                <a:solidFill>
                  <a:srgbClr val="000000"/>
                </a:solidFill>
                <a:latin typeface="Courier New"/>
              </a:rPr>
              <a:t>Standing.</a:t>
            </a:r>
            <a:r>
              <a:rPr b="0" sz="1200">
                <a:solidFill>
                  <a:srgbClr val="000000"/>
                </a:solidFill>
                <a:latin typeface="Courier New"/>
              </a:rPr>
              <a:t> No later judgement of this cycle's evidence is on the</a:t>
            </a:r>
          </a:p>
          <a:p>
            <a:pPr/>
            <a:r>
              <a:rPr b="0" sz="1200">
                <a:solidFill>
                  <a:srgbClr val="000000"/>
                </a:solidFill>
                <a:latin typeface="Courier New"/>
              </a:rPr>
              <a:t>     event log: the snapshot is the current judgement of record.</a:t>
            </a:r>
          </a:p>
          <a:p>
            <a:r>
              <a:rPr sz="800"/>
              <a:t/>
            </a:r>
          </a:p>
          <a:p>
            <a:pPr/>
            <a:r>
              <a:rPr b="0" sz="1200">
                <a:solidFill>
                  <a:srgbClr val="000000"/>
                </a:solidFill>
                <a:latin typeface="Courier New"/>
              </a:rPr>
              <a:t>     **Draft. 16 recognized bodies and three reference</a:t>
            </a:r>
          </a:p>
          <a:p>
            <a:pPr/>
            <a:r>
              <a:rPr b="0" sz="1200">
                <a:solidFill>
                  <a:srgbClr val="000000"/>
                </a:solidFill>
                <a:latin typeface="Courier New"/>
              </a:rPr>
              <a:t>     hosts, one cycle, one client identity.**</a:t>
            </a:r>
          </a:p>
          <a:p>
            <a:pPr/>
            <a:r>
              <a:rPr b="0" sz="1200">
                <a:solidFill>
                  <a:srgbClr val="000000"/>
                </a:solidFill>
                <a:latin typeface="Courier New"/>
              </a:rPr>
              <a:t>     Written from cc_tasks/2026-09-09_report_draft.md, revised to the cycle of 2026-09-10</a:t>
            </a:r>
          </a:p>
          <a:p>
            <a:pPr/>
            <a:r>
              <a:rPr b="0" sz="1200">
                <a:solidFill>
                  <a:srgbClr val="000000"/>
                </a:solidFill>
                <a:latin typeface="Courier New"/>
              </a:rPr>
              <a:t>     under cc_tasks/2026-09-11_l0_report_cycle4_revision.md and re-snapshotted under</a:t>
            </a:r>
          </a:p>
          <a:p>
            <a:pPr/>
            <a:r>
              <a:rPr b="0" sz="1200">
                <a:solidFill>
                  <a:srgbClr val="000000"/>
                </a:solidFill>
                <a:latin typeface="Courier New"/>
              </a:rPr>
              <a:t>     cc_tasks/2026-09-19_resnapshot_rj4.md. The snapshot is cycle scan_2026-09-10, the first</a:t>
            </a:r>
          </a:p>
          <a:p>
            <a:pPr/>
            <a:r>
              <a:rPr b="0" sz="1200">
                <a:solidFill>
                  <a:srgbClr val="000000"/>
                </a:solidFill>
                <a:latin typeface="Courier New"/>
              </a:rPr>
              <a:t>     over the complete frame, re-judged as scan_2026-09-10_rj4: the same stored observations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under the rules current when this was written, which judge seven product checks the earlier</a:t>
            </a:r>
          </a:p>
          <a:p>
            <a:pPr/>
            <a:r>
              <a:rPr b="0" sz="1200">
                <a:solidFill>
                  <a:srgbClr val="000000"/>
                </a:solidFill>
                <a:latin typeface="Courier New"/>
              </a:rPr>
              <a:t>     judgements of this cycle did not. Every number</a:t>
            </a:r>
          </a:p>
          <a:p>
            <a:pPr/>
            <a:r>
              <a:rPr b="0" sz="1200">
                <a:solidFill>
                  <a:srgbClr val="000000"/>
                </a:solidFill>
                <a:latin typeface="Courier New"/>
              </a:rPr>
              <a:t>     below is a registered Result quoted by name; nothing is typed into the prose.</a:t>
            </a:r>
          </a:p>
          <a:p>
            <a:r>
              <a:rPr sz="800"/>
              <a:t/>
            </a:r>
          </a:p>
          <a:p>
            <a:pPr/>
            <a:r>
              <a:rPr b="0" sz="1200">
                <a:solidFill>
                  <a:srgbClr val="000000"/>
                </a:solidFill>
                <a:latin typeface="Courier New"/>
              </a:rPr>
              <a:t>     […]</a:t>
            </a:r>
          </a:p>
          <a:p>
            <a:pPr/>
            <a:r>
              <a:rPr b="0" sz="1200">
                <a:solidFill>
                  <a:srgbClr val="000000"/>
                </a:solidFill>
                <a:latin typeface="Courier New"/>
              </a:rPr>
              <a:t>     outside the product is scope) govern what this report may say.</a:t>
            </a:r>
          </a:p>
          <a:p>
            <a:r>
              <a:rPr sz="800"/>
              <a:t/>
            </a:r>
          </a:p>
          <a:p>
            <a:pPr/>
            <a:r>
              <a:rPr b="0" sz="1200">
                <a:solidFill>
                  <a:srgbClr val="000000"/>
                </a:solidFill>
                <a:latin typeface="Courier New"/>
              </a:rPr>
              <a:t>     &lt;!-- lint: numerals-enforced --&gt;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scripts/score.py, which documents scripts/score.py --body NCHS.</a:t>
            </a:r>
          </a:p>
          <a:p>
            <a:pPr/>
            <a:r>
              <a:rPr b="0" sz="1400">
                <a:solidFill>
                  <a:srgbClr val="000000"/>
                </a:solidFill>
              </a:rPr>
              <a:t>Output: exit 0, 90 lines, run at 2026-09-22T11:09:16+00:00.</a:t>
            </a:r>
          </a:p>
          <a:p>
            <a:pPr/>
            <a:r>
              <a:rPr b="0" sz="1200">
                <a:solidFill>
                  <a:srgbClr val="000000"/>
                </a:solidFill>
                <a:latin typeface="Courier New"/>
              </a:rPr>
              <a:t>     $ /opt/anaconda3/bin/python3 scripts/score.py --body CENSUS</a:t>
            </a:r>
          </a:p>
          <a:p>
            <a:pPr/>
            <a:r>
              <a:rPr b="0" sz="1200">
                <a:solidFill>
                  <a:srgbClr val="000000"/>
                </a:solidFill>
                <a:latin typeface="Courier New"/>
              </a:rPr>
              <a:t>     # scoring model — cycle scan_2026-09-10_rj4, 16 bodies</a:t>
            </a:r>
          </a:p>
          <a:p>
            <a:pPr/>
            <a:r>
              <a:rPr b="0" sz="1200">
                <a:solidFill>
                  <a:srgbClr val="000000"/>
                </a:solidFill>
                <a:latin typeface="Courier New"/>
              </a:rPr>
              <a:t>     # Scores cover only what the harness measures; Tier O and D indicators are not scored.</a:t>
            </a:r>
          </a:p>
          <a:p>
            <a:pPr/>
            <a:r>
              <a:rPr b="0" sz="1200">
                <a:solidFill>
                  <a:srgbClr val="000000"/>
                </a:solidFill>
                <a:latin typeface="Courier New"/>
              </a:rPr>
              <a:t>     # coverage: bodies scored 13/16; legs scored 21/23 adopted harness legs; indicators measured 21/48 in the fram</a:t>
            </a:r>
          </a:p>
          <a:p>
            <a:pPr/>
            <a:r>
              <a:rPr b="0" sz="1200">
                <a:solidFill>
                  <a:srgbClr val="000000"/>
                </a:solidFill>
                <a:latin typeface="Courier New"/>
              </a:rPr>
              <a:t>     ework (21/23 harness_leg); criteria measured 5/7</a:t>
            </a:r>
          </a:p>
          <a:p>
            <a:pPr/>
            <a:r>
              <a:rPr b="0" sz="1200">
                <a:solidFill>
                  <a:srgbClr val="000000"/>
                </a:solidFill>
                <a:latin typeface="Courier New"/>
              </a:rPr>
              <a:t>     # two equal-weight schemes, no basis to prefer either: hierarchical (leg to criterion, OECD/JRC 2008 default)</a:t>
            </a:r>
          </a:p>
          <a:p>
            <a:pPr/>
            <a:r>
              <a:rPr b="0" sz="1200">
                <a:solidFill>
                  <a:srgbClr val="000000"/>
                </a:solidFill>
                <a:latin typeface="Courier New"/>
              </a:rPr>
              <a:t>     and flat (1/n per judged leg); readiness level is a cumulative ladder, never an average; scripts/score.py --e</a:t>
            </a:r>
          </a:p>
          <a:p>
            <a:pPr/>
            <a:r>
              <a:rPr b="0" sz="1200">
                <a:solidFill>
                  <a:srgbClr val="000000"/>
                </a:solidFill>
                <a:latin typeface="Courier New"/>
              </a:rPr>
              <a:t>     xplain for every step</a:t>
            </a:r>
          </a:p>
          <a:p>
            <a:r>
              <a:rPr sz="800"/>
              <a:t/>
            </a:r>
          </a:p>
          <a:p>
            <a:pPr/>
            <a:r>
              <a:rPr b="0" sz="1200">
                <a:solidFill>
                  <a:srgbClr val="000000"/>
                </a:solidFill>
                <a:latin typeface="Courier New"/>
              </a:rPr>
              <a:t>     CENSUS: score 0.080 hierarchical, rank 5; 0.190 flat, rank 5; of 13; legs 21/21, indicators 21/48, constructs</a:t>
            </a:r>
          </a:p>
          <a:p>
            <a:pPr/>
            <a:r>
              <a:rPr b="0" sz="1200">
                <a:solidFill>
                  <a:srgbClr val="000000"/>
                </a:solidFill>
                <a:latin typeface="Courier New"/>
              </a:rPr>
              <a:t>     21/47, criteria 5/7; excluded rows none</a:t>
            </a:r>
          </a:p>
          <a:p>
            <a:pPr/>
            <a:r>
              <a:rPr b="0" sz="1200">
                <a:solidFill>
                  <a:srgbClr val="000000"/>
                </a:solidFill>
                <a:latin typeface="Courier New"/>
              </a:rPr>
              <a:t>     CENSUS ranks 5 of 13 (hierarchical), and it rests on one pass: 1 pass of 1 judged row on A10; were that leg's</a:t>
            </a:r>
          </a:p>
          <a:p>
            <a:pPr/>
            <a:r>
              <a:rPr b="0" sz="1200">
                <a:solidFill>
                  <a:srgbClr val="000000"/>
                </a:solidFill>
                <a:latin typeface="Courier New"/>
              </a:rPr>
              <a:t>     verdicts reversed it would rank 9.</a:t>
            </a:r>
          </a:p>
          <a:p>
            <a:r>
              <a:rPr sz="800"/>
              <a:t/>
            </a:r>
          </a:p>
          <a:p>
            <a:pPr/>
            <a:r>
              <a:rPr b="0" sz="1200">
                <a:solidFill>
                  <a:srgbClr val="000000"/>
                </a:solidFill>
                <a:latin typeface="Courier New"/>
              </a:rPr>
              <a:t>     crit  construct                                                  leg           pass/judged  score</a:t>
            </a:r>
          </a:p>
          <a:p>
            <a:pPr/>
            <a:r>
              <a:rPr b="0" sz="1200">
                <a:solidFill>
                  <a:srgbClr val="000000"/>
                </a:solidFill>
                <a:latin typeface="Courier New"/>
              </a:rPr>
              <a:t>     A     Machine-readable formats                                   A1                0/2      0.000</a:t>
            </a:r>
          </a:p>
          <a:p>
            <a:pPr/>
            <a:r>
              <a:rPr b="0" sz="1200">
                <a:solidFill>
                  <a:srgbClr val="000000"/>
                </a:solidFill>
                <a:latin typeface="Courier New"/>
              </a:rPr>
              <a:t>     A     Application/data-tool machine surface                      A10               1/1      1.000</a:t>
            </a:r>
          </a:p>
          <a:p>
            <a:pPr/>
            <a:r>
              <a:rPr b="0" sz="1200">
                <a:solidFill>
                  <a:srgbClr val="000000"/>
                </a:solidFill>
                <a:latin typeface="Courier New"/>
              </a:rPr>
              <a:t>     A     Effective crawler access (declared / enforced / observed)  A11-declared      1/1      1.000</a:t>
            </a:r>
          </a:p>
          <a:p>
            <a:pPr/>
            <a:r>
              <a:rPr b="0" sz="1200">
                <a:solidFill>
                  <a:srgbClr val="000000"/>
                </a:solidFill>
                <a:latin typeface="Courier New"/>
              </a:rPr>
              <a:t>     A     Programmatic access                                        A2                0/2      0.000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A     Bulk access                                                A3                0/2      0.000</a:t>
            </a:r>
          </a:p>
          <a:p>
            <a:pPr/>
            <a:r>
              <a:rPr b="0" sz="1200">
                <a:solidFill>
                  <a:srgbClr val="000000"/>
                </a:solidFill>
                <a:latin typeface="Courier New"/>
              </a:rPr>
              <a:t>     […]</a:t>
            </a:r>
          </a:p>
          <a:p>
            <a:r>
              <a:rPr sz="800"/>
              <a:t/>
            </a:r>
          </a:p>
          <a:p>
            <a:pPr/>
            <a:r>
              <a:rPr b="0" sz="1200">
                <a:solidFill>
                  <a:srgbClr val="000000"/>
                </a:solidFill>
                <a:latin typeface="Courier New"/>
              </a:rPr>
              <a:t>     latest measurement: scan_2026-09-10_rj4 (2026-09-10)</a:t>
            </a:r>
          </a:p>
          <a:p>
            <a:pPr/>
            <a:r>
              <a:rPr b="0" sz="1200">
                <a:solidFill>
                  <a:srgbClr val="000000"/>
                </a:solidFill>
                <a:latin typeface="Courier New"/>
              </a:rPr>
              <a:t>     CENSUS's latest measurement is the snapshot scan_2026-09-10_rj4; no spot cycle has measured it since.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get_body,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run= dropped (the project's published tree), MYSITE -&gt; 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raph=None).get_body("CENSUS")["summary"])'</a:t>
            </a:r>
          </a:p>
          <a:p>
            <a:pPr/>
            <a:r>
              <a:rPr b="0" sz="1200">
                <a:solidFill>
                  <a:srgbClr val="000000"/>
                </a:solidFill>
                <a:latin typeface="Courier New"/>
              </a:rPr>
              <a:t>     34 failing of 39 judged on scan_2026-09-10_rj4; 16 bodies are on this cycle. CENSUS ranks 5 of 13 (hierarchica</a:t>
            </a:r>
          </a:p>
          <a:p>
            <a:pPr/>
            <a:r>
              <a:rPr b="0" sz="1200">
                <a:solidFill>
                  <a:srgbClr val="000000"/>
                </a:solidFill>
                <a:latin typeface="Courier New"/>
              </a:rPr>
              <a:t>     l), and it rests on one pass: 1 pass of 1 judged row on A10; were that leg's verdicts reversed it would rank 9</a:t>
            </a:r>
          </a:p>
          <a:p>
            <a:pPr/>
            <a:r>
              <a:rPr b="0" sz="1200">
                <a:solidFill>
                  <a:srgbClr val="000000"/>
                </a:solidFill>
                <a:latin typeface="Courier New"/>
              </a:rPr>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get_prescriptions,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get_prescriptions(body="CENSUS"), printing the failing legs and the first five actions.</a:t>
            </a:r>
          </a:p>
          <a:p>
            <a:pPr/>
            <a:r>
              <a:rPr b="0" sz="1800">
                <a:solidFill>
                  <a:srgbClr val="000000"/>
                </a:solidFill>
              </a:rPr>
              <a:t>Output: exit 0, 2 lines, run at 2026-09-22T11:09:16+00:00.</a:t>
            </a:r>
          </a:p>
          <a:p>
            <a:pPr/>
            <a:r>
              <a:rPr b="0" sz="1200">
                <a:solidFill>
                  <a:srgbClr val="000000"/>
                </a:solidFill>
                <a:latin typeface="Courier New"/>
              </a:rPr>
              <a:t>     $ /opt/anaconda3/bin/python3 -c 'import sys; sys.path.insert(0, "mcp"); import airkg_tools as T; a = T.Tools(gra</a:t>
            </a:r>
          </a:p>
          <a:p>
            <a:pPr/>
            <a:r>
              <a:rPr b="0" sz="1200">
                <a:solidFill>
                  <a:srgbClr val="000000"/>
                </a:solidFill>
                <a:latin typeface="Courier New"/>
              </a:rPr>
              <a:t>     $ ph=None).get_prescriptions(body="CENSUS"); print(a["failing_legs"]); print([x["title"] for x in a["actions"][:</a:t>
            </a:r>
          </a:p>
          <a:p>
            <a:pPr/>
            <a:r>
              <a:rPr b="0" sz="1200">
                <a:solidFill>
                  <a:srgbClr val="000000"/>
                </a:solidFill>
                <a:latin typeface="Courier New"/>
              </a:rPr>
              <a:t>     $ 5]])'</a:t>
            </a:r>
          </a:p>
          <a:p>
            <a:pPr/>
            <a:r>
              <a:rPr b="0" sz="1200">
                <a:solidFill>
                  <a:srgbClr val="000000"/>
                </a:solidFill>
                <a:latin typeface="Courier New"/>
              </a:rPr>
              <a:t>     ['A1', 'A2', 'A3', 'A6', 'A8', 'A9', 'B1', 'B2', 'B3', 'B4', 'B5', 'D1', 'D2', 'D3', 'D4', 'F4', 'G4']</a:t>
            </a:r>
          </a:p>
          <a:p>
            <a:pPr/>
            <a:r>
              <a:rPr b="0" sz="1200">
                <a:solidFill>
                  <a:srgbClr val="000000"/>
                </a:solidFill>
                <a:latin typeface="Courier New"/>
              </a:rPr>
              <a:t>     ["Expose the product through an API and publish the API's description", 'Serve a parseable OpenAPI description</a:t>
            </a:r>
          </a:p>
          <a:p>
            <a:pPr/>
            <a:r>
              <a:rPr b="0" sz="1200">
                <a:solidFill>
                  <a:srgbClr val="000000"/>
                </a:solidFill>
                <a:latin typeface="Courier New"/>
              </a:rPr>
              <a:t>      where the API is documented', 'Publish a machine-first entry point for the product', 'Return a machine format</a:t>
            </a:r>
          </a:p>
          <a:p>
            <a:pPr/>
            <a:r>
              <a:rPr b="0" sz="1200">
                <a:solidFill>
                  <a:srgbClr val="000000"/>
                </a:solidFill>
                <a:latin typeface="Courier New"/>
              </a:rPr>
              <a:t>      at the paths advertised for machines', 'Publish a machine-readable licence for the product']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get_requirements,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get_requirements(body="CENSUS").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raph=None).get_requirements(body="CENSUS")["summary"])'</a:t>
            </a:r>
          </a:p>
          <a:p>
            <a:pPr/>
            <a:r>
              <a:rPr b="0" sz="1200">
                <a:solidFill>
                  <a:srgbClr val="000000"/>
                </a:solidFill>
                <a:latin typeface="Courier New"/>
              </a:rPr>
              <a:t>     0 error cell(s) for CENSUS on scan_2026-09-10_rj4; 4 unmeasured half/halves and 33 untested test(s) that no bo</a:t>
            </a:r>
          </a:p>
          <a:p>
            <a:pPr/>
            <a:r>
              <a:rPr b="0" sz="1200">
                <a:solidFill>
                  <a:srgbClr val="000000"/>
                </a:solidFill>
                <a:latin typeface="Courier New"/>
              </a:rPr>
              <a:t>     dy is measured 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the MCP server (stdio)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stdin closed, so the stdio server sees end-of-input at once; in a demo the client (Claude Desktop) holds stdin open.</a:t>
            </a:r>
          </a:p>
          <a:p>
            <a:pPr/>
            <a:r>
              <a:rPr b="0" sz="1400">
                <a:solidFill>
                  <a:srgbClr val="000000"/>
                </a:solidFill>
              </a:rPr>
              <a:t>Output: exit 0, 25 lines, run at 2026-09-22T11:09:16+00:00.</a:t>
            </a:r>
          </a:p>
          <a:p>
            <a:pPr/>
            <a:r>
              <a:rPr b="0" sz="1200">
                <a:solidFill>
                  <a:srgbClr val="000000"/>
                </a:solidFill>
                <a:latin typeface="Courier New"/>
              </a:rPr>
              <a:t>     $ /opt/anaconda3/bin/python3 mcp/airkg_server.py --no-graph &lt; /dev/null</a:t>
            </a:r>
          </a:p>
          <a:p>
            <a:r>
              <a:rPr sz="800"/>
              <a:t/>
            </a:r>
          </a:p>
          <a:p>
            <a:pPr/>
            <a:r>
              <a:rPr b="0" sz="1200">
                <a:solidFill>
                  <a:srgbClr val="000000"/>
                </a:solidFill>
                <a:latin typeface="Courier New"/>
              </a:rPr>
              <a:t>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 ▄▀█ █▀▀ ▀█▀ █▀▄▀█ █▀▀ █▀█                        │</a:t>
            </a:r>
          </a:p>
          <a:p>
            <a:pPr/>
            <a:r>
              <a:rPr b="0" sz="1200">
                <a:solidFill>
                  <a:srgbClr val="000000"/>
                </a:solidFill>
                <a:latin typeface="Courier New"/>
              </a:rPr>
              <a:t>     │                         █▀  █▀█ ▄▄█  █  █ ▀ █ █▄▄ █▀▀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FastMCP 3.2.3                                 │</a:t>
            </a:r>
          </a:p>
          <a:p>
            <a:pPr/>
            <a:r>
              <a:rPr b="0" sz="1200">
                <a:solidFill>
                  <a:srgbClr val="000000"/>
                </a:solidFill>
                <a:latin typeface="Courier New"/>
              </a:rPr>
              <a:t>     │                            https://gofastmcp.com                             │</a:t>
            </a:r>
          </a:p>
          <a:p>
            <a:pPr/>
            <a:r>
              <a:rPr b="0" sz="1200">
                <a:solidFill>
                  <a:srgbClr val="000000"/>
                </a:solidFill>
                <a:latin typeface="Courier New"/>
              </a:rPr>
              <a:t>     │                                                                              │</a:t>
            </a:r>
          </a:p>
          <a:p>
            <a:pPr/>
            <a:r>
              <a:rPr b="0" sz="1200">
                <a:solidFill>
                  <a:srgbClr val="000000"/>
                </a:solidFill>
                <a:latin typeface="Courier New"/>
              </a:rPr>
              <a:t>     │                  🖥  Server:      ai-readiness-kg, 3.2.3                      │</a:t>
            </a:r>
          </a:p>
          <a:p>
            <a:pPr/>
            <a:r>
              <a:rPr b="0" sz="1200">
                <a:solidFill>
                  <a:srgbClr val="000000"/>
                </a:solidFill>
                <a:latin typeface="Courier New"/>
              </a:rPr>
              <a:t>     │                  🚀 Deploy free: https://horizon.prefect.io                  │</a:t>
            </a:r>
          </a:p>
          <a:p>
            <a:pPr/>
            <a:r>
              <a:rPr b="0" sz="1200">
                <a:solidFill>
                  <a:srgbClr val="000000"/>
                </a:solidFill>
                <a:latin typeface="Courier New"/>
              </a:rPr>
              <a:t>     […]</a:t>
            </a:r>
          </a:p>
          <a:p>
            <a:pPr/>
            <a:r>
              <a:rPr b="0" sz="1200">
                <a:solidFill>
                  <a:srgbClr val="000000"/>
                </a:solidFill>
                <a:latin typeface="Courier New"/>
              </a:rPr>
              <a:t>     [09/22/26 07:09:18] INFO     Starting MCP server                transport.py:209</a:t>
            </a:r>
          </a:p>
          <a:p>
            <a:pPr/>
            <a:r>
              <a:rPr b="0" sz="1200">
                <a:solidFill>
                  <a:srgbClr val="000000"/>
                </a:solidFill>
                <a:latin typeface="Courier New"/>
              </a:rPr>
              <a:t>                                  'ai-readiness-kg' with transport</a:t>
            </a:r>
          </a:p>
          <a:p>
            <a:pPr/>
            <a:r>
              <a:rPr b="0" sz="1200">
                <a:solidFill>
                  <a:srgbClr val="000000"/>
                </a:solidFill>
                <a:latin typeface="Courier New"/>
              </a:rPr>
              <a:t>                                  'stdio'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Request a live spot scan of one body (render only)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BEA -&gt; CENSUS; without --write, so no task file is created and no host is contacted.</a:t>
            </a:r>
          </a:p>
          <a:p>
            <a:pPr/>
            <a:r>
              <a:rPr b="0" sz="1400">
                <a:solidFill>
                  <a:srgbClr val="000000"/>
                </a:solidFill>
              </a:rPr>
              <a:t>Output: exit 0, 89 lines, run at 2026-09-22T11:09:18+00:00.</a:t>
            </a:r>
          </a:p>
          <a:p>
            <a:pPr/>
            <a:r>
              <a:rPr b="0" sz="1200">
                <a:solidFill>
                  <a:srgbClr val="000000"/>
                </a:solidFill>
                <a:latin typeface="Courier New"/>
              </a:rPr>
              <a:t>     $ /opt/anaconda3/bin/python3 scripts/render_spot_scan.py --target CENSUS</a:t>
            </a:r>
          </a:p>
          <a:p>
            <a:pPr/>
            <a:r>
              <a:rPr b="0" sz="1200">
                <a:solidFill>
                  <a:srgbClr val="000000"/>
                </a:solidFill>
                <a:latin typeface="Courier New"/>
              </a:rPr>
              <a:t>     # CC Task — spot cycle spot_census_2026-09-22: CENSUS measured again, on request</a:t>
            </a:r>
          </a:p>
          <a:p>
            <a:r>
              <a:rPr sz="800"/>
              <a:t/>
            </a:r>
          </a:p>
          <a:p>
            <a:pPr/>
            <a:r>
              <a:rPr b="0" sz="1200">
                <a:solidFill>
                  <a:srgbClr val="000000"/>
                </a:solidFill>
                <a:latin typeface="Courier New"/>
              </a:rPr>
              <a:t>     </a:t>
            </a:r>
            <a:r>
              <a:rPr b="1" sz="1200">
                <a:solidFill>
                  <a:srgbClr val="000000"/>
                </a:solidFill>
                <a:latin typeface="Courier New"/>
              </a:rPr>
              <a:t>Date:</a:t>
            </a:r>
            <a:r>
              <a:rPr b="0" sz="1200">
                <a:solidFill>
                  <a:srgbClr val="000000"/>
                </a:solidFill>
                <a:latin typeface="Courier New"/>
              </a:rPr>
              <a:t> 2026-09-22T11:09:18Z</a:t>
            </a:r>
          </a:p>
          <a:p>
            <a:pPr/>
            <a:r>
              <a:rPr b="0" sz="1200">
                <a:solidFill>
                  <a:srgbClr val="000000"/>
                </a:solidFill>
                <a:latin typeface="Courier New"/>
              </a:rPr>
              <a:t>     </a:t>
            </a:r>
            <a:r>
              <a:rPr b="1" sz="1200">
                <a:solidFill>
                  <a:srgbClr val="000000"/>
                </a:solidFill>
                <a:latin typeface="Courier New"/>
              </a:rPr>
              <a:t>Project:</a:t>
            </a:r>
            <a:r>
              <a:rPr b="0" sz="1200">
                <a:solidFill>
                  <a:srgbClr val="000000"/>
                </a:solidFill>
                <a:latin typeface="Courier New"/>
              </a:rPr>
              <a:t> ai-readiness-kg</a:t>
            </a:r>
          </a:p>
          <a:p>
            <a:pPr/>
            <a:r>
              <a:rPr b="0" sz="1200">
                <a:solidFill>
                  <a:srgbClr val="000000"/>
                </a:solidFill>
                <a:latin typeface="Courier New"/>
              </a:rPr>
              <a:t>     </a:t>
            </a:r>
            <a:r>
              <a:rPr b="1" sz="1200">
                <a:solidFill>
                  <a:srgbClr val="000000"/>
                </a:solidFill>
                <a:latin typeface="Courier New"/>
              </a:rPr>
              <a:t>Authored by:</a:t>
            </a:r>
            <a:r>
              <a:rPr b="0" sz="1200">
                <a:solidFill>
                  <a:srgbClr val="000000"/>
                </a:solidFill>
                <a:latin typeface="Courier New"/>
              </a:rPr>
              <a:t> scripts/render_spot_scan.py --target CENSUS, rendering</a:t>
            </a:r>
          </a:p>
          <a:p>
            <a:pPr/>
            <a:r>
              <a:rPr b="0" sz="1200">
                <a:solidFill>
                  <a:srgbClr val="000000"/>
                </a:solidFill>
                <a:latin typeface="Courier New"/>
              </a:rPr>
              <a:t>     cc_tasks/templates/spot_scan.md. A spot cycle runs when a publisher asks to see its fixes</a:t>
            </a:r>
          </a:p>
          <a:p>
            <a:pPr/>
            <a:r>
              <a:rPr b="0" sz="1200">
                <a:solidFill>
                  <a:srgbClr val="000000"/>
                </a:solidFill>
                <a:latin typeface="Courier New"/>
              </a:rPr>
              <a:t>     measured; it is requested, never scheduled, and its date is the day it was rendered.</a:t>
            </a:r>
          </a:p>
          <a:p>
            <a:pPr/>
            <a:r>
              <a:rPr b="0" sz="1200">
                <a:solidFill>
                  <a:srgbClr val="000000"/>
                </a:solidFill>
                <a:latin typeface="Courier New"/>
              </a:rPr>
              <a:t>     </a:t>
            </a:r>
            <a:r>
              <a:rPr b="1" sz="1200">
                <a:solidFill>
                  <a:srgbClr val="000000"/>
                </a:solidFill>
                <a:latin typeface="Courier New"/>
              </a:rPr>
              <a:t>Implements:</a:t>
            </a:r>
            <a:r>
              <a:rPr b="0" sz="1200">
                <a:solidFill>
                  <a:srgbClr val="000000"/>
                </a:solidFill>
                <a:latin typeface="Courier New"/>
              </a:rPr>
              <a:t> cc_tasks/2026-09-19_spot_scan.md decisions 1 to 3 (a spot is a first-class</a:t>
            </a:r>
          </a:p>
          <a:p>
            <a:pPr/>
            <a:r>
              <a:rPr b="0" sz="1200">
                <a:solidFill>
                  <a:srgbClr val="000000"/>
                </a:solidFill>
                <a:latin typeface="Courier New"/>
              </a:rPr>
              <a:t>     measurement of the bodies it names and never stands in for the frame), DD-041 (byte-identical</a:t>
            </a:r>
          </a:p>
          <a:p>
            <a:pPr/>
            <a:r>
              <a:rPr b="0" sz="1200">
                <a:solidFill>
                  <a:srgbClr val="000000"/>
                </a:solidFill>
                <a:latin typeface="Courier New"/>
              </a:rPr>
              <a:t>     re-derivation), DD-059 (Tier C stays out of product legs), DD-066 (the frame gives each surface</a:t>
            </a:r>
          </a:p>
          <a:p>
            <a:pPr/>
            <a:r>
              <a:rPr b="0" sz="1200">
                <a:solidFill>
                  <a:srgbClr val="000000"/>
                </a:solidFill>
                <a:latin typeface="Courier New"/>
              </a:rPr>
              <a:t>     its legs), DN-003 (a cycle's judgements go on the append-only log), DN-004 (the report's</a:t>
            </a:r>
          </a:p>
          <a:p>
            <a:pPr/>
            <a:r>
              <a:rPr b="0" sz="1200">
                <a:solidFill>
                  <a:srgbClr val="000000"/>
                </a:solidFill>
                <a:latin typeface="Courier New"/>
              </a:rPr>
              <a:t>     snapshot is a decision, not a side effect).</a:t>
            </a:r>
          </a:p>
          <a:p>
            <a:pPr/>
            <a:r>
              <a:rPr b="0" sz="1200">
                <a:solidFill>
                  <a:srgbClr val="000000"/>
                </a:solidFill>
                <a:latin typeface="Courier New"/>
              </a:rPr>
              <a:t>     </a:t>
            </a:r>
            <a:r>
              <a:rPr b="1" sz="1200">
                <a:solidFill>
                  <a:srgbClr val="000000"/>
                </a:solidFill>
                <a:latin typeface="Courier New"/>
              </a:rPr>
              <a:t>Framework layer served (DN-005 §5 rule 1):</a:t>
            </a:r>
            <a:r>
              <a:rPr b="0" sz="1200">
                <a:solidFill>
                  <a:srgbClr val="000000"/>
                </a:solidFill>
                <a:latin typeface="Courier New"/>
              </a:rPr>
              <a:t> §2.2 Tier M, per body. The measured tier for one</a:t>
            </a:r>
          </a:p>
          <a:p>
            <a:pPr/>
            <a:r>
              <a:rPr b="0" sz="1200">
                <a:solidFill>
                  <a:srgbClr val="000000"/>
                </a:solidFill>
                <a:latin typeface="Courier New"/>
              </a:rPr>
              <a:t>     publisher: the answer to "we fixed it — does the instrument see it now".</a:t>
            </a:r>
          </a:p>
          <a:p>
            <a:pPr/>
            <a:r>
              <a:rPr b="0" sz="1200">
                <a:solidFill>
                  <a:srgbClr val="000000"/>
                </a:solidFill>
                <a:latin typeface="Courier New"/>
              </a:rPr>
              <a:t>     […]</a:t>
            </a:r>
          </a:p>
          <a:p>
            <a:pPr/>
            <a:r>
              <a:rPr b="0" sz="1200">
                <a:solidFill>
                  <a:srgbClr val="000000"/>
                </a:solidFill>
                <a:latin typeface="Courier New"/>
              </a:rPr>
              <a:t>     this template got wrong. Then seldon cc complete, commit, push.</a:t>
            </a:r>
          </a:p>
          <a:p>
            <a:r>
              <a:rPr sz="800"/>
              <a:t/>
            </a:r>
          </a:p>
          <a:p>
            <a:pPr/>
            <a:r>
              <a:rPr b="0" sz="1200">
                <a:solidFill>
                  <a:srgbClr val="000000"/>
                </a:solidFill>
                <a:latin typeface="Courier New"/>
              </a:rPr>
              <a:t>     </a:t>
            </a:r>
            <a:r>
              <a:rPr b="1" sz="1200">
                <a:solidFill>
                  <a:srgbClr val="000000"/>
                </a:solidFill>
                <a:latin typeface="Courier New"/>
              </a:rPr>
              <a:t>SEQUENCING:</a:t>
            </a:r>
            <a:r>
              <a:rPr b="0" sz="1200">
                <a:solidFill>
                  <a:srgbClr val="000000"/>
                </a:solidFill>
                <a:latin typeface="Courier New"/>
              </a:rPr>
              <a:t> §1 → glob addenda → §2 → §3 (hard stop) → §4 → §5 → push.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spot scan end to end against the loopback fixtures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this machine's interpreter; -q. Every URL is 127.0.0.1; no federal host.</a:t>
            </a:r>
          </a:p>
          <a:p>
            <a:pPr/>
            <a:r>
              <a:rPr b="0" sz="1400">
                <a:solidFill>
                  <a:srgbClr val="000000"/>
                </a:solidFill>
              </a:rPr>
              <a:t>Output: exit 0, 117 lines, run at 2026-09-22T11:09:18+00:00.</a:t>
            </a:r>
          </a:p>
          <a:p>
            <a:pPr/>
            <a:r>
              <a:rPr b="0" sz="1200">
                <a:solidFill>
                  <a:srgbClr val="000000"/>
                </a:solidFill>
                <a:latin typeface="Courier New"/>
              </a:rPr>
              <a:t>     $ /opt/anaconda3/bin/python3 -m pytest tests/test_spot_scan.py -k loopback -q</a:t>
            </a:r>
          </a:p>
          <a:p>
            <a:pPr/>
            <a:r>
              <a:rPr b="0" sz="1200">
                <a:solidFill>
                  <a:srgbClr val="000000"/>
                </a:solidFill>
                <a:latin typeface="Courier New"/>
              </a:rPr>
              <a:t>     .....</a:t>
            </a:r>
          </a:p>
          <a:p>
            <a:pPr/>
            <a:r>
              <a:rPr b="0" sz="1200">
                <a:solidFill>
                  <a:srgbClr val="000000"/>
                </a:solidFill>
                <a:latin typeface="Courier New"/>
              </a:rPr>
              <a:t>     VIEWS get_body.latest_measurement: {</a:t>
            </a:r>
          </a:p>
          <a:p>
            <a:pPr/>
            <a:r>
              <a:rPr b="0" sz="1200">
                <a:solidFill>
                  <a:srgbClr val="000000"/>
                </a:solidFill>
                <a:latin typeface="Courier New"/>
              </a:rPr>
              <a:t>      "body": "BEA",</a:t>
            </a:r>
          </a:p>
          <a:p>
            <a:pPr/>
            <a:r>
              <a:rPr b="0" sz="1200">
                <a:solidFill>
                  <a:srgbClr val="000000"/>
                </a:solidFill>
                <a:latin typeface="Courier New"/>
              </a:rPr>
              <a:t>      "snapshot": "scan_2026-09-10_rj4",</a:t>
            </a:r>
          </a:p>
          <a:p>
            <a:pPr/>
            <a:r>
              <a:rPr b="0" sz="1200">
                <a:solidFill>
                  <a:srgbClr val="000000"/>
                </a:solidFill>
                <a:latin typeface="Courier New"/>
              </a:rPr>
              <a:t>      "snapshot_measured_on": "2026-09-10",</a:t>
            </a:r>
          </a:p>
          <a:p>
            <a:pPr/>
            <a:r>
              <a:rPr b="0" sz="1200">
                <a:solidFill>
                  <a:srgbClr val="000000"/>
                </a:solidFill>
                <a:latin typeface="Courier New"/>
              </a:rPr>
              <a:t>      "latest": "spot_bea_2026-09-22",</a:t>
            </a:r>
          </a:p>
          <a:p>
            <a:pPr/>
            <a:r>
              <a:rPr b="0" sz="1200">
                <a:solidFill>
                  <a:srgbClr val="000000"/>
                </a:solidFill>
                <a:latin typeface="Courier New"/>
              </a:rPr>
              <a:t>      "latest_measured_on": "2026-09-22",</a:t>
            </a:r>
          </a:p>
          <a:p>
            <a:pPr/>
            <a:r>
              <a:rPr b="0" sz="1200">
                <a:solidFill>
                  <a:srgbClr val="000000"/>
                </a:solidFill>
                <a:latin typeface="Courier New"/>
              </a:rPr>
              <a:t>      "latest_is_spot": true,</a:t>
            </a:r>
          </a:p>
          <a:p>
            <a:pPr/>
            <a:r>
              <a:rPr b="0" sz="1200">
                <a:solidFill>
                  <a:srgbClr val="000000"/>
                </a:solidFill>
                <a:latin typeface="Courier New"/>
              </a:rPr>
              <a:t>      "passed_since_snapshot": [</a:t>
            </a:r>
          </a:p>
          <a:p>
            <a:pPr/>
            <a:r>
              <a:rPr b="0" sz="1200">
                <a:solidFill>
                  <a:srgbClr val="000000"/>
                </a:solidFill>
                <a:latin typeface="Courier New"/>
              </a:rPr>
              <a:t>       "A1",</a:t>
            </a:r>
          </a:p>
          <a:p>
            <a:pPr/>
            <a:r>
              <a:rPr b="0" sz="1200">
                <a:solidFill>
                  <a:srgbClr val="000000"/>
                </a:solidFill>
                <a:latin typeface="Courier New"/>
              </a:rPr>
              <a:t>       "A2",</a:t>
            </a:r>
          </a:p>
          <a:p>
            <a:pPr/>
            <a:r>
              <a:rPr b="0" sz="1200">
                <a:solidFill>
                  <a:srgbClr val="000000"/>
                </a:solidFill>
                <a:latin typeface="Courier New"/>
              </a:rPr>
              <a:t>       "A5",</a:t>
            </a:r>
          </a:p>
          <a:p>
            <a:pPr/>
            <a:r>
              <a:rPr b="0" sz="1200">
                <a:solidFill>
                  <a:srgbClr val="000000"/>
                </a:solidFill>
                <a:latin typeface="Courier New"/>
              </a:rPr>
              <a:t>       "A6",</a:t>
            </a:r>
          </a:p>
          <a:p>
            <a:pPr/>
            <a:r>
              <a:rPr b="0" sz="1200">
                <a:solidFill>
                  <a:srgbClr val="000000"/>
                </a:solidFill>
                <a:latin typeface="Courier New"/>
              </a:rPr>
              <a:t>       "A8",</a:t>
            </a:r>
          </a:p>
          <a:p>
            <a:pPr/>
            <a:r>
              <a:rPr b="0" sz="1200">
                <a:solidFill>
                  <a:srgbClr val="000000"/>
                </a:solidFill>
                <a:latin typeface="Courier New"/>
              </a:rPr>
              <a:t>     […]</a:t>
            </a:r>
          </a:p>
          <a:p>
            <a:r>
              <a:rPr sz="800"/>
              <a:t/>
            </a:r>
          </a:p>
          <a:p>
            <a:pPr/>
            <a:r>
              <a:rPr b="0" sz="1200">
                <a:solidFill>
                  <a:srgbClr val="000000"/>
                </a:solidFill>
                <a:latin typeface="Courier New"/>
              </a:rPr>
              <a:t>     -- Docs: https://docs.pytest.org/en/stable/how-to/capture-warnings.html</a:t>
            </a:r>
          </a:p>
          <a:p>
            <a:pPr/>
            <a:r>
              <a:rPr b="0" sz="1200">
                <a:solidFill>
                  <a:srgbClr val="000000"/>
                </a:solidFill>
                <a:latin typeface="Courier New"/>
              </a:rPr>
              <a:t>     6 passed, 12 deselected, 52 warnings in 28.81s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a second agency runs it: the adopter runbook, executed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none; the test runs every bash block of the adopter page in a scratch copy of the tree against a loopback "site".</a:t>
            </a:r>
          </a:p>
          <a:p>
            <a:pPr/>
            <a:r>
              <a:rPr b="0" sz="1800">
                <a:solidFill>
                  <a:srgbClr val="000000"/>
                </a:solidFill>
              </a:rPr>
              <a:t>Output: exit 0, 2 lines, run at 2026-09-22T11:09:48+00:00.</a:t>
            </a:r>
          </a:p>
          <a:p>
            <a:pPr/>
            <a:r>
              <a:rPr b="0" sz="1200">
                <a:solidFill>
                  <a:srgbClr val="000000"/>
                </a:solidFill>
                <a:latin typeface="Courier New"/>
              </a:rPr>
              <a:t>     $ /opt/anaconda3/bin/python3 -m pytest tests/test_adopter_path.py::test_the_runbook_runs_as_written -q</a:t>
            </a:r>
          </a:p>
          <a:p>
            <a:pPr/>
            <a:r>
              <a:rPr b="0" sz="1200">
                <a:solidFill>
                  <a:srgbClr val="000000"/>
                </a:solidFill>
                <a:latin typeface="Courier New"/>
              </a:rPr>
              <a:t>     .                                                                        [100%]</a:t>
            </a:r>
          </a:p>
          <a:p>
            <a:pPr/>
            <a:r>
              <a:rPr b="0" sz="1200">
                <a:solidFill>
                  <a:srgbClr val="000000"/>
                </a:solidFill>
                <a:latin typeface="Courier New"/>
              </a:rPr>
              <a:t>     1 passed in 773.32s (0:12:53)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 · Architecture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Four diagrams. Every box names the code it stands for, and the generator resolves each file:line against the code when it renders. A box whose code has moved stops the build, so no diagram here is drawn from memory.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Operational view: from an agency site to a published verdict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a.png"/>
          <p:cNvPicPr>
            <a:picLocks noChangeAspect="1"/>
          </p:cNvPicPr>
          <p:nvPr/>
        </p:nvPicPr>
        <p:blipFill>
          <a:blip r:embed="rId2"/>
          <a:stretch>
            <a:fillRect/>
          </a:stretch>
        </p:blipFill>
        <p:spPr>
          <a:xfrm>
            <a:off x="457200" y="1188720"/>
            <a:ext cx="11274552" cy="1622135"/>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Left to right is one cycle. The fetcher is the only part that touches the network. It sends one declared identity, reads robots.txt before anything else on a host, and keeps every response body under its sha256. Rules never fetch: they read Observations and return a Finding. The Findings go to the append-only log, and the matrices, the report, the site and the MCP are read from the log or from what it projects. Dotted arrows are configuration, not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Systems view: processes, stores and the one owner of each layer</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b.png"/>
          <p:cNvPicPr>
            <a:picLocks noChangeAspect="1"/>
          </p:cNvPicPr>
          <p:nvPr/>
        </p:nvPicPr>
        <p:blipFill>
          <a:blip r:embed="rId2"/>
          <a:stretch>
            <a:fillRect/>
          </a:stretch>
        </p:blipFill>
        <p:spPr>
          <a:xfrm>
            <a:off x="457200" y="1188720"/>
            <a:ext cx="6428232" cy="413081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two stores of record are the event log and the framework record. Neo4j is a projection of both and can be deleted and rebuilt. Each projected layer has exactly one writer. build_projection.py resets only the KG labels, publish.py owns Observation, Finding and Rule, and load_framework_graph.py owns the framework labels (CLAUDE.md:70). The framework record itself has one writer, framework_writeback.save. Seldon's artifact graph lives in the same database under disjoint labels. The dispatcher is in the Seldon repository and launches one session per registered task. The MCP server reads the record and the projection and writes nothing.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Data flow for one verdict: CENSUS, worked from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c.png"/>
          <p:cNvPicPr>
            <a:picLocks noChangeAspect="1"/>
          </p:cNvPicPr>
          <p:nvPr/>
        </p:nvPicPr>
        <p:blipFill>
          <a:blip r:embed="rId2"/>
          <a:stretch>
            <a:fillRect/>
          </a:stretch>
        </p:blipFill>
        <p:spPr>
          <a:xfrm>
            <a:off x="457200" y="1188720"/>
            <a:ext cx="6428232" cy="386048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URL was fetched once. The Observation carries the response body's digest, and the body sits under that digest in the evidence store. The rule read the Observation and produced the Finding, and the matrix cell names the Finding. A reader can re-hash the stored body and re-run the rule (assessment/harness/scan/rederive.py) without touching the network.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Judgement generations: re-judgement without re-fetch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d.png"/>
          <p:cNvPicPr>
            <a:picLocks noChangeAspect="1"/>
          </p:cNvPicPr>
          <p:nvPr/>
        </p:nvPicPr>
        <p:blipFill>
          <a:blip r:embed="rId2"/>
          <a:stretch>
            <a:fillRect/>
          </a:stretch>
        </p:blipFill>
        <p:spPr>
          <a:xfrm>
            <a:off x="2673215" y="1188720"/>
            <a:ext cx="1996201" cy="507492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A re-judgement runs the current rules over Observations already on the log and fetches nothing. Its Findings cite the source cycle's obs_ids and SUPERSEDES their predecessors one to one (docs/design/2026-09-14_DN-003_event_log_and_rejudgements.md:12). A Finding with no successor is current. The published report points at the current generation of its snapshot cycle, which is why the report can move to a new judgement without a new scan.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 · Results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Pointers only. No number is re-typed here: each Result is named with its id, and its value is on the graph and in the report.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Where the results live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what · where</a:t>
            </a:r>
          </a:p>
          <a:p>
            <a:pPr/>
            <a:r>
              <a:rPr b="0" sz="1800">
                <a:solidFill>
                  <a:srgbClr val="000000"/>
                </a:solidFill>
              </a:rPr>
              <a:t>title · AI readiness of the federal statistical system: host-level findings</a:t>
            </a:r>
          </a:p>
          <a:p>
            <a:pPr/>
            <a:r>
              <a:rPr b="0" sz="1800">
                <a:solidFill>
                  <a:srgbClr val="000000"/>
                </a:solidFill>
              </a:rPr>
              <a:t>version · 2026-09-10_rj4</a:t>
            </a:r>
          </a:p>
          <a:p>
            <a:pPr/>
            <a:r>
              <a:rPr b="0" sz="1800">
                <a:solidFill>
                  <a:srgbClr val="000000"/>
                </a:solidFill>
              </a:rPr>
              <a:t>released · 2026-09-19</a:t>
            </a:r>
          </a:p>
          <a:p>
            <a:pPr/>
            <a:r>
              <a:rPr b="0" sz="1800">
                <a:solidFill>
                  <a:srgbClr val="000000"/>
                </a:solidFill>
              </a:rPr>
              <a:t>cycle of record · scan_2026-09-10_rj4</a:t>
            </a:r>
          </a:p>
          <a:p>
            <a:pPr/>
            <a:r>
              <a:rPr b="0" sz="1800">
                <a:solidFill>
                  <a:srgbClr val="000000"/>
                </a:solidFill>
              </a:rPr>
              <a:t>report (markdown) · docs/reports/2026-09_fss_ai_readiness_L0.md</a:t>
            </a:r>
          </a:p>
          <a:p>
            <a:pPr/>
            <a:r>
              <a:rPr b="0" sz="1800">
                <a:solidFill>
                  <a:srgbClr val="000000"/>
                </a:solidFill>
              </a:rPr>
              <a:t>report (PDF) · docs/reports/2026-09_fss_ai_readiness_L0.pdf</a:t>
            </a:r>
          </a:p>
          <a:p>
            <a:pPr/>
            <a:r>
              <a:rPr b="0" sz="1800">
                <a:solidFill>
                  <a:srgbClr val="000000"/>
                </a:solidFill>
              </a:rPr>
              <a:t>site · docs/index.html, served at https://brockwebb.github.io/ai-readiness-kg/ (whether it IS served is a repository setting, docs/reports/publication.yaml)</a:t>
            </a:r>
          </a:p>
          <a:p>
            <a:pPr/>
            <a:r>
              <a:rPr b="0" sz="1800">
                <a:solidFill>
                  <a:srgbClr val="000000"/>
                </a:solidFill>
              </a:rPr>
              <a:t>matrices · docs/reports/scan_matrix_product_2026-09-10_rj4.csv, docs/reports/scan_matrix_product_2026-09-10_rj4.json, docs/reports/scan_matrix_tierA_2026-09-10_rj4.csv, docs/reports/scan_matrix_tierA_2026-09-10_rj4.json, docs/reports/scan_matrix_tierC_2026-09-10_rj4.csv, docs/reports/scan_matrix_tierC_2026-09-10_rj4.json</a:t>
            </a:r>
          </a:p>
          <a:p>
            <a:pPr/>
            <a:r>
              <a:rPr b="0" sz="1800">
                <a:solidFill>
                  <a:srgbClr val="000000"/>
                </a:solidFill>
              </a:rPr>
              <a:t>citation files · CITATION.cff, .zenodo.json</a:t>
            </a:r>
          </a:p>
          <a:p>
            <a:pPr/>
            <a:r>
              <a:rPr b="0" sz="1800">
                <a:solidFill>
                  <a:srgbClr val="000000"/>
                </a:solidFill>
              </a:rPr>
              <a:t>repository · https://github.com/brockwebb/ai-readiness-kg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Headline Results, by name and id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headline Results are the ones the report's opening section quotes (docs/reports/sections/10_frame.md, 8 names), each looked up on the Seldon graph by name.</a:t>
            </a:r>
          </a:p>
          <a:p>
            <a:pPr/>
            <a:r>
              <a:rPr b="1" sz="1800">
                <a:solidFill>
                  <a:srgbClr val="000000"/>
                </a:solidFill>
              </a:rPr>
              <a:t>Result · artifact id · state</a:t>
            </a:r>
          </a:p>
          <a:p>
            <a:pPr/>
            <a:r>
              <a:rPr b="0" sz="1800">
                <a:solidFill>
                  <a:srgbClr val="000000"/>
                </a:solidFill>
              </a:rPr>
              <a:t>fss_agencies_tier_a · fbe1f7ac-21bc-4f3e-8d26-900a9785a235 · published</a:t>
            </a:r>
          </a:p>
          <a:p>
            <a:pPr/>
            <a:r>
              <a:rPr b="0" sz="1800">
                <a:solidFill>
                  <a:srgbClr val="000000"/>
                </a:solidFill>
              </a:rPr>
              <a:t>fss_scan_netlocs_2026-09 · f6fec689-622b-4f4d-b48e-23fb2824a685 · published</a:t>
            </a:r>
          </a:p>
          <a:p>
            <a:pPr/>
            <a:r>
              <a:rPr b="0" sz="1800">
                <a:solidFill>
                  <a:srgbClr val="000000"/>
                </a:solidFill>
              </a:rPr>
              <a:t>fss_scan_netlocs_contacted_2026-09-10 · 494f6516-4054-4fa0-8158-4d43534a7e94 · published</a:t>
            </a:r>
          </a:p>
          <a:p>
            <a:pPr/>
            <a:r>
              <a:rPr b="0" sz="1800">
                <a:solidFill>
                  <a:srgbClr val="000000"/>
                </a:solidFill>
              </a:rPr>
              <a:t>fss_scan_surfaces_2026-09-10 · f338db81-49cf-4259-95fa-7fc55d5f9968 · published</a:t>
            </a:r>
          </a:p>
          <a:p>
            <a:pPr/>
            <a:r>
              <a:rPr b="0" sz="1800">
                <a:solidFill>
                  <a:srgbClr val="000000"/>
                </a:solidFill>
              </a:rPr>
              <a:t>fss_tier_a_source_disagreements · ba50fe78-6c5c-4d32-9c06-9034a013d358 · published</a:t>
            </a:r>
          </a:p>
          <a:p>
            <a:pPr/>
            <a:r>
              <a:rPr b="0" sz="1800">
                <a:solidFill>
                  <a:srgbClr val="000000"/>
                </a:solidFill>
              </a:rPr>
              <a:t>scan_findings_2026-09-10_rj4 · ce17f6d1-05f5-468f-80c9-11598d3b15cd · published</a:t>
            </a:r>
          </a:p>
          <a:p>
            <a:pPr/>
            <a:r>
              <a:rPr b="0" sz="1800">
                <a:solidFill>
                  <a:srgbClr val="000000"/>
                </a:solidFill>
              </a:rPr>
              <a:t>scan_observations_2026-09-10 · 89389080-f386-4f25-b017-4ef85cec2b98 · published</a:t>
            </a:r>
          </a:p>
          <a:p>
            <a:pPr/>
            <a:r>
              <a:rPr b="0" sz="1800">
                <a:solidFill>
                  <a:srgbClr val="000000"/>
                </a:solidFill>
              </a:rPr>
              <a:t>scan_requests_total_2026-09-10 · 3fbb148e-1d6d-483b-9893-1c2463cf3479 · published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G · Census dogfood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No new fetch. This is the published cycle read back through get_body, get_requirements and scripts/score.py.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census.gov on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get_body summary: 34 failing of 39 judged on scan_2026-09-10_rj4; 16 bodies are on this cycle. CENSUS ranks 5 of 13 (hierarchical), and it rests on one pass: 1 pass of 1 judged row on A10; were that leg's verdicts reversed it would rank 9.</a:t>
            </a:r>
          </a:p>
          <a:p>
            <a:r>
              <a:rPr sz="900"/>
              <a:t/>
            </a:r>
          </a:p>
          <a:p>
            <a:pPr/>
            <a:r>
              <a:rPr b="0" sz="1800">
                <a:solidFill>
                  <a:srgbClr val="000000"/>
                </a:solidFill>
              </a:rPr>
              <a:t>Hierarchical score 0.080, rank 5 of 13. Flat score 0.190, rank 5. Both schemes use equal weights, and neither has a basis over the other, so both are printed. Coverage: 21 of 48 framework indicators and 5 of 7 criteria are measured. Tier O and D indicators are not scored.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one-leg-criterion caveat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The one-leg-criterion caveat.</a:t>
            </a:r>
            <a:r>
              <a:rPr b="0" sz="1800">
                <a:solidFill>
                  <a:srgbClr val="000000"/>
                </a:solidFill>
              </a:rPr>
              <a:t> The rank rests on a single leg: A10 (1 pass of 1 judged). Were that verdict reversed, the body would rank 9.</a:t>
            </a:r>
          </a:p>
          <a:p>
            <a:r>
              <a:rPr sz="900"/>
              <a:t/>
            </a:r>
          </a:p>
          <a:p>
            <a:pPr/>
            <a:r>
              <a:rPr b="0" sz="1800">
                <a:solidFill>
                  <a:srgbClr val="000000"/>
                </a:solidFill>
              </a:rPr>
              <a:t>Cycle of record: scan_2026-09-10_rj4, 23 legs judged, 1,009 findings, report and site re-snapshotted on it. Every rank rests on a one-leg criterion (F4 for nine bodies; a single pass on G4 or A10 for four); both equal-weight views are shown and no weighting is asserted.</a:t>
            </a:r>
          </a:p>
          <a:p>
            <a:r>
              <a:rPr sz="900"/>
              <a:t/>
            </a:r>
          </a:p>
          <a:p>
            <a:pPr/>
            <a:r>
              <a:rPr b="1" sz="1800">
                <a:solidFill>
                  <a:srgbClr val="000000"/>
                </a:solidFill>
              </a:rPr>
              <a:t>criterion · score</a:t>
            </a:r>
          </a:p>
          <a:p>
            <a:pPr/>
            <a:r>
              <a:rPr b="0" sz="1800">
                <a:solidFill>
                  <a:srgbClr val="000000"/>
                </a:solidFill>
              </a:rPr>
              <a:t>A · 0.4</a:t>
            </a:r>
          </a:p>
          <a:p>
            <a:pPr/>
            <a:r>
              <a:rPr b="0" sz="1800">
                <a:solidFill>
                  <a:srgbClr val="000000"/>
                </a:solidFill>
              </a:rPr>
              <a:t>B · 0.0</a:t>
            </a:r>
          </a:p>
          <a:p>
            <a:pPr/>
            <a:r>
              <a:rPr b="0" sz="1800">
                <a:solidFill>
                  <a:srgbClr val="000000"/>
                </a:solidFill>
              </a:rPr>
              <a:t>C · not measured</a:t>
            </a:r>
          </a:p>
          <a:p>
            <a:pPr/>
            <a:r>
              <a:rPr b="0" sz="1800">
                <a:solidFill>
                  <a:srgbClr val="000000"/>
                </a:solidFill>
              </a:rPr>
              <a:t>D · 0.0</a:t>
            </a:r>
          </a:p>
          <a:p>
            <a:pPr/>
            <a:r>
              <a:rPr b="0" sz="1800">
                <a:solidFill>
                  <a:srgbClr val="000000"/>
                </a:solidFill>
              </a:rPr>
              <a:t>E · not measured</a:t>
            </a:r>
          </a:p>
          <a:p>
            <a:pPr/>
            <a:r>
              <a:rPr b="0" sz="1800">
                <a:solidFill>
                  <a:srgbClr val="000000"/>
                </a:solidFill>
              </a:rPr>
              <a:t>F · 0.0</a:t>
            </a:r>
          </a:p>
          <a:p>
            <a:pPr/>
            <a:r>
              <a:rPr b="0" sz="1800">
                <a:solidFill>
                  <a:srgbClr val="000000"/>
                </a:solidFill>
              </a:rPr>
              <a:t>G · 0.0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One row per judged cell: its surface, verdict and reason, and the Finding and rule behind it. From get_body against the projection.</a:t>
            </a:r>
          </a:p>
          <a:p>
            <a:pPr/>
            <a:r>
              <a:rPr b="1" sz="1400">
                <a:solidFill>
                  <a:srgbClr val="000000"/>
                </a:solidFill>
              </a:rPr>
              <a:t>leg · surface · verdict · reason · rule</a:t>
            </a:r>
          </a:p>
          <a:p>
            <a:pPr/>
            <a:r>
              <a:rPr b="0" sz="1400">
                <a:solidFill>
                  <a:srgbClr val="000000"/>
                </a:solidFill>
              </a:rPr>
              <a:t>A4 · home:www.census.gov · pass · robots.txt allows the product path for all 8 AI-crawler user agents · RULE-A4-v1</a:t>
            </a:r>
          </a:p>
          <a:p>
            <a:pPr/>
            <a:r>
              <a:rPr b="0" sz="1400">
                <a:solidFill>
                  <a:srgbClr val="000000"/>
                </a:solidFill>
              </a:rPr>
              <a:t>A5 · home:www.census.gov · pass · sitemap at https://www.census.gov/sitemap.xml lists the product URL (5408 URLs) · RULE-A5-v2</a:t>
            </a:r>
          </a:p>
          <a:p>
            <a:pPr/>
            <a:r>
              <a:rPr b="0" sz="1400">
                <a:solidFill>
                  <a:srgbClr val="000000"/>
                </a:solidFill>
              </a:rPr>
              <a:t>A10 · home:www.census.gov · pass · deep link HTTP 200; invalid route correctly HTTP 404; 10518 visible characters present before JS. The pre/post-JS DOM diff the signal also names was NOT run (renderer: none) · RULE-A10-v3</a:t>
            </a:r>
          </a:p>
          <a:p>
            <a:pPr/>
            <a:r>
              <a:rPr b="0" sz="1400">
                <a:solidFill>
                  <a:srgbClr val="000000"/>
                </a:solidFill>
              </a:rPr>
              <a:t>A11-declared · home:www.census.gov · pass · both declared-layer sources permit: robots.txt allows all 8 AI-crawler user agents and the page declares no restricting meta-robots directive. Enforced and observed layers require edge logs (agency_instrumented) · RULE-A11-declared-v2</a:t>
            </a:r>
          </a:p>
          <a:p>
            <a:pPr/>
            <a:r>
              <a:rPr b="0" sz="1400">
                <a:solidFill>
                  <a:srgbClr val="000000"/>
                </a:solidFill>
              </a:rPr>
              <a:t>A12 · home:www.census.gov · pass · robots.txt permits ai-readiness-kg-scanner/0.2 (+https://github.com/brockwebb/ai-readiness-kg) for https://www.census.gov/ and the host served it (HTTP 200): the declared and enforced layers agree · RULE-A12-v3</a:t>
            </a:r>
          </a:p>
          <a:p>
            <a:pPr/>
            <a:r>
              <a:rPr b="0" sz="1400">
                <a:solidFill>
                  <a:srgbClr val="000000"/>
                </a:solidFill>
              </a:rPr>
              <a:t>A1 · scan-census-flagship-1-surveys-programs · fail · no probed link serves a structured content type (25 link(s) observed) · RULE-A1-v4</a:t>
            </a:r>
          </a:p>
          <a:p>
            <a:pPr/>
            <a:r>
              <a:rPr b="0" sz="1400">
                <a:solidFill>
                  <a:srgbClr val="000000"/>
                </a:solidFill>
              </a:rPr>
              <a:t>A2 · scan-census-flagship-1-surveys-programs · fail · no OpenAPI/JSON API description served at any probed path · RULE-A2-v3</a:t>
            </a:r>
          </a:p>
          <a:p>
            <a:pPr/>
            <a:r>
              <a:rPr b="0" sz="1400">
                <a:solidFill>
                  <a:srgbClr val="000000"/>
                </a:solidFill>
              </a:rPr>
              <a:t>A3 · scan-census-flagship-1-surveys-programs · fail · no whole-product download linked from the product page (25 link(s) probed) · RULE-A3-v6</a:t>
            </a:r>
          </a:p>
          <a:p>
            <a:pPr/>
            <a:r>
              <a:rPr b="0" sz="1400">
                <a:solidFill>
                  <a:srgbClr val="000000"/>
                </a:solidFill>
              </a:rPr>
              <a:t>A6 · scan-census-flagship-1-surveys-programs · fail · markup present ({'microdata': 0, 'json-ld': 0, 'rdfa': 7}) but no Dataset/DataCatalog type · RULE-A6-v2</a:t>
            </a:r>
          </a:p>
          <a:p>
            <a:pPr/>
            <a:r>
              <a:rPr b="0" sz="1400">
                <a:solidFill>
                  <a:srgbClr val="000000"/>
                </a:solidFill>
              </a:rPr>
              <a:t>A8 · scan-census-flagship-1-surveys-programs · fail · no declared release or modification date on the surface · RULE-A8-v4</a:t>
            </a:r>
          </a:p>
          <a:p>
            <a:pPr/>
            <a:r>
              <a:rPr b="0" sz="1400">
                <a:solidFill>
                  <a:srgbClr val="000000"/>
                </a:solidFill>
              </a:rPr>
              <a:t>A9 · scan-census-flagship-1-surveys-programs · fail · none of the 5 probed machine-first paths is served · RULE-A9-v1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B3 · scan-census-flagship-1-surveys-programs · fail · no link to a methodology document from the product surface · RULE-B3-v3</a:t>
            </a:r>
          </a:p>
          <a:p>
            <a:pPr/>
            <a:r>
              <a:rPr b="0" sz="1400">
                <a:solidFill>
                  <a:srgbClr val="000000"/>
                </a:solidFill>
              </a:rPr>
              <a:t>D1 · scan-census-flagship-1-surveys-programs · fail · no licence in the product page's markup, in an HTTP Link header, or at a probed terms endpoint · RULE-D1-v3</a:t>
            </a:r>
          </a:p>
          <a:p>
            <a:pPr/>
            <a:r>
              <a:rPr b="0" sz="1400">
                <a:solidFill>
                  <a:srgbClr val="000000"/>
                </a:solidFill>
              </a:rPr>
              <a:t>D4 · scan-census-flagship-1-surveys-programs · fail · a catalog is served at https://www.census.gov/data.json but the product is not in it: no record names it in identifier, landingPage, accessURL or downloadURL · RULE-D4-v3</a:t>
            </a:r>
          </a:p>
          <a:p>
            <a:pPr/>
            <a:r>
              <a:rPr b="0" sz="1400">
                <a:solidFill>
                  <a:srgbClr val="000000"/>
                </a:solidFill>
              </a:rPr>
              <a:t>F4 · scan-census-flagship-1-surveys-programs · fail · no changelog or release-notes endpoint served · RULE-F4-v3</a:t>
            </a:r>
          </a:p>
          <a:p>
            <a:pPr/>
            <a:r>
              <a:rPr b="0" sz="1400">
                <a:solidFill>
                  <a:srgbClr val="000000"/>
                </a:solidFill>
              </a:rPr>
              <a:t>B1 · scan-census-flagship-1-surveys-programs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scan-census-flagship-1-surveys-programs · fail · no schema.org DefinedTerm in the product page's markup at https://www.census.gov/programs-surveys.html, so no concept definition is published there; not measured: whether the definitions are versioned, because no admitted document names a version property on DefinedTerm or DefinedTermSet · RULE-B2-v1</a:t>
            </a:r>
          </a:p>
          <a:p>
            <a:pPr/>
            <a:r>
              <a:rPr b="0" sz="1400">
                <a:solidFill>
                  <a:srgbClr val="000000"/>
                </a:solidFill>
              </a:rPr>
              <a:t>B4 · scan-census-flagship-1-surveys-programs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scan-census-flagship-1-surveys-programs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D2 · scan-census-flagship-1-surveys-programs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scan-census-flagship-1-surveys-programs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scan-census-flagship-1-surveys-programs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a:p>
            <a:pPr/>
            <a:r>
              <a:rPr b="0" sz="1400">
                <a:solidFill>
                  <a:srgbClr val="000000"/>
                </a:solidFill>
              </a:rPr>
              <a:t>A1 · scan-census-flagship-2-american-community-survey-acs · fail · no probed link serves a structured content type (25 link(s) observed) · RULE-A1-v4</a:t>
            </a:r>
          </a:p>
          <a:p>
            <a:pPr/>
            <a:r>
              <a:rPr b="0" sz="1400">
                <a:solidFill>
                  <a:srgbClr val="000000"/>
                </a:solidFill>
              </a:rPr>
              <a:t>A2 · scan-census-flagship-2-american-community-survey-acs · fail · no OpenAPI/JSON API description served at any probed path · RULE-A2-v3</a:t>
            </a:r>
          </a:p>
          <a:p>
            <a:pPr/>
            <a:r>
              <a:rPr b="0" sz="1400">
                <a:solidFill>
                  <a:srgbClr val="000000"/>
                </a:solidFill>
              </a:rPr>
              <a:t>A3 · scan-census-flagship-2-american-community-survey-acs · fail · no whole-product download linked from the product page (25 link(s) probed) · RULE-A3-v6</a:t>
            </a:r>
          </a:p>
          <a:p>
            <a:pPr/>
            <a:r>
              <a:rPr b="0" sz="1400">
                <a:solidFill>
                  <a:srgbClr val="000000"/>
                </a:solidFill>
              </a:rPr>
              <a:t>A6 · scan-census-flagship-2-american-community-survey-acs · fail · markup present ({'microdata': 0, 'json-ld': 0, 'rdfa': 5}) but no Dataset/DataCatalog type · RULE-A6-v2</a:t>
            </a:r>
          </a:p>
          <a:p>
            <a:pPr/>
            <a:r>
              <a:rPr b="0" sz="1400">
                <a:solidFill>
                  <a:srgbClr val="000000"/>
                </a:solidFill>
              </a:rPr>
              <a:t>A8 · scan-census-flagship-2-american-community-survey-acs · fail · no declared release or modification date on the surface · RULE-A8-v4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A9 · scan-census-flagship-2-american-community-survey-acs · fail · none of the 5 probed machine-first paths is served · RULE-A9-v1</a:t>
            </a:r>
          </a:p>
          <a:p>
            <a:pPr/>
            <a:r>
              <a:rPr b="0" sz="1400">
                <a:solidFill>
                  <a:srgbClr val="000000"/>
                </a:solidFill>
              </a:rPr>
              <a:t>B3 · scan-census-flagship-2-american-community-survey-acs · fail · a methodology document is served at https://www.census.gov/programs-surveys/acs/methodology.html but is not retrievable without JS: link density 0.7187 (ceiling 0.25): the page is navigation, not methodology · RULE-B3-v3</a:t>
            </a:r>
          </a:p>
          <a:p>
            <a:pPr/>
            <a:r>
              <a:rPr b="0" sz="1400">
                <a:solidFill>
                  <a:srgbClr val="000000"/>
                </a:solidFill>
              </a:rPr>
              <a:t>D1 · scan-census-flagship-2-american-community-survey-acs · fail · no licence in the product page's markup, in an HTTP Link header, or at a probed terms endpoint · RULE-D1-v3</a:t>
            </a:r>
          </a:p>
          <a:p>
            <a:pPr/>
            <a:r>
              <a:rPr b="0" sz="1400">
                <a:solidFill>
                  <a:srgbClr val="000000"/>
                </a:solidFill>
              </a:rPr>
              <a:t>D4 · scan-census-flagship-2-american-community-survey-acs · fail · a catalog is served at https://www.census.gov/data.json but the product is not in it: no record names it in identifier, landingPage, accessURL or downloadURL · RULE-D4-v3</a:t>
            </a:r>
          </a:p>
          <a:p>
            <a:pPr/>
            <a:r>
              <a:rPr b="0" sz="1400">
                <a:solidFill>
                  <a:srgbClr val="000000"/>
                </a:solidFill>
              </a:rPr>
              <a:t>F4 · scan-census-flagship-2-american-community-survey-acs · fail · no changelog or release-notes endpoint served · RULE-F4-v3</a:t>
            </a:r>
          </a:p>
          <a:p>
            <a:pPr/>
            <a:r>
              <a:rPr b="0" sz="1400">
                <a:solidFill>
                  <a:srgbClr val="000000"/>
                </a:solidFill>
              </a:rPr>
              <a:t>B1 · scan-census-flagship-2-american-community-survey-acs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https://www.census.gov/programs-surveys/acs.html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scan-census-flagship-2-american-community-survey-acs · fail · no schema.org DefinedTerm in the product page's markup at https://www.census.gov/programs-surveys/acs.html, so no concept definition is published there; not measured: whether the definitions are versioned, because no admitted document names a version property on DefinedTerm or DefinedTermSet · RULE-B2-v1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B4 · scan-census-flagship-2-american-community-survey-acs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scan-census-flagship-2-american-community-survey-acs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a:p>
            <a:pPr/>
            <a:r>
              <a:rPr b="0" sz="1400">
                <a:solidFill>
                  <a:srgbClr val="000000"/>
                </a:solidFill>
              </a:rPr>
              <a:t>D2 · scan-census-flagship-2-american-community-survey-acs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scan-census-flagship-2-american-community-survey-acs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scan-census-flagship-2-american-community-survey-acs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Actions on the body's failing legs are ordered cheapest effort band first, then by how much each would add to the score. The bands are notional (page H). delta is an upper bound: it assumes every failing row on that leg passes.</a:t>
            </a:r>
          </a:p>
          <a:p>
            <a:pPr/>
            <a:r>
              <a:rPr b="1" sz="1400">
                <a:solidFill>
                  <a:srgbClr val="000000"/>
                </a:solidFill>
              </a:rPr>
              <a:t>effort · cost · delta · leg · title</a:t>
            </a:r>
          </a:p>
          <a:p>
            <a:pPr/>
            <a:r>
              <a:rPr b="0" sz="1400">
                <a:solidFill>
                  <a:srgbClr val="000000"/>
                </a:solidFill>
              </a:rPr>
              <a:t>hours · none · 0.2 · F4 · Carry a revision class on every changelog entry</a:t>
            </a:r>
          </a:p>
          <a:p>
            <a:pPr/>
            <a:r>
              <a:rPr b="0" sz="1400">
                <a:solidFill>
                  <a:srgbClr val="000000"/>
                </a:solidFill>
              </a:rPr>
              <a:t>hours · none · 0.2 · G4 · Carry bureauCode and programCode on the product's catalog record</a:t>
            </a:r>
          </a:p>
          <a:p>
            <a:pPr/>
            <a:r>
              <a:rPr b="0" sz="1400">
                <a:solidFill>
                  <a:srgbClr val="000000"/>
                </a:solidFill>
              </a:rPr>
              <a:t>hours · none · 0.05 · D1 · Publish a machine-readable licence for the product</a:t>
            </a:r>
          </a:p>
          <a:p>
            <a:pPr/>
            <a:r>
              <a:rPr b="0" sz="1400">
                <a:solidFill>
                  <a:srgbClr val="000000"/>
                </a:solidFill>
              </a:rPr>
              <a:t>hours · none · 0.05 · D1 · State the licence as an identifier, not as a sentence</a:t>
            </a:r>
          </a:p>
          <a:p>
            <a:pPr/>
            <a:r>
              <a:rPr b="0" sz="1400">
                <a:solidFill>
                  <a:srgbClr val="000000"/>
                </a:solidFill>
              </a:rPr>
              <a:t>hours · none · 0.05 · D2 · Declare the terms for AI training and AI input in robots.txt</a:t>
            </a:r>
          </a:p>
          <a:p>
            <a:pPr/>
            <a:r>
              <a:rPr b="0" sz="1400">
                <a:solidFill>
                  <a:srgbClr val="000000"/>
                </a:solidFill>
              </a:rPr>
              <a:t>hours · none · 0.05 · D2 · Use only the categories and values the Content Signals Policy defines</a:t>
            </a:r>
          </a:p>
          <a:p>
            <a:pPr/>
            <a:r>
              <a:rPr b="0" sz="1400">
                <a:solidFill>
                  <a:srgbClr val="000000"/>
                </a:solidFill>
              </a:rPr>
              <a:t>hours · none · 0.05 · D3 · Name the activity that generated the product in its catalog record</a:t>
            </a:r>
          </a:p>
          <a:p>
            <a:pPr/>
            <a:r>
              <a:rPr b="0" sz="1400">
                <a:solidFill>
                  <a:srgbClr val="000000"/>
                </a:solidFill>
              </a:rPr>
              <a:t>hours · none · 0.05 · D4 · Add the product to the public data inventory already published</a:t>
            </a:r>
          </a:p>
          <a:p>
            <a:pPr/>
            <a:r>
              <a:rPr b="0" sz="1400">
                <a:solidFill>
                  <a:srgbClr val="000000"/>
                </a:solidFill>
              </a:rPr>
              <a:t>hours · none · 0.05 · D4 · Make the public data catalog conform to the DCAT-US schema</a:t>
            </a:r>
          </a:p>
          <a:p>
            <a:pPr/>
            <a:r>
              <a:rPr b="0" sz="1400">
                <a:solidFill>
                  <a:srgbClr val="000000"/>
                </a:solidFill>
              </a:rPr>
              <a:t>hours · none · 0.04 · B1 · Link the data dictionary from the product's catalog record</a:t>
            </a:r>
          </a:p>
          <a:p>
            <a:pPr/>
            <a:r>
              <a:rPr b="0" sz="1400">
                <a:solidFill>
                  <a:srgbClr val="000000"/>
                </a:solidFill>
              </a:rPr>
              <a:t>hours · none · 0.04 · B1 · List the product's variables in its page markup</a:t>
            </a:r>
          </a:p>
          <a:p>
            <a:pPr/>
            <a:r>
              <a:rPr b="0" sz="1400">
                <a:solidFill>
                  <a:srgbClr val="000000"/>
                </a:solidFill>
              </a:rPr>
              <a:t>hours · none · 0.04 · B2 · Give each linked defined term a code, a term set and a definition</a:t>
            </a:r>
          </a:p>
          <a:p>
            <a:pPr/>
            <a:r>
              <a:rPr b="0" sz="1400">
                <a:solidFill>
                  <a:srgbClr val="000000"/>
                </a:solidFill>
              </a:rPr>
              <a:t>hours · none · 0.04 · B2 · Link the defined terms from the product's variables</a:t>
            </a:r>
          </a:p>
          <a:p>
            <a:pPr/>
            <a:r>
              <a:rPr b="0" sz="1400">
                <a:solidFill>
                  <a:srgbClr val="000000"/>
                </a:solidFill>
              </a:rPr>
              <a:t>hours · none · 0.04 · B2 · Publish the product's concept definitions as schema.org DefinedTerms</a:t>
            </a:r>
          </a:p>
          <a:p>
            <a:pPr/>
            <a:r>
              <a:rPr b="0" sz="1400">
                <a:solidFill>
                  <a:srgbClr val="000000"/>
                </a:solidFill>
              </a:rPr>
              <a:t>hours · none · 0.04 · B3 · Link the methodology from the product page</a:t>
            </a:r>
          </a:p>
          <a:p>
            <a:pPr/>
            <a:r>
              <a:rPr b="0" sz="1400">
                <a:solidFill>
                  <a:srgbClr val="000000"/>
                </a:solidFill>
              </a:rPr>
              <a:t>hours · none · 0.04 · B4 · Publish the product's quality measurements as catalog metadata</a:t>
            </a:r>
          </a:p>
          <a:p>
            <a:pPr/>
            <a:r>
              <a:rPr b="0" sz="1400">
                <a:solidFill>
                  <a:srgbClr val="000000"/>
                </a:solidFill>
              </a:rPr>
              <a:t>hours · none · 0.04 · B4 · State what changed from the previous version in the catalog record</a:t>
            </a:r>
          </a:p>
          <a:p>
            <a:pPr/>
            <a:r>
              <a:rPr b="0" sz="1400">
                <a:solidFill>
                  <a:srgbClr val="000000"/>
                </a:solidFill>
              </a:rPr>
              <a:t>hours · none · 0.04 · B5 · Name the term set each term code belongs to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hours · none · 0.02 · A6 · Embed JSON-LD describing the product on the product page</a:t>
            </a:r>
          </a:p>
          <a:p>
            <a:pPr/>
            <a:r>
              <a:rPr b="0" sz="1400">
                <a:solidFill>
                  <a:srgbClr val="000000"/>
                </a:solidFill>
              </a:rPr>
              <a:t>hours · none · 0.02 · A6 · Make the Dataset markup conform to the profile it declares</a:t>
            </a:r>
          </a:p>
          <a:p>
            <a:pPr/>
            <a:r>
              <a:rPr b="0" sz="1400">
                <a:solidFill>
                  <a:srgbClr val="000000"/>
                </a:solidFill>
              </a:rPr>
              <a:t>hours · none · 0.02 · A6 · Type the product page's existing markup as a Dataset</a:t>
            </a:r>
          </a:p>
          <a:p>
            <a:pPr/>
            <a:r>
              <a:rPr b="0" sz="1400">
                <a:solidFill>
                  <a:srgbClr val="000000"/>
                </a:solidFill>
              </a:rPr>
              <a:t>hours · none · 0.02 · A8 · Declare the product's vintage in the markup, not only in a file header</a:t>
            </a:r>
          </a:p>
          <a:p>
            <a:pPr/>
            <a:r>
              <a:rPr b="0" sz="1400">
                <a:solidFill>
                  <a:srgbClr val="000000"/>
                </a:solidFill>
              </a:rPr>
              <a:t>hours · none · 0.02 · A8 · Publish a release date for the product</a:t>
            </a:r>
          </a:p>
          <a:p>
            <a:pPr/>
            <a:r>
              <a:rPr b="0" sz="1400">
                <a:solidFill>
                  <a:srgbClr val="000000"/>
                </a:solidFill>
              </a:rPr>
              <a:t>days · staff_time · 0.2 · F4 · Publish a version history for the product</a:t>
            </a:r>
          </a:p>
          <a:p>
            <a:pPr/>
            <a:r>
              <a:rPr b="0" sz="1400">
                <a:solidFill>
                  <a:srgbClr val="000000"/>
                </a:solidFill>
              </a:rPr>
              <a:t>days · staff_time · 0.2 · F4 · Serve the changelog in a machine-readable format as well as a page</a:t>
            </a:r>
          </a:p>
          <a:p>
            <a:pPr/>
            <a:r>
              <a:rPr b="0" sz="1400">
                <a:solidFill>
                  <a:srgbClr val="000000"/>
                </a:solidFill>
              </a:rPr>
              <a:t>days · staff_time · 0.2 · G4 · Publish the product's catalog record carrying its bureau and program codes</a:t>
            </a:r>
          </a:p>
          <a:p>
            <a:pPr/>
            <a:r>
              <a:rPr b="0" sz="1400">
                <a:solidFill>
                  <a:srgbClr val="000000"/>
                </a:solidFill>
              </a:rPr>
              <a:t>days · staff_time · 0.05 · D3 · Publish the product's catalog record naming how it was generated</a:t>
            </a:r>
          </a:p>
          <a:p>
            <a:pPr/>
            <a:r>
              <a:rPr b="0" sz="1400">
                <a:solidFill>
                  <a:srgbClr val="000000"/>
                </a:solidFill>
              </a:rPr>
              <a:t>days · staff_time · 0.05 · D4 · Publish a data.json inventory on the host</a:t>
            </a:r>
          </a:p>
          <a:p>
            <a:pPr/>
            <a:r>
              <a:rPr b="0" sz="1400">
                <a:solidFill>
                  <a:srgbClr val="000000"/>
                </a:solidFill>
              </a:rPr>
              <a:t>days · staff_time · 0.04 · B1 · Publish the product's catalog record with a link to its data dictionary</a:t>
            </a:r>
          </a:p>
          <a:p>
            <a:pPr/>
            <a:r>
              <a:rPr b="0" sz="1400">
                <a:solidFill>
                  <a:srgbClr val="000000"/>
                </a:solidFill>
              </a:rPr>
              <a:t>days · staff_time · 0.04 · B3 · Publish a methodology document reachable from the product surface</a:t>
            </a:r>
          </a:p>
          <a:p>
            <a:pPr/>
            <a:r>
              <a:rPr b="0" sz="1400">
                <a:solidFill>
                  <a:srgbClr val="000000"/>
                </a:solidFill>
              </a:rPr>
              <a:t>days · staff_time · 0.04 · B3 · Publish the methodology in structured text beside the PDF</a:t>
            </a:r>
          </a:p>
          <a:p>
            <a:pPr/>
            <a:r>
              <a:rPr b="0" sz="1400">
                <a:solidFill>
                  <a:srgbClr val="000000"/>
                </a:solidFill>
              </a:rPr>
              <a:t>days · staff_time · 0.04 · B4 · Publish the product's catalog record with its quality and revision metadata</a:t>
            </a:r>
          </a:p>
          <a:p>
            <a:pPr/>
            <a:r>
              <a:rPr b="0" sz="1400">
                <a:solidFill>
                  <a:srgbClr val="000000"/>
                </a:solidFill>
              </a:rPr>
              <a:t>days · staff_time · 0.04 · B5 · Code the body's concepts in one published term set</a:t>
            </a:r>
          </a:p>
          <a:p>
            <a:pPr/>
            <a:r>
              <a:rPr b="0" sz="1400">
                <a:solidFill>
                  <a:srgbClr val="000000"/>
                </a:solidFill>
              </a:rPr>
              <a:t>days · staff_time · 0.04 · B5 · Use one identifier for each concept across the body's products</a:t>
            </a:r>
          </a:p>
          <a:p>
            <a:pPr/>
            <a:r>
              <a:rPr b="0" sz="1400">
                <a:solidFill>
                  <a:srgbClr val="000000"/>
                </a:solidFill>
              </a:rPr>
              <a:t>days · staff_time · 0.02 · A1 · Publish the product as a structured download beside the PDF</a:t>
            </a:r>
          </a:p>
          <a:p>
            <a:pPr/>
            <a:r>
              <a:rPr b="0" sz="1400">
                <a:solidFill>
                  <a:srgbClr val="000000"/>
                </a:solidFill>
              </a:rPr>
              <a:t>days · staff_time · 0.02 · A2 · Serve a parseable OpenAPI description where the API is documented</a:t>
            </a:r>
          </a:p>
          <a:p>
            <a:pPr/>
            <a:r>
              <a:rPr b="0" sz="1400">
                <a:solidFill>
                  <a:srgbClr val="000000"/>
                </a:solidFill>
              </a:rPr>
              <a:t>days · staff_time · 0.02 · A3 · Add a whole-product download beside the query builder</a:t>
            </a:r>
          </a:p>
          <a:p>
            <a:pPr/>
            <a:r>
              <a:rPr b="0" sz="1400">
                <a:solidFill>
                  <a:srgbClr val="000000"/>
                </a:solidFill>
              </a:rPr>
              <a:t>days · staff_time · 0.02 · A3 · Link a bulk download of the product from the product page</a:t>
            </a:r>
          </a:p>
          <a:p>
            <a:pPr/>
            <a:r>
              <a:rPr b="0" sz="1400">
                <a:solidFill>
                  <a:srgbClr val="000000"/>
                </a:solidFill>
              </a:rPr>
              <a:t>days · staff_time · 0.02 · A3 · Publish the complete product, not a sample extract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days · staff_time · 0.02 · A9 · Publish a machine-first entry point for the product</a:t>
            </a:r>
          </a:p>
          <a:p>
            <a:pPr/>
            <a:r>
              <a:rPr b="0" sz="1400">
                <a:solidFill>
                  <a:srgbClr val="000000"/>
                </a:solidFill>
              </a:rPr>
              <a:t>weeks · staff_time · 0.04 · B3 · Serve the methodology document without requiring JavaScript</a:t>
            </a:r>
          </a:p>
          <a:p>
            <a:pPr/>
            <a:r>
              <a:rPr b="0" sz="1400">
                <a:solidFill>
                  <a:srgbClr val="000000"/>
                </a:solidFill>
              </a:rPr>
              <a:t>weeks · staff_time · 0.02 · A1 · Link a data file from the product page and serve it with its own media type</a:t>
            </a:r>
          </a:p>
          <a:p>
            <a:pPr/>
            <a:r>
              <a:rPr b="0" sz="1400">
                <a:solidFill>
                  <a:srgbClr val="000000"/>
                </a:solidFill>
              </a:rPr>
              <a:t>weeks · staff_time · 0.02 · A8 · Make the latest-vintage pointer resolve</a:t>
            </a:r>
          </a:p>
          <a:p>
            <a:pPr/>
            <a:r>
              <a:rPr b="0" sz="1400">
                <a:solidFill>
                  <a:srgbClr val="000000"/>
                </a:solidFill>
              </a:rPr>
              <a:t>weeks · staff_time · 0.02 · A8 · Serve a stable 'latest' URL for the product on its own host</a:t>
            </a:r>
          </a:p>
          <a:p>
            <a:pPr/>
            <a:r>
              <a:rPr b="0" sz="1400">
                <a:solidFill>
                  <a:srgbClr val="000000"/>
                </a:solidFill>
              </a:rPr>
              <a:t>weeks · staff_time · 0.02 · A9 · Return a machine format at the paths advertised for machines</a:t>
            </a:r>
          </a:p>
          <a:p>
            <a:pPr/>
            <a:r>
              <a:rPr b="0" sz="1400">
                <a:solidFill>
                  <a:srgbClr val="000000"/>
                </a:solidFill>
              </a:rPr>
              <a:t>quarter · procurement · 0.02 · A2 · Expose the product through an API and publish the API's description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 · Limits and roadmap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Only the open items the record and the graph already state. Nothing here is a new finding.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Measurement tiers and status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measurement tier · all indicator nodes · framework (candidate excluded)</a:t>
            </a:r>
          </a:p>
          <a:p>
            <a:pPr/>
            <a:r>
              <a:rPr b="0" sz="1800">
                <a:solidFill>
                  <a:srgbClr val="000000"/>
                </a:solidFill>
              </a:rPr>
              <a:t>M · 36 · 35</a:t>
            </a:r>
          </a:p>
          <a:p>
            <a:pPr/>
            <a:r>
              <a:rPr b="0" sz="1800">
                <a:solidFill>
                  <a:srgbClr val="000000"/>
                </a:solidFill>
              </a:rPr>
              <a:t>O · 5 · 5</a:t>
            </a:r>
          </a:p>
          <a:p>
            <a:pPr/>
            <a:r>
              <a:rPr b="0" sz="1800">
                <a:solidFill>
                  <a:srgbClr val="000000"/>
                </a:solidFill>
              </a:rPr>
              <a:t>D · 5 · 5</a:t>
            </a:r>
          </a:p>
          <a:p>
            <a:pPr/>
            <a:r>
              <a:rPr b="0" sz="1800">
                <a:solidFill>
                  <a:srgbClr val="000000"/>
                </a:solidFill>
              </a:rPr>
              <a:t>unassigned · 3 · 3</a:t>
            </a:r>
          </a:p>
          <a:p>
            <a:pPr/>
            <a:r>
              <a:rPr b="0" sz="1800">
                <a:solidFill>
                  <a:srgbClr val="000000"/>
                </a:solidFill>
              </a:rPr>
              <a:t>all · 49 · 48</a:t>
            </a:r>
          </a:p>
          <a:p>
            <a:r>
              <a:rPr sz="900"/>
              <a:t/>
            </a:r>
          </a:p>
          <a:p>
            <a:pPr/>
            <a:r>
              <a:rPr b="0" sz="1800">
                <a:solidFill>
                  <a:srgbClr val="000000"/>
                </a:solidFill>
              </a:rPr>
              <a:t>Measurement status of the framework's indicators (record measurement_status):</a:t>
            </a:r>
          </a:p>
          <a:p>
            <a:pPr/>
            <a:r>
              <a:rPr b="1" sz="1800">
                <a:solidFill>
                  <a:srgbClr val="000000"/>
                </a:solidFill>
              </a:rPr>
              <a:t>status · indicators</a:t>
            </a:r>
          </a:p>
          <a:p>
            <a:pPr/>
            <a:r>
              <a:rPr b="0" sz="1800">
                <a:solidFill>
                  <a:srgbClr val="000000"/>
                </a:solidFill>
              </a:rPr>
              <a:t>harness_built · 8</a:t>
            </a:r>
          </a:p>
          <a:p>
            <a:pPr/>
            <a:r>
              <a:rPr b="0" sz="1800">
                <a:solidFill>
                  <a:srgbClr val="000000"/>
                </a:solidFill>
              </a:rPr>
              <a:t>measured · 16</a:t>
            </a:r>
          </a:p>
          <a:p>
            <a:pPr/>
            <a:r>
              <a:rPr b="0" sz="1800">
                <a:solidFill>
                  <a:srgbClr val="000000"/>
                </a:solidFill>
              </a:rPr>
              <a:t>specified · 24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Where it says yes, the record's measurement_status lags the cycle, which judges the leg anyway. That is a recorded discrepancy, and this page does not correct it.</a:t>
            </a:r>
          </a:p>
          <a:p>
            <a:pPr/>
            <a:r>
              <a:rPr b="1" sz="1400">
                <a:solidFill>
                  <a:srgbClr val="000000"/>
                </a:solidFill>
              </a:rPr>
              <a:t>indicator · status · tier · reason (record) · judged on the cycle of record</a:t>
            </a:r>
          </a:p>
          <a:p>
            <a:pPr/>
            <a:r>
              <a:rPr b="0" sz="1400">
                <a:solidFill>
                  <a:srgbClr val="000000"/>
                </a:solidFill>
              </a:rPr>
              <a:t>A7 · specified · O · no</a:t>
            </a:r>
          </a:p>
          <a:p>
            <a:pPr/>
            <a:r>
              <a:rPr b="0" sz="1400">
                <a:solidFill>
                  <a:srgbClr val="000000"/>
                </a:solidFill>
              </a:rPr>
              <a:t>B1 · harness_built · M ·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 · yes</a:t>
            </a:r>
          </a:p>
          <a:p>
            <a:pPr/>
            <a:r>
              <a:rPr b="0" sz="1400">
                <a:solidFill>
                  <a:srgbClr val="000000"/>
                </a:solidFill>
              </a:rPr>
              <a:t>B2 · harness_built · M · The 'versioned' clause has no field in any admitted document. What is missing is a standard to test against, not a tool or a grant. · yes</a:t>
            </a:r>
          </a:p>
          <a:p>
            <a:pPr/>
            <a:r>
              <a:rPr b="0" sz="1400">
                <a:solidFill>
                  <a:srgbClr val="000000"/>
                </a:solidFill>
              </a:rPr>
              <a:t>B4 · harness_built · M · The suppression-rules clause has no field in any admitted document (the failed search is on ind:G5.tier_unassigned_reason). What is missing is a standard, not a tool or a grant. · yes</a:t>
            </a:r>
          </a:p>
          <a:p>
            <a:pPr/>
            <a:r>
              <a:rPr b="0" sz="1400">
                <a:solidFill>
                  <a:srgbClr val="000000"/>
                </a:solidFill>
              </a:rPr>
              <a:t>B5 · harness_built · M · yes</a:t>
            </a:r>
          </a:p>
          <a:p>
            <a:pPr/>
            <a:r>
              <a:rPr b="0" sz="1400">
                <a:solidFill>
                  <a:srgbClr val="000000"/>
                </a:solidFill>
              </a:rPr>
              <a:t>B6 · specified · unassigned ·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 · no</a:t>
            </a:r>
          </a:p>
          <a:p>
            <a:pPr/>
            <a:r>
              <a:rPr b="0" sz="1400">
                <a:solidFill>
                  <a:srgbClr val="000000"/>
                </a:solidFill>
              </a:rPr>
              <a:t>C1 · specified · M · no</a:t>
            </a:r>
          </a:p>
          <a:p>
            <a:pPr/>
            <a:r>
              <a:rPr b="0" sz="1400">
                <a:solidFill>
                  <a:srgbClr val="000000"/>
                </a:solidFill>
              </a:rPr>
              <a:t>C2 · specified · M · no</a:t>
            </a:r>
          </a:p>
          <a:p>
            <a:pPr/>
            <a:r>
              <a:rPr b="0" sz="1400">
                <a:solidFill>
                  <a:srgbClr val="000000"/>
                </a:solidFill>
              </a:rPr>
              <a:t>C3 · specified · M · no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C4 · specified · M · no</a:t>
            </a:r>
          </a:p>
          <a:p>
            <a:pPr/>
            <a:r>
              <a:rPr b="0" sz="1400">
                <a:solidFill>
                  <a:srgbClr val="000000"/>
                </a:solidFill>
              </a:rPr>
              <a:t>C5 · specified · O · no</a:t>
            </a:r>
          </a:p>
          <a:p>
            <a:pPr/>
            <a:r>
              <a:rPr b="0" sz="1400">
                <a:solidFill>
                  <a:srgbClr val="000000"/>
                </a:solidFill>
              </a:rPr>
              <a:t>D2 · harness_built · M · yes</a:t>
            </a:r>
          </a:p>
          <a:p>
            <a:pPr/>
            <a:r>
              <a:rPr b="0" sz="1400">
                <a:solidFill>
                  <a:srgbClr val="000000"/>
                </a:solidFill>
              </a:rPr>
              <a:t>D3 · harness_built · M · Whether the lineage reaches from collection through processing is readable by walking wasDerivedFrom on the same catalog records the rule already fetches. That is a rule this project would write, not a requirement of the body's. · yes</a:t>
            </a:r>
          </a:p>
          <a:p>
            <a:pPr/>
            <a:r>
              <a:rPr b="0" sz="1400">
                <a:solidFill>
                  <a:srgbClr val="000000"/>
                </a:solidFill>
              </a:rPr>
              <a:t>E1 · specified · M · no</a:t>
            </a:r>
          </a:p>
          <a:p>
            <a:pPr/>
            <a:r>
              <a:rPr b="0" sz="1400">
                <a:solidFill>
                  <a:srgbClr val="000000"/>
                </a:solidFill>
              </a:rPr>
              <a:t>E2 · specified · D · no</a:t>
            </a:r>
          </a:p>
          <a:p>
            <a:pPr/>
            <a:r>
              <a:rPr b="0" sz="1400">
                <a:solidFill>
                  <a:srgbClr val="000000"/>
                </a:solidFill>
              </a:rPr>
              <a:t>E3 · specified · M · no</a:t>
            </a:r>
          </a:p>
          <a:p>
            <a:pPr/>
            <a:r>
              <a:rPr b="0" sz="1400">
                <a:solidFill>
                  <a:srgbClr val="000000"/>
                </a:solidFill>
              </a:rPr>
              <a:t>E4 · specified · D · no</a:t>
            </a:r>
          </a:p>
          <a:p>
            <a:pPr/>
            <a:r>
              <a:rPr b="0" sz="1400">
                <a:solidFill>
                  <a:srgbClr val="000000"/>
                </a:solidFill>
              </a:rPr>
              <a:t>E5 · harness_built · M · no</a:t>
            </a:r>
          </a:p>
          <a:p>
            <a:pPr/>
            <a:r>
              <a:rPr b="0" sz="1400">
                <a:solidFill>
                  <a:srgbClr val="000000"/>
                </a:solidFill>
              </a:rPr>
              <a:t>E6 · specified · M · no</a:t>
            </a:r>
          </a:p>
          <a:p>
            <a:pPr/>
            <a:r>
              <a:rPr b="0" sz="1400">
                <a:solidFill>
                  <a:srgbClr val="000000"/>
                </a:solidFill>
              </a:rPr>
              <a:t>E7 · specified · D · no</a:t>
            </a:r>
          </a:p>
          <a:p>
            <a:pPr/>
            <a:r>
              <a:rPr b="0" sz="1400">
                <a:solidFill>
                  <a:srgbClr val="000000"/>
                </a:solidFill>
              </a:rPr>
              <a:t>E8 · specified · M · no</a:t>
            </a:r>
          </a:p>
          <a:p>
            <a:pPr/>
            <a:r>
              <a:rPr b="0" sz="1400">
                <a:solidFill>
                  <a:srgbClr val="000000"/>
                </a:solidFill>
              </a:rPr>
              <a:t>E9 · specified · M · no</a:t>
            </a:r>
          </a:p>
          <a:p>
            <a:pPr/>
            <a:r>
              <a:rPr b="0" sz="1400">
                <a:solidFill>
                  <a:srgbClr val="000000"/>
                </a:solidFill>
              </a:rPr>
              <a:t>F1 · specified · D · no</a:t>
            </a:r>
          </a:p>
          <a:p>
            <a:pPr/>
            <a:r>
              <a:rPr b="0" sz="1400">
                <a:solidFill>
                  <a:srgbClr val="000000"/>
                </a:solidFill>
              </a:rPr>
              <a:t>F2 · specified · O · no</a:t>
            </a:r>
          </a:p>
          <a:p>
            <a:pPr/>
            <a:r>
              <a:rPr b="0" sz="1400">
                <a:solidFill>
                  <a:srgbClr val="000000"/>
                </a:solidFill>
              </a:rPr>
              <a:t>F3 · specified · O · no</a:t>
            </a:r>
          </a:p>
          <a:p>
            <a:pPr/>
            <a:r>
              <a:rPr b="0" sz="1400">
                <a:solidFill>
                  <a:srgbClr val="000000"/>
                </a:solidFill>
              </a:rPr>
              <a:t>F5 · specified · D · no</a:t>
            </a:r>
          </a:p>
          <a:p>
            <a:pPr/>
            <a:r>
              <a:rPr b="0" sz="1400">
                <a:solidFill>
                  <a:srgbClr val="000000"/>
                </a:solidFill>
              </a:rPr>
              <a:t>F6 · specified · O · no</a:t>
            </a:r>
          </a:p>
          <a:p>
            <a:pPr/>
            <a:r>
              <a:rPr b="0" sz="1400">
                <a:solidFill>
                  <a:srgbClr val="000000"/>
                </a:solidFill>
              </a:rPr>
              <a:t>G2 · specified · M · no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G3 · specified · unassigned ·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 · no</a:t>
            </a:r>
          </a:p>
          <a:p>
            <a:pPr/>
            <a:r>
              <a:rPr b="0" sz="1400">
                <a:solidFill>
                  <a:srgbClr val="000000"/>
                </a:solidFill>
              </a:rPr>
              <a:t>G4 · harness_built · M · The statutory-mandate and statistical-versus-administrative clauses have no field in any admitted document. What is missing is a standard, not a tool or a grant. · yes</a:t>
            </a:r>
          </a:p>
          <a:p>
            <a:pPr/>
            <a:r>
              <a:rPr b="0" sz="1400">
                <a:solidFill>
                  <a:srgbClr val="000000"/>
                </a:solidFill>
              </a:rPr>
              <a:t>G5 · specified · unassigned ·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 · no</a:t>
            </a:r>
          </a:p>
          <a:p>
            <a:pPr/>
            <a:r>
              <a:rPr b="0" sz="1400">
                <a:solidFill>
                  <a:srgbClr val="000000"/>
                </a:solidFill>
              </a:rPr>
              <a:t>G6 · specified · M · no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Evidence locators, and equal weights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9 of 49 evidence cells carry a pinpoint locator (page C). ResearchTask 93d28c6e holds the rest, and it is not scheduled.</a:t>
            </a:r>
          </a:p>
          <a:p>
            <a:r>
              <a:rPr sz="900"/>
              <a:t/>
            </a:r>
          </a:p>
          <a:p>
            <a:pPr/>
            <a:r>
              <a:rPr b="0" sz="1800">
                <a:solidFill>
                  <a:srgbClr val="000000"/>
                </a:solidFill>
              </a:rPr>
              <a:t>Both scoring schemes weight equally, following the OECD/JRC Handbook default for when no basis exists for other weights (docs/design/scoring_model.md). With equal weights and sparse passes, each body's rank rests on a single leg.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body · leg · sentence (score.py)</a:t>
            </a:r>
          </a:p>
          <a:p>
            <a:pPr/>
            <a:r>
              <a:rPr b="0" sz="1400">
                <a:solidFill>
                  <a:srgbClr val="000000"/>
                </a:solidFill>
              </a:rPr>
              <a:t>BEA · F4 · BEA ranks 3 of 13 (hierarchical), and the leg that would move it most is F4: 0 pass of 2 judged rows on F4; were that leg's verdicts reversed it would rank 1.</a:t>
            </a:r>
          </a:p>
          <a:p>
            <a:pPr/>
            <a:r>
              <a:rPr b="0" sz="1400">
                <a:solidFill>
                  <a:srgbClr val="000000"/>
                </a:solidFill>
              </a:rPr>
              <a:t>BJS · F4 · BJS ranks 10 of 13 (hierarchical), and the leg that would move it most is F4: 0 pass of 2 judged rows on F4; were that leg's verdicts reversed it would rank 2.</a:t>
            </a:r>
          </a:p>
          <a:p>
            <a:pPr/>
            <a:r>
              <a:rPr b="0" sz="1400">
                <a:solidFill>
                  <a:srgbClr val="000000"/>
                </a:solidFill>
              </a:rPr>
              <a:t>CENSUS · A10 · CENSUS ranks 5 of 13 (hierarchical), and it rests on one pass: 1 pass of 1 judged row on A10; were that leg's verdicts reversed it would rank 9.</a:t>
            </a:r>
          </a:p>
          <a:p>
            <a:pPr/>
            <a:r>
              <a:rPr b="0" sz="1400">
                <a:solidFill>
                  <a:srgbClr val="000000"/>
                </a:solidFill>
              </a:rPr>
              <a:t>DRSMSU · G4 · DRSMSU ranks 1 of 13 (hierarchical), and it rests on one pass: 1 pass of 1 judged row on G4; were that leg's verdicts reversed it would rank 4.</a:t>
            </a:r>
          </a:p>
          <a:p>
            <a:pPr/>
            <a:r>
              <a:rPr b="0" sz="1400">
                <a:solidFill>
                  <a:srgbClr val="000000"/>
                </a:solidFill>
              </a:rPr>
              <a:t>EIA · A10 · EIA ranks 2 of 13 (hierarchical), and it rests on one pass: 1 pass of 1 judged row on A10; were that leg's verdicts reversed it would rank 4.</a:t>
            </a:r>
          </a:p>
          <a:p>
            <a:pPr/>
            <a:r>
              <a:rPr b="0" sz="1400">
                <a:solidFill>
                  <a:srgbClr val="000000"/>
                </a:solidFill>
              </a:rPr>
              <a:t>ERS · F4 · ERS ranks 10 of 13 (hierarchical), and the leg that would move it most is F4: 0 pass of 2 judged rows on F4; were that leg's verdicts reversed it would rank 2.</a:t>
            </a:r>
          </a:p>
          <a:p>
            <a:pPr/>
            <a:r>
              <a:rPr b="0" sz="1400">
                <a:solidFill>
                  <a:srgbClr val="000000"/>
                </a:solidFill>
              </a:rPr>
              <a:t>NAHMSAPHIS · F4 · NAHMSAPHIS ranks 10 of 13 (hierarchical), and the leg that would move it most is F4: 0 pass of 1 judged row on F4; were that leg's verdicts reversed it would rank 2.</a:t>
            </a:r>
          </a:p>
          <a:p>
            <a:pPr/>
            <a:r>
              <a:rPr b="0" sz="1400">
                <a:solidFill>
                  <a:srgbClr val="000000"/>
                </a:solidFill>
              </a:rPr>
              <a:t>NASS · F4 · NASS ranks 8 of 13 (hierarchical), and the leg that would move it most is F4: 0 pass of 2 judged rows on F4; were that leg's verdicts reversed it would rank 2.</a:t>
            </a:r>
          </a:p>
          <a:p>
            <a:pPr/>
            <a:r>
              <a:rPr b="0" sz="1400">
                <a:solidFill>
                  <a:srgbClr val="000000"/>
                </a:solidFill>
              </a:rPr>
              <a:t>NCES · A10 · NCES ranks 5 of 13 (hierarchical), and it rests on one pass: 1 pass of 1 judged row on A10; were that leg's verdicts reversed it would rank 9.</a:t>
            </a:r>
          </a:p>
          <a:p>
            <a:pPr/>
            <a:r>
              <a:rPr b="0" sz="1400">
                <a:solidFill>
                  <a:srgbClr val="000000"/>
                </a:solidFill>
              </a:rPr>
              <a:t>NCHS · F4 · NCHS ranks 13 of 13 (hierarchical), and the leg that would move it most is F4: 0 pass of 2 judged rows on F4; were that leg's verdicts reversed it would rank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NCSES · F4 · NCSES ranks 3 of 13 (hierarchical), and the leg that would move it most is F4: 0 pass of 1 judged row on F4; were that leg's verdicts reversed it would rank 1.</a:t>
            </a:r>
          </a:p>
          <a:p>
            <a:pPr/>
            <a:r>
              <a:rPr b="0" sz="1400">
                <a:solidFill>
                  <a:srgbClr val="000000"/>
                </a:solidFill>
              </a:rPr>
              <a:t>SAMHSACBHS · F4 · SAMHSACBHS ranks 7 of 13 (hierarchical), and the leg that would move it most is F4: 0 pass of 1 judged row on F4; were that leg's verdicts reversed it would rank 1.</a:t>
            </a:r>
          </a:p>
          <a:p>
            <a:pPr/>
            <a:r>
              <a:rPr b="0" sz="1400">
                <a:solidFill>
                  <a:srgbClr val="000000"/>
                </a:solidFill>
              </a:rPr>
              <a:t>SOI · F4 · SOI ranks 8 of 13 (hierarchical), and the leg that would move it most is F4: 0 pass of 2 judged rows on F4; were that leg's verdicts reversed it would rank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Roadmap items already on the graph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500">
                <a:solidFill>
                  <a:srgbClr val="000000"/>
                </a:solidFill>
              </a:rPr>
              <a:t>bb46ddb5 (proposed):</a:t>
            </a:r>
          </a:p>
          <a:p>
            <a:pPr/>
            <a:r>
              <a:rPr b="0" sz="1500">
                <a:solidFill>
                  <a:srgbClr val="000000"/>
                </a:solidFill>
              </a:rPr>
              <a:t>FUTURE (not scheduled, not a side quest now): session-spend estimation. Survey prior art first (ccusage and similar transcript meters; agent cost-prediction literature; reference-class forecasting for task estimates), then the smallest tooling: the dispatcher writes each session's measured token total to the dispatch log and onto the ResearchTask beside the task file's estimate; a report compares estimate to actual by task shape and model. Also here: dispatch.model default and an optional per-task </a:t>
            </a:r>
            <a:r>
              <a:rPr b="1" sz="1500">
                <a:solidFill>
                  <a:srgbClr val="000000"/>
                </a:solidFill>
              </a:rPr>
              <a:t>Model:</a:t>
            </a:r>
            <a:r>
              <a:rPr b="0" sz="1500">
                <a:solidFill>
                  <a:srgbClr val="000000"/>
                </a:solidFill>
              </a:rPr>
              <a:t> header (the dispatcher launches on the default model today; seldon.yaml has no model key). Seed data points, 2026-09-21: stopped G4 run 691K tokens on Sonnet, 11 calls, 59 s; Opus task sessions of 2026-09-19/20 averaged tens of millions each, 98.9 percent cache reads (ccusage).</a:t>
            </a:r>
          </a:p>
          <a:p>
            <a:r>
              <a:rPr sz="800"/>
              <a:t/>
            </a:r>
          </a:p>
          <a:p>
            <a:pPr/>
            <a:r>
              <a:rPr b="0" sz="1500">
                <a:solidFill>
                  <a:srgbClr val="000000"/>
                </a:solidFill>
              </a:rPr>
              <a:t>8a9a89d7 (proposed):</a:t>
            </a:r>
          </a:p>
          <a:p>
            <a:pPr/>
            <a:r>
              <a:rPr b="0" sz="1500">
                <a:solidFill>
                  <a:srgbClr val="000000"/>
                </a:solidFill>
              </a:rPr>
              <a:t>FUTURE (blocked on external information): NSDS bake-off. The National Secure Data Service has a pilot of AI-readiness tools that can be pointed at websites. When the operator knows what the tools are and how to access them: design paired tests against the same hosts and cycle this framework scanned, to get comparative baselines and to find what the commercial or NSDS tools capture that this harness cannot (and the reverse). Output: a comparison table for the brief's limits-and-roadmap chapter (MVP brief task 5f1bf9f0 does NOT wait on this), and a position on complementary use (NSDS or commercial tooling as an additional data source where budget allows). Requirements for each external test are recorded the way get_requirements already records tests this harness cannot run alone.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appendix, in its own file</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indicator sheets, the rule groups and the corpus summary are in a second file, generated from the same pack:</a:t>
            </a:r>
          </a:p>
          <a:p>
            <a:pPr/>
            <a:r>
              <a:rPr b="0" sz="1800">
                <a:solidFill>
                  <a:srgbClr val="000000"/>
                </a:solidFill>
              </a:rPr>
              <a:t>docs/deck/brief_appendix.pptx: 219 slides · 2026-09-23 · pack commit ed2b3c205588 · cycle of record scan_2026-09-10_rj4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
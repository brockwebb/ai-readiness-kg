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Footnotes on this slide:</a:t>
            </a:r>
          </a:p>
          <a:p>
            <a:r>
              <a:t>(a) The client could not confirm that the item is absent.</a:t>
            </a:r>
          </a:p>
          <a:p>
            <a:r>
              <a:t>(b) The website refused the identified client (HTTP 403).</a:t>
            </a:r>
          </a:p>
          <a:p>
            <a:r>
              <a:t>(c) The site's robots.txt asked the client not to fetch the page.</a:t>
            </a:r>
          </a:p>
          <a:p>
            <a:r>
              <a:t>(d) Reference hosts are checked at the site level only, so this page-level check is not run on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A readiness diagnostic of federal statistical websites</a:t>
            </a:r>
          </a:p>
        </p:txBody>
      </p:sp>
      <p:sp>
        <p:nvSpPr>
          <p:cNvPr id="3" name="TextBox 2"/>
          <p:cNvSpPr txBox="1"/>
          <p:nvPr/>
        </p:nvSpPr>
        <p:spPr>
          <a:xfrm>
            <a:off x="548640" y="2377440"/>
            <a:ext cx="11064240" cy="5303520"/>
          </a:xfrm>
          <a:prstGeom prst="rect">
            <a:avLst/>
          </a:prstGeom>
          <a:noFill/>
        </p:spPr>
        <p:txBody>
          <a:bodyPr wrap="square">
            <a:spAutoFit/>
          </a:bodyPr>
          <a:lstStyle/>
          <a:p>
            <a:r>
              <a:rPr b="0" sz="2000">
                <a:solidFill>
                  <a:srgbClr val="555555"/>
                </a:solidFill>
                <a:latin typeface="Calibri"/>
              </a:rPr>
              <a:t>Brief for the working group, 16 October 2026</a:t>
            </a:r>
          </a:p>
          <a:p>
            <a:r>
              <a:rPr b="0" sz="1600">
                <a:solidFill>
                  <a:srgbClr val="000000"/>
                </a:solidFill>
                <a:latin typeface="Calibri"/>
              </a:rPr>
              <a:t/>
            </a:r>
          </a:p>
          <a:p>
            <a:r>
              <a:rPr b="0" sz="1600">
                <a:solidFill>
                  <a:srgbClr val="000000"/>
                </a:solidFill>
                <a:latin typeface="Calibri"/>
              </a:rPr>
              <a:t>The diagnostic runs 16 checks. Of these, 4 are scored; the rest are shown so the method is open, and produce no finding about an agency.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Why</a:t>
            </a:r>
          </a:p>
        </p:txBody>
      </p:sp>
      <p:sp>
        <p:nvSpPr>
          <p:cNvPr id="3" name="TextBox 2"/>
          <p:cNvSpPr txBox="1"/>
          <p:nvPr/>
        </p:nvSpPr>
        <p:spPr>
          <a:xfrm>
            <a:off x="548640" y="1188720"/>
            <a:ext cx="11064240" cy="5303520"/>
          </a:xfrm>
          <a:prstGeom prst="rect">
            <a:avLst/>
          </a:prstGeom>
          <a:noFill/>
        </p:spPr>
        <p:txBody>
          <a:bodyPr wrap="square">
            <a:spAutoFit/>
          </a:bodyPr>
          <a:lstStyle/>
          <a:p>
            <a:r>
              <a:rPr b="1" sz="1800">
                <a:solidFill>
                  <a:srgbClr val="C25600"/>
                </a:solidFill>
                <a:latin typeface="Calibri"/>
              </a:rPr>
              <a:t>No new burden.</a:t>
            </a:r>
          </a:p>
          <a:p>
            <a:r>
              <a:rPr b="0" sz="1600">
                <a:solidFill>
                  <a:srgbClr val="000000"/>
                </a:solidFill>
                <a:latin typeface="Calibri"/>
              </a:rPr>
              <a:t>The diagnostic uses what agencies already publish on their public websites. It needs no survey, no data call and no agency staff time.</a:t>
            </a:r>
          </a:p>
          <a:p>
            <a:r>
              <a:rPr b="0" sz="800">
                <a:solidFill>
                  <a:srgbClr val="000000"/>
                </a:solidFill>
                <a:latin typeface="Calibri"/>
              </a:rPr>
              <a:t/>
            </a:r>
          </a:p>
          <a:p>
            <a:r>
              <a:rPr b="1" sz="1800">
                <a:solidFill>
                  <a:srgbClr val="C25600"/>
                </a:solidFill>
                <a:latin typeface="Calibri"/>
              </a:rPr>
              <a:t>The public data user is the customer.</a:t>
            </a:r>
          </a:p>
          <a:p>
            <a:r>
              <a:rPr b="0" sz="1600">
                <a:solidFill>
                  <a:srgbClr val="000000"/>
                </a:solidFill>
                <a:latin typeface="Calibri"/>
              </a:rPr>
              <a:t>A machine is now one of the main ways members of the public reach federal data, so the diagnostic takes the machine's view as the public's proxy, to show what their experience is and how it could improve.</a:t>
            </a:r>
          </a:p>
          <a:p>
            <a:r>
              <a:rPr b="0" sz="800">
                <a:solidFill>
                  <a:srgbClr val="000000"/>
                </a:solidFill>
                <a:latin typeface="Calibri"/>
              </a:rPr>
              <a:t/>
            </a:r>
          </a:p>
          <a:p>
            <a:r>
              <a:rPr b="1" sz="1800">
                <a:solidFill>
                  <a:srgbClr val="C25600"/>
                </a:solidFill>
                <a:latin typeface="Calibri"/>
              </a:rPr>
              <a:t>Anyone can do this.</a:t>
            </a:r>
          </a:p>
          <a:p>
            <a:r>
              <a:rPr b="0" sz="1600">
                <a:solidFill>
                  <a:srgbClr val="000000"/>
                </a:solidFill>
                <a:latin typeface="Calibri"/>
              </a:rPr>
              <a:t>Any member of the public with a laptop can make the same requests. The diagnostic writes the questions and the method down, so the answer does not depend on who asks.</a:t>
            </a:r>
          </a:p>
          <a:p>
            <a:r>
              <a:rPr b="0" sz="800">
                <a:solidFill>
                  <a:srgbClr val="000000"/>
                </a:solidFill>
                <a:latin typeface="Calibri"/>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The public client, and what it never does</a:t>
            </a:r>
          </a:p>
        </p:txBody>
      </p:sp>
      <p:sp>
        <p:nvSpPr>
          <p:cNvPr id="3" name="TextBox 2"/>
          <p:cNvSpPr txBox="1"/>
          <p:nvPr/>
        </p:nvSpPr>
        <p:spPr>
          <a:xfrm>
            <a:off x="548640" y="1188720"/>
            <a:ext cx="11064240" cy="5303520"/>
          </a:xfrm>
          <a:prstGeom prst="rect">
            <a:avLst/>
          </a:prstGeom>
          <a:noFill/>
        </p:spPr>
        <p:txBody>
          <a:bodyPr wrap="square">
            <a:spAutoFit/>
          </a:bodyPr>
          <a:lstStyle/>
          <a:p>
            <a:r>
              <a:rPr b="0" sz="1500">
                <a:solidFill>
                  <a:srgbClr val="000000"/>
                </a:solidFill>
                <a:latin typeface="Calibri"/>
              </a:rPr>
              <a:t>The public client is the program that makes the requests, acting only as any member of the public could. It identifies itself by one fixed name in every request, so a site's own logs show each request it made:</a:t>
            </a:r>
          </a:p>
          <a:p>
            <a:r>
              <a:rPr b="1" sz="1300">
                <a:solidFill>
                  <a:srgbClr val="000000"/>
                </a:solidFill>
                <a:latin typeface="Calibri"/>
              </a:rPr>
              <a:t>ai-readiness-kg-scanner/0.2 (+https://github.com/brockwebb/ai-readiness-kg)</a:t>
            </a:r>
          </a:p>
          <a:p>
            <a:r>
              <a:rPr b="0" sz="1200">
                <a:solidFill>
                  <a:srgbClr val="555555"/>
                </a:solidFill>
                <a:latin typeface="Calibri"/>
              </a:rPr>
              <a:t>The name still carries the project's earlier word for the client; it is kept unchanged so that one log search finds every request.</a:t>
            </a:r>
          </a:p>
          <a:p>
            <a:r>
              <a:rPr b="0" sz="1500">
                <a:solidFill>
                  <a:srgbClr val="000000"/>
                </a:solidFill>
                <a:latin typeface="Calibri"/>
              </a:rPr>
              <a:t>It makes no more than 1 request per second to any one website, and waits longer when a site asks it to.</a:t>
            </a:r>
          </a:p>
          <a:p>
            <a:r>
              <a:rPr b="0" sz="800">
                <a:solidFill>
                  <a:srgbClr val="000000"/>
                </a:solidFill>
                <a:latin typeface="Calibri"/>
              </a:rPr>
              <a:t/>
            </a:r>
          </a:p>
          <a:p>
            <a:r>
              <a:rPr b="1" sz="1600">
                <a:solidFill>
                  <a:srgbClr val="C25600"/>
                </a:solidFill>
                <a:latin typeface="Calibri"/>
              </a:rPr>
              <a:t>What the public client never does</a:t>
            </a:r>
          </a:p>
          <a:p>
            <a:r>
              <a:rPr b="0" sz="1500">
                <a:solidFill>
                  <a:srgbClr val="000000"/>
                </a:solidFill>
                <a:latin typeface="Calibri"/>
              </a:rPr>
              <a:t>• No sign-in or password.</a:t>
            </a:r>
          </a:p>
          <a:p>
            <a:r>
              <a:rPr b="0" sz="1500">
                <a:solidFill>
                  <a:srgbClr val="000000"/>
                </a:solidFill>
                <a:latin typeface="Calibri"/>
              </a:rPr>
              <a:t>• No form filled in.</a:t>
            </a:r>
          </a:p>
          <a:p>
            <a:r>
              <a:rPr b="0" sz="1500">
                <a:solidFill>
                  <a:srgbClr val="000000"/>
                </a:solidFill>
                <a:latin typeface="Calibri"/>
              </a:rPr>
              <a:t>• No "are you human" test passed, and no block worked around.</a:t>
            </a:r>
          </a:p>
          <a:p>
            <a:r>
              <a:rPr b="0" sz="1500">
                <a:solidFill>
                  <a:srgbClr val="000000"/>
                </a:solidFill>
                <a:latin typeface="Calibri"/>
              </a:rPr>
              <a:t>• No program built into a page is run.</a:t>
            </a:r>
          </a:p>
          <a:p>
            <a:r>
              <a:rPr b="0" sz="1500">
                <a:solidFill>
                  <a:srgbClr val="000000"/>
                </a:solidFill>
                <a:latin typeface="Calibri"/>
              </a:rPr>
              <a:t>• Nothing taken beyond what the page itself serves.</a:t>
            </a:r>
          </a:p>
          <a:p>
            <a:r>
              <a:rPr b="0" sz="800">
                <a:solidFill>
                  <a:srgbClr val="000000"/>
                </a:solidFill>
                <a:latin typeface="Calibri"/>
              </a:rPr>
              <a:t/>
            </a:r>
          </a:p>
          <a:p>
            <a:r>
              <a:rPr b="0" sz="1400">
                <a:solidFill>
                  <a:srgbClr val="555555"/>
                </a:solidFill>
                <a:latin typeface="Calibri"/>
              </a:rPr>
              <a:t>Not measured means the client could not look, and the footnote says why. It is never counted as a fail.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The checks: Accessible</a:t>
            </a:r>
          </a:p>
        </p:txBody>
      </p:sp>
      <p:graphicFrame>
        <p:nvGraphicFramePr>
          <p:cNvPr id="3" name="Table 2"/>
          <p:cNvGraphicFramePr>
            <a:graphicFrameLocks noGrp="1"/>
          </p:cNvGraphicFramePr>
          <p:nvPr/>
        </p:nvGraphicFramePr>
        <p:xfrm>
          <a:off x="365760" y="960120"/>
          <a:ext cx="11430000" cy="3840480"/>
        </p:xfrm>
        <a:graphic>
          <a:graphicData uri="http://schemas.openxmlformats.org/drawingml/2006/table">
            <a:tbl>
              <a:tblPr>
                <a:tableStyleId>{5C22544A-7EE6-4342-B048-85BDC9FD1C3A}</a:tableStyleId>
              </a:tblPr>
              <a:tblGrid>
                <a:gridCol w="2377440"/>
                <a:gridCol w="3108960"/>
                <a:gridCol w="2926080"/>
                <a:gridCol w="3017520"/>
              </a:tblGrid>
              <a:tr h="274320">
                <a:tc>
                  <a:txBody>
                    <a:bodyPr wrap="square"/>
                    <a:lstStyle/>
                    <a:p>
                      <a:r>
                        <a:rPr b="1" sz="900">
                          <a:solidFill>
                            <a:srgbClr val="C25600"/>
                          </a:solidFill>
                          <a:latin typeface="Calibri"/>
                        </a:rPr>
                        <a:t>Check</a:t>
                      </a:r>
                    </a:p>
                  </a:txBody>
                  <a:tcPr marT="9144" marB="9144">
                    <a:solidFill>
                      <a:srgbClr val="FFFFFF"/>
                    </a:solidFill>
                  </a:tcPr>
                </a:tc>
                <a:tc>
                  <a:txBody>
                    <a:bodyPr wrap="square"/>
                    <a:lstStyle/>
                    <a:p>
                      <a:r>
                        <a:rPr b="1" sz="900">
                          <a:solidFill>
                            <a:srgbClr val="C25600"/>
                          </a:solidFill>
                          <a:latin typeface="Calibri"/>
                        </a:rPr>
                        <a:t>What we ask your site for</a:t>
                      </a:r>
                    </a:p>
                  </a:txBody>
                  <a:tcPr marT="9144" marB="9144">
                    <a:solidFill>
                      <a:srgbClr val="FFFFFF"/>
                    </a:solidFill>
                  </a:tcPr>
                </a:tc>
                <a:tc>
                  <a:txBody>
                    <a:bodyPr wrap="square"/>
                    <a:lstStyle/>
                    <a:p>
                      <a:r>
                        <a:rPr b="1" sz="900">
                          <a:solidFill>
                            <a:srgbClr val="C25600"/>
                          </a:solidFill>
                          <a:latin typeface="Calibri"/>
                        </a:rPr>
                        <a:t>What it tells us</a:t>
                      </a:r>
                    </a:p>
                  </a:txBody>
                  <a:tcPr marT="9144" marB="9144">
                    <a:solidFill>
                      <a:srgbClr val="FFFFFF"/>
                    </a:solidFill>
                  </a:tcPr>
                </a:tc>
                <a:tc>
                  <a:txBody>
                    <a:bodyPr wrap="square"/>
                    <a:lstStyle/>
                    <a:p>
                      <a:r>
                        <a:rPr b="1" sz="900">
                          <a:solidFill>
                            <a:srgbClr val="C25600"/>
                          </a:solidFill>
                          <a:latin typeface="Calibri"/>
                        </a:rPr>
                        <a:t>Why it matters</a:t>
                      </a:r>
                    </a:p>
                  </a:txBody>
                  <a:tcPr marT="9144" marB="9144">
                    <a:solidFill>
                      <a:srgbClr val="FFFFFF"/>
                    </a:solidFill>
                  </a:tcPr>
                </a:tc>
              </a:tr>
              <a:tr h="274320">
                <a:tc>
                  <a:txBody>
                    <a:bodyPr wrap="square"/>
                    <a:lstStyle/>
                    <a:p>
                      <a:r>
                        <a:rPr b="1" sz="800">
                          <a:solidFill>
                            <a:srgbClr val="C25600"/>
                          </a:solidFill>
                          <a:latin typeface="Calibri"/>
                        </a:rPr>
                        <a:t>Accessible</a:t>
                      </a:r>
                    </a:p>
                  </a:txBody>
                  <a:tcPr marT="9144" marB="9144">
                    <a:solidFill>
                      <a:srgbClr val="FFFFFF"/>
                    </a:solidFill>
                  </a:tcPr>
                </a:tc>
                <a:tc>
                  <a:txBody>
                    <a:bodyPr wrap="square"/>
                    <a:lstStyle/>
                    <a:p>
                      <a:r>
                        <a:rPr b="0" sz="700">
                          <a:solidFill>
                            <a:srgbClr val="000000"/>
                          </a:solidFill>
                          <a:latin typeface="Calibri"/>
                        </a:rPr>
                        <a:t/>
                      </a:r>
                    </a:p>
                  </a:txBody>
                  <a:tcPr marT="9144" marB="9144">
                    <a:solidFill>
                      <a:srgbClr val="FFFFFF"/>
                    </a:solidFill>
                  </a:tcPr>
                </a:tc>
                <a:tc>
                  <a:txBody>
                    <a:bodyPr wrap="square"/>
                    <a:lstStyle/>
                    <a:p>
                      <a:r>
                        <a:rPr b="0" sz="700">
                          <a:solidFill>
                            <a:srgbClr val="000000"/>
                          </a:solidFill>
                          <a:latin typeface="Calibri"/>
                        </a:rPr>
                        <a:t/>
                      </a:r>
                    </a:p>
                  </a:txBody>
                  <a:tcPr marT="9144" marB="9144">
                    <a:solidFill>
                      <a:srgbClr val="FFFFFF"/>
                    </a:solidFill>
                  </a:tcPr>
                </a:tc>
                <a:tc>
                  <a:txBody>
                    <a:bodyPr wrap="square"/>
                    <a:lstStyle/>
                    <a:p>
                      <a:r>
                        <a:rPr b="0" sz="700">
                          <a:solidFill>
                            <a:srgbClr val="000000"/>
                          </a:solidFill>
                          <a:latin typeface="Calibri"/>
                        </a:rPr>
                        <a:t/>
                      </a:r>
                    </a:p>
                  </a:txBody>
                  <a:tcPr marT="9144" marB="9144">
                    <a:solidFill>
                      <a:srgbClr val="FFFFFF"/>
                    </a:solidFill>
                  </a:tcPr>
                </a:tc>
              </a:tr>
              <a:tr h="274320">
                <a:tc>
                  <a:txBody>
                    <a:bodyPr wrap="square"/>
                    <a:lstStyle/>
                    <a:p>
                      <a:r>
                        <a:rPr b="1" sz="700">
                          <a:solidFill>
                            <a:srgbClr val="000000"/>
                          </a:solidFill>
                          <a:latin typeface="Calibri"/>
                        </a:rPr>
                        <a:t>Data offered as a file a program can read (Scored)</a:t>
                      </a:r>
                    </a:p>
                  </a:txBody>
                  <a:tcPr marT="9144" marB="9144">
                    <a:solidFill>
                      <a:srgbClr val="FFFFFF"/>
                    </a:solidFill>
                  </a:tcPr>
                </a:tc>
                <a:tc>
                  <a:txBody>
                    <a:bodyPr wrap="square"/>
                    <a:lstStyle/>
                    <a:p>
                      <a:r>
                        <a:rPr b="0" sz="700">
                          <a:solidFill>
                            <a:srgbClr val="555555"/>
                          </a:solidFill>
                          <a:latin typeface="Calibri"/>
                        </a:rPr>
                        <a:t>The data page, and the files it links to on the same website.</a:t>
                      </a:r>
                    </a:p>
                  </a:txBody>
                  <a:tcPr marT="9144" marB="9144">
                    <a:solidFill>
                      <a:srgbClr val="FFFFFF"/>
                    </a:solidFill>
                  </a:tcPr>
                </a:tc>
                <a:tc>
                  <a:txBody>
                    <a:bodyPr wrap="square"/>
                    <a:lstStyle/>
                    <a:p>
                      <a:r>
                        <a:rPr b="0" sz="700">
                          <a:solidFill>
                            <a:srgbClr val="555555"/>
                          </a:solidFill>
                          <a:latin typeface="Calibri"/>
                        </a:rPr>
                        <a:t>Whether the numbers come as a spreadsheet, CSV or JSON file, not only as a PDF.</a:t>
                      </a:r>
                    </a:p>
                  </a:txBody>
                  <a:tcPr marT="9144" marB="9144">
                    <a:solidFill>
                      <a:srgbClr val="FFFFFF"/>
                    </a:solidFill>
                  </a:tcPr>
                </a:tc>
                <a:tc>
                  <a:txBody>
                    <a:bodyPr wrap="square"/>
                    <a:lstStyle/>
                    <a:p>
                      <a:r>
                        <a:rPr b="0" sz="700">
                          <a:solidFill>
                            <a:srgbClr val="555555"/>
                          </a:solidFill>
                          <a:latin typeface="Calibri"/>
                        </a:rPr>
                        <a:t>An OMB memo requires public data to be readable by programs, and USAFacts' guide says to avoid PDF-only release.</a:t>
                      </a:r>
                    </a:p>
                  </a:txBody>
                  <a:tcPr marT="9144" marB="9144">
                    <a:solidFill>
                      <a:srgbClr val="FFFFFF"/>
                    </a:solidFill>
                  </a:tcPr>
                </a:tc>
              </a:tr>
              <a:tr h="274320">
                <a:tc>
                  <a:txBody>
                    <a:bodyPr wrap="square"/>
                    <a:lstStyle/>
                    <a:p>
                      <a:r>
                        <a:rPr b="1" sz="700">
                          <a:solidFill>
                            <a:srgbClr val="000000"/>
                          </a:solidFill>
                          <a:latin typeface="Calibri"/>
                        </a:rPr>
                        <a:t>The whole dataset in one download (Scored)</a:t>
                      </a:r>
                    </a:p>
                  </a:txBody>
                  <a:tcPr marT="9144" marB="9144">
                    <a:solidFill>
                      <a:srgbClr val="FFFFFF"/>
                    </a:solidFill>
                  </a:tcPr>
                </a:tc>
                <a:tc>
                  <a:txBody>
                    <a:bodyPr wrap="square"/>
                    <a:lstStyle/>
                    <a:p>
                      <a:r>
                        <a:rPr b="0" sz="700">
                          <a:solidFill>
                            <a:srgbClr val="555555"/>
                          </a:solidFill>
                          <a:latin typeface="Calibri"/>
                        </a:rPr>
                        <a:t>Links on the data page to one zipped or complete file holding the whole dataset.</a:t>
                      </a:r>
                    </a:p>
                  </a:txBody>
                  <a:tcPr marT="9144" marB="9144">
                    <a:solidFill>
                      <a:srgbClr val="FFFFFF"/>
                    </a:solidFill>
                  </a:tcPr>
                </a:tc>
                <a:tc>
                  <a:txBody>
                    <a:bodyPr wrap="square"/>
                    <a:lstStyle/>
                    <a:p>
                      <a:r>
                        <a:rPr b="0" sz="700">
                          <a:solidFill>
                            <a:srgbClr val="555555"/>
                          </a:solidFill>
                          <a:latin typeface="Calibri"/>
                        </a:rPr>
                        <a:t>Whether someone can take all of it at once instead of piecing it together query by query.</a:t>
                      </a:r>
                    </a:p>
                  </a:txBody>
                  <a:tcPr marT="9144" marB="9144">
                    <a:solidFill>
                      <a:srgbClr val="FFFFFF"/>
                    </a:solidFill>
                  </a:tcPr>
                </a:tc>
                <a:tc>
                  <a:txBody>
                    <a:bodyPr wrap="square"/>
                    <a:lstStyle/>
                    <a:p>
                      <a:r>
                        <a:rPr b="0" sz="700">
                          <a:solidFill>
                            <a:srgbClr val="555555"/>
                          </a:solidFill>
                          <a:latin typeface="Calibri"/>
                        </a:rPr>
                        <a:t>The World Wide Web Consortium's data guidance asks that a full dataset come in one request, and an OMB memo urges offering whole datasets for download.</a:t>
                      </a:r>
                    </a:p>
                  </a:txBody>
                  <a:tcPr marT="9144" marB="9144">
                    <a:solidFill>
                      <a:srgbClr val="FFFFFF"/>
                    </a:solidFill>
                  </a:tcPr>
                </a:tc>
              </a:tr>
              <a:tr h="274320">
                <a:tc>
                  <a:txBody>
                    <a:bodyPr wrap="square"/>
                    <a:lstStyle/>
                    <a:p>
                      <a:r>
                        <a:rPr b="1" sz="700">
                          <a:solidFill>
                            <a:srgbClr val="000000"/>
                          </a:solidFill>
                          <a:latin typeface="Calibri"/>
                        </a:rPr>
                        <a:t>The data page is in the site's list of pages (Scored)</a:t>
                      </a:r>
                    </a:p>
                  </a:txBody>
                  <a:tcPr marT="9144" marB="9144">
                    <a:solidFill>
                      <a:srgbClr val="FFFFFF"/>
                    </a:solidFill>
                  </a:tcPr>
                </a:tc>
                <a:tc>
                  <a:txBody>
                    <a:bodyPr wrap="square"/>
                    <a:lstStyle/>
                    <a:p>
                      <a:r>
                        <a:rPr b="0" sz="700">
                          <a:solidFill>
                            <a:srgbClr val="555555"/>
                          </a:solidFill>
                          <a:latin typeface="Calibri"/>
                        </a:rPr>
                        <a:t>The site's list of its own pages (its sitemap), which search engines routinely ask every site for.</a:t>
                      </a:r>
                    </a:p>
                  </a:txBody>
                  <a:tcPr marT="9144" marB="9144">
                    <a:solidFill>
                      <a:srgbClr val="FFFFFF"/>
                    </a:solidFill>
                  </a:tcPr>
                </a:tc>
                <a:tc>
                  <a:txBody>
                    <a:bodyPr wrap="square"/>
                    <a:lstStyle/>
                    <a:p>
                      <a:r>
                        <a:rPr b="0" sz="700">
                          <a:solidFill>
                            <a:srgbClr val="555555"/>
                          </a:solidFill>
                          <a:latin typeface="Calibri"/>
                        </a:rPr>
                        <a:t>Whether the agency has listed the data page among the pages it wants found.</a:t>
                      </a:r>
                    </a:p>
                  </a:txBody>
                  <a:tcPr marT="9144" marB="9144">
                    <a:solidFill>
                      <a:srgbClr val="FFFFFF"/>
                    </a:solidFill>
                  </a:tcPr>
                </a:tc>
                <a:tc>
                  <a:txBody>
                    <a:bodyPr wrap="square"/>
                    <a:lstStyle/>
                    <a:p>
                      <a:r>
                        <a:rPr b="0" sz="700">
                          <a:solidFill>
                            <a:srgbClr val="555555"/>
                          </a:solidFill>
                          <a:latin typeface="Calibri"/>
                        </a:rPr>
                        <a:t>An OMB memo asks agencies to publish such lists, in the published standard format.</a:t>
                      </a:r>
                    </a:p>
                  </a:txBody>
                  <a:tcPr marT="9144" marB="9144">
                    <a:solidFill>
                      <a:srgbClr val="FFFFFF"/>
                    </a:solidFill>
                  </a:tcPr>
                </a:tc>
              </a:tr>
              <a:tr h="274320">
                <a:tc>
                  <a:txBody>
                    <a:bodyPr wrap="square"/>
                    <a:lstStyle/>
                    <a:p>
                      <a:r>
                        <a:rPr b="0" sz="700">
                          <a:solidFill>
                            <a:srgbClr val="000000"/>
                          </a:solidFill>
                          <a:latin typeface="Calibri"/>
                        </a:rPr>
                        <a:t>A published description of the agency's data service (Not scored, shown for openness)</a:t>
                      </a:r>
                    </a:p>
                  </a:txBody>
                  <a:tcPr marT="9144" marB="9144">
                    <a:solidFill>
                      <a:srgbClr val="FFFFFF"/>
                    </a:solidFill>
                  </a:tcPr>
                </a:tc>
                <a:tc>
                  <a:txBody>
                    <a:bodyPr wrap="square"/>
                    <a:lstStyle/>
                    <a:p>
                      <a:r>
                        <a:rPr b="0" sz="700">
                          <a:solidFill>
                            <a:srgbClr val="555555"/>
                          </a:solidFill>
                          <a:latin typeface="Calibri"/>
                        </a:rPr>
                        <a:t>The address of the agency's data service for programs, and any file kept beside it that lists the requests it accepts.</a:t>
                      </a:r>
                    </a:p>
                  </a:txBody>
                  <a:tcPr marT="9144" marB="9144">
                    <a:solidFill>
                      <a:srgbClr val="FFFFFF"/>
                    </a:solidFill>
                  </a:tcPr>
                </a:tc>
                <a:tc>
                  <a:txBody>
                    <a:bodyPr wrap="square"/>
                    <a:lstStyle/>
                    <a:p>
                      <a:r>
                        <a:rPr b="0" sz="700">
                          <a:solidFill>
                            <a:srgbClr val="555555"/>
                          </a:solidFill>
                          <a:latin typeface="Calibri"/>
                        </a:rPr>
                        <a:t>Whether a program can learn what to ask for without a person reading the manual first.</a:t>
                      </a:r>
                    </a:p>
                  </a:txBody>
                  <a:tcPr marT="9144" marB="9144">
                    <a:solidFill>
                      <a:srgbClr val="FFFFFF"/>
                    </a:solidFill>
                  </a:tcPr>
                </a:tc>
                <a:tc>
                  <a:txBody>
                    <a:bodyPr wrap="square"/>
                    <a:lstStyle/>
                    <a:p>
                      <a:r>
                        <a:rPr b="0" sz="700">
                          <a:solidFill>
                            <a:srgbClr val="555555"/>
                          </a:solidFill>
                          <a:latin typeface="Calibri"/>
                        </a:rPr>
                        <a:t>A World Wide Web Consortium practice asks for service details that programs can read; the required file format is this project's rule.</a:t>
                      </a:r>
                    </a:p>
                  </a:txBody>
                  <a:tcPr marT="9144" marB="9144">
                    <a:solidFill>
                      <a:srgbClr val="FFFFFF"/>
                    </a:solidFill>
                  </a:tcPr>
                </a:tc>
              </a:tr>
              <a:tr h="274320">
                <a:tc>
                  <a:txBody>
                    <a:bodyPr wrap="square"/>
                    <a:lstStyle/>
                    <a:p>
                      <a:r>
                        <a:rPr b="0" sz="700">
                          <a:solidFill>
                            <a:srgbClr val="000000"/>
                          </a:solidFill>
                          <a:latin typeface="Calibri"/>
                        </a:rPr>
                        <a:t>Whether the site's visitor rules let AI tools in (The site's own statement, not scored)</a:t>
                      </a:r>
                    </a:p>
                  </a:txBody>
                  <a:tcPr marT="9144" marB="9144">
                    <a:solidFill>
                      <a:srgbClr val="FFFFFF"/>
                    </a:solidFill>
                  </a:tcPr>
                </a:tc>
                <a:tc>
                  <a:txBody>
                    <a:bodyPr wrap="square"/>
                    <a:lstStyle/>
                    <a:p>
                      <a:r>
                        <a:rPr b="0" sz="700">
                          <a:solidFill>
                            <a:srgbClr val="555555"/>
                          </a:solidFill>
                          <a:latin typeface="Calibri"/>
                        </a:rPr>
                        <a:t>The site's instructions file for automated visitors (robots.txt), which search engines also request as a matter of course.</a:t>
                      </a:r>
                    </a:p>
                  </a:txBody>
                  <a:tcPr marT="9144" marB="9144">
                    <a:solidFill>
                      <a:srgbClr val="FFFFFF"/>
                    </a:solidFill>
                  </a:tcPr>
                </a:tc>
                <a:tc>
                  <a:txBody>
                    <a:bodyPr wrap="square"/>
                    <a:lstStyle/>
                    <a:p>
                      <a:r>
                        <a:rPr b="0" sz="700">
                          <a:solidFill>
                            <a:srgbClr val="555555"/>
                          </a:solidFill>
                          <a:latin typeface="Calibri"/>
                        </a:rPr>
                        <a:t>Whether those instructions let the tools behind AI search reach the data page.</a:t>
                      </a:r>
                    </a:p>
                  </a:txBody>
                  <a:tcPr marT="9144" marB="9144">
                    <a:solidFill>
                      <a:srgbClr val="FFFFFF"/>
                    </a:solidFill>
                  </a:tcPr>
                </a:tc>
                <a:tc>
                  <a:txBody>
                    <a:bodyPr wrap="square"/>
                    <a:lstStyle/>
                    <a:p>
                      <a:r>
                        <a:rPr b="0" sz="700">
                          <a:solidFill>
                            <a:srgbClr val="555555"/>
                          </a:solidFill>
                          <a:latin typeface="Calibri"/>
                        </a:rPr>
                        <a:t>An OMB memo tells agencies to use this file so pages can be found; treating certain blocks as failures is this project's rule.</a:t>
                      </a:r>
                    </a:p>
                  </a:txBody>
                  <a:tcPr marT="9144" marB="9144">
                    <a:solidFill>
                      <a:srgbClr val="FFFFFF"/>
                    </a:solidFill>
                  </a:tcPr>
                </a:tc>
              </a:tr>
              <a:tr h="274320">
                <a:tc>
                  <a:txBody>
                    <a:bodyPr wrap="square"/>
                    <a:lstStyle/>
                    <a:p>
                      <a:r>
                        <a:rPr b="0" sz="700">
                          <a:solidFill>
                            <a:srgbClr val="000000"/>
                          </a:solidFill>
                          <a:latin typeface="Calibri"/>
                        </a:rPr>
                        <a:t>The page labels itself as a dataset (Not scored, shown for openness)</a:t>
                      </a:r>
                    </a:p>
                  </a:txBody>
                  <a:tcPr marT="9144" marB="9144">
                    <a:solidFill>
                      <a:srgbClr val="FFFFFF"/>
                    </a:solidFill>
                  </a:tcPr>
                </a:tc>
                <a:tc>
                  <a:txBody>
                    <a:bodyPr wrap="square"/>
                    <a:lstStyle/>
                    <a:p>
                      <a:r>
                        <a:rPr b="0" sz="700">
                          <a:solidFill>
                            <a:srgbClr val="555555"/>
                          </a:solidFill>
                          <a:latin typeface="Calibri"/>
                        </a:rPr>
                        <a:t>The data page itself, reading the hidden labels that tell search engines what the page is.</a:t>
                      </a:r>
                    </a:p>
                  </a:txBody>
                  <a:tcPr marT="9144" marB="9144">
                    <a:solidFill>
                      <a:srgbClr val="FFFFFF"/>
                    </a:solidFill>
                  </a:tcPr>
                </a:tc>
                <a:tc>
                  <a:txBody>
                    <a:bodyPr wrap="square"/>
                    <a:lstStyle/>
                    <a:p>
                      <a:r>
                        <a:rPr b="0" sz="700">
                          <a:solidFill>
                            <a:srgbClr val="555555"/>
                          </a:solidFill>
                          <a:latin typeface="Calibri"/>
                        </a:rPr>
                        <a:t>Whether a search engine or AI tool can recognise the page as a named, described dataset.</a:t>
                      </a:r>
                    </a:p>
                  </a:txBody>
                  <a:tcPr marT="9144" marB="9144">
                    <a:solidFill>
                      <a:srgbClr val="FFFFFF"/>
                    </a:solidFill>
                  </a:tcPr>
                </a:tc>
                <a:tc>
                  <a:txBody>
                    <a:bodyPr wrap="square"/>
                    <a:lstStyle/>
                    <a:p>
                      <a:r>
                        <a:rPr b="0" sz="700">
                          <a:solidFill>
                            <a:srgbClr val="555555"/>
                          </a:solidFill>
                          <a:latin typeface="Calibri"/>
                        </a:rPr>
                        <a:t>A shared labelling scheme used by the major search engines (schema.org) defines these labels, and USAFacts' guide asks for standard metadata.</a:t>
                      </a:r>
                    </a:p>
                  </a:txBody>
                  <a:tcPr marT="9144" marB="9144">
                    <a:solidFill>
                      <a:srgbClr val="FFFFFF"/>
                    </a:solidFill>
                  </a:tcPr>
                </a:tc>
              </a:tr>
              <a:tr h="274320">
                <a:tc>
                  <a:txBody>
                    <a:bodyPr wrap="square"/>
                    <a:lstStyle/>
                    <a:p>
                      <a:r>
                        <a:rPr b="0" sz="700">
                          <a:solidFill>
                            <a:srgbClr val="000000"/>
                          </a:solidFill>
                          <a:latin typeface="Calibri"/>
                        </a:rPr>
                        <a:t>The release date, and a link to the latest release (Not scored, shown for openness)</a:t>
                      </a:r>
                    </a:p>
                  </a:txBody>
                  <a:tcPr marT="9144" marB="9144">
                    <a:solidFill>
                      <a:srgbClr val="FFFFFF"/>
                    </a:solidFill>
                  </a:tcPr>
                </a:tc>
                <a:tc>
                  <a:txBody>
                    <a:bodyPr wrap="square"/>
                    <a:lstStyle/>
                    <a:p>
                      <a:r>
                        <a:rPr b="0" sz="700">
                          <a:solidFill>
                            <a:srgbClr val="555555"/>
                          </a:solidFill>
                          <a:latin typeface="Calibri"/>
                        </a:rPr>
                        <a:t>Date labels in the data page's code, and up to three links that point to the latest version.</a:t>
                      </a:r>
                    </a:p>
                  </a:txBody>
                  <a:tcPr marT="9144" marB="9144">
                    <a:solidFill>
                      <a:srgbClr val="FFFFFF"/>
                    </a:solidFill>
                  </a:tcPr>
                </a:tc>
                <a:tc>
                  <a:txBody>
                    <a:bodyPr wrap="square"/>
                    <a:lstStyle/>
                    <a:p>
                      <a:r>
                        <a:rPr b="0" sz="700">
                          <a:solidFill>
                            <a:srgbClr val="555555"/>
                          </a:solidFill>
                          <a:latin typeface="Calibri"/>
                        </a:rPr>
                        <a:t>Whether a program can tell which release it is reading and find a newer one.</a:t>
                      </a:r>
                    </a:p>
                  </a:txBody>
                  <a:tcPr marT="9144" marB="9144">
                    <a:solidFill>
                      <a:srgbClr val="FFFFFF"/>
                    </a:solidFill>
                  </a:tcPr>
                </a:tc>
                <a:tc>
                  <a:txBody>
                    <a:bodyPr wrap="square"/>
                    <a:lstStyle/>
                    <a:p>
                      <a:r>
                        <a:rPr b="0" sz="700">
                          <a:solidFill>
                            <a:srgbClr val="555555"/>
                          </a:solidFill>
                          <a:latin typeface="Calibri"/>
                        </a:rPr>
                        <a:t>Guidance from the World Wide Web Consortium says a dataset's version should be detectable; requiring the link to work is this project's rule.</a:t>
                      </a:r>
                    </a:p>
                  </a:txBody>
                  <a:tcPr marT="9144" marB="9144">
                    <a:solidFill>
                      <a:srgbClr val="FFFFFF"/>
                    </a:solidFill>
                  </a:tcPr>
                </a:tc>
              </a:tr>
              <a:tr h="274320">
                <a:tc>
                  <a:txBody>
                    <a:bodyPr wrap="square"/>
                    <a:lstStyle/>
                    <a:p>
                      <a:r>
                        <a:rPr b="0" sz="700">
                          <a:solidFill>
                            <a:srgbClr val="000000"/>
                          </a:solidFill>
                          <a:latin typeface="Calibri"/>
                        </a:rPr>
                        <a:t>A front door built for programs (Not scored, shown for openness)</a:t>
                      </a:r>
                    </a:p>
                  </a:txBody>
                  <a:tcPr marT="9144" marB="9144">
                    <a:solidFill>
                      <a:srgbClr val="FFFFFF"/>
                    </a:solidFill>
                  </a:tcPr>
                </a:tc>
                <a:tc>
                  <a:txBody>
                    <a:bodyPr wrap="square"/>
                    <a:lstStyle/>
                    <a:p>
                      <a:r>
                        <a:rPr b="0" sz="700">
                          <a:solidFill>
                            <a:srgbClr val="555555"/>
                          </a:solidFill>
                          <a:latin typeface="Calibri"/>
                        </a:rPr>
                        <a:t>A few fixed addresses where programs look first, such as /llms.txt and the data service's description.</a:t>
                      </a:r>
                    </a:p>
                  </a:txBody>
                  <a:tcPr marT="9144" marB="9144">
                    <a:solidFill>
                      <a:srgbClr val="FFFFFF"/>
                    </a:solidFill>
                  </a:tcPr>
                </a:tc>
                <a:tc>
                  <a:txBody>
                    <a:bodyPr wrap="square"/>
                    <a:lstStyle/>
                    <a:p>
                      <a:r>
                        <a:rPr b="0" sz="700">
                          <a:solidFill>
                            <a:srgbClr val="555555"/>
                          </a:solidFill>
                          <a:latin typeface="Calibri"/>
                        </a:rPr>
                        <a:t>Whether the agency offers a starting point designed for software rather than for people.</a:t>
                      </a:r>
                    </a:p>
                  </a:txBody>
                  <a:tcPr marT="9144" marB="9144">
                    <a:solidFill>
                      <a:srgbClr val="FFFFFF"/>
                    </a:solidFill>
                  </a:tcPr>
                </a:tc>
                <a:tc>
                  <a:txBody>
                    <a:bodyPr wrap="square"/>
                    <a:lstStyle/>
                    <a:p>
                      <a:r>
                        <a:rPr b="0" sz="700">
                          <a:solidFill>
                            <a:srgbClr val="555555"/>
                          </a:solidFill>
                          <a:latin typeface="Calibri"/>
                        </a:rPr>
                        <a:t>This project's rule: no published standard defines such a starting point yet.</a:t>
                      </a:r>
                    </a:p>
                  </a:txBody>
                  <a:tcPr marT="9144" marB="9144">
                    <a:solidFill>
                      <a:srgbClr val="FFFFFF"/>
                    </a:solidFill>
                  </a:tcPr>
                </a:tc>
              </a:tr>
              <a:tr h="274320">
                <a:tc>
                  <a:txBody>
                    <a:bodyPr wrap="square"/>
                    <a:lstStyle/>
                    <a:p>
                      <a:r>
                        <a:rPr b="0" sz="700">
                          <a:solidFill>
                            <a:srgbClr val="000000"/>
                          </a:solidFill>
                          <a:latin typeface="Calibri"/>
                        </a:rPr>
                        <a:t>The interactive data tool answers honestly (Not scored, shown for openness)</a:t>
                      </a:r>
                    </a:p>
                  </a:txBody>
                  <a:tcPr marT="9144" marB="9144">
                    <a:solidFill>
                      <a:srgbClr val="FFFFFF"/>
                    </a:solidFill>
                  </a:tcPr>
                </a:tc>
                <a:tc>
                  <a:txBody>
                    <a:bodyPr wrap="square"/>
                    <a:lstStyle/>
                    <a:p>
                      <a:r>
                        <a:rPr b="0" sz="700">
                          <a:solidFill>
                            <a:srgbClr val="555555"/>
                          </a:solidFill>
                          <a:latin typeface="Calibri"/>
                        </a:rPr>
                        <a:t>A direct link into the agency's interactive data tool, and a made-up address beneath it.</a:t>
                      </a:r>
                    </a:p>
                  </a:txBody>
                  <a:tcPr marT="9144" marB="9144">
                    <a:solidFill>
                      <a:srgbClr val="FFFFFF"/>
                    </a:solidFill>
                  </a:tcPr>
                </a:tc>
                <a:tc>
                  <a:txBody>
                    <a:bodyPr wrap="square"/>
                    <a:lstStyle/>
                    <a:p>
                      <a:r>
                        <a:rPr b="0" sz="700">
                          <a:solidFill>
                            <a:srgbClr val="555555"/>
                          </a:solidFill>
                          <a:latin typeface="Calibri"/>
                        </a:rPr>
                        <a:t>Whether the tool returns real content, and a real "not found" for an address that does not exist.</a:t>
                      </a:r>
                    </a:p>
                  </a:txBody>
                  <a:tcPr marT="9144" marB="9144">
                    <a:solidFill>
                      <a:srgbClr val="FFFFFF"/>
                    </a:solidFill>
                  </a:tcPr>
                </a:tc>
                <a:tc>
                  <a:txBody>
                    <a:bodyPr wrap="square"/>
                    <a:lstStyle/>
                    <a:p>
                      <a:r>
                        <a:rPr b="0" sz="700">
                          <a:solidFill>
                            <a:srgbClr val="555555"/>
                          </a:solidFill>
                          <a:latin typeface="Calibri"/>
                        </a:rPr>
                        <a:t>An internet standard defines a "not found" answer; the minimum amount of readable text is this project's rule.</a:t>
                      </a:r>
                    </a:p>
                  </a:txBody>
                  <a:tcPr marT="9144" marB="9144">
                    <a:solidFill>
                      <a:srgbClr val="FFFFFF"/>
                    </a:solidFill>
                  </a:tcPr>
                </a:tc>
              </a:tr>
              <a:tr h="274320">
                <a:tc>
                  <a:txBody>
                    <a:bodyPr wrap="square"/>
                    <a:lstStyle/>
                    <a:p>
                      <a:r>
                        <a:rPr b="0" sz="700">
                          <a:solidFill>
                            <a:srgbClr val="000000"/>
                          </a:solidFill>
                          <a:latin typeface="Calibri"/>
                        </a:rPr>
                        <a:t>What the site states about automated access (The site's own statement, not scored)</a:t>
                      </a:r>
                    </a:p>
                  </a:txBody>
                  <a:tcPr marT="9144" marB="9144">
                    <a:solidFill>
                      <a:srgbClr val="FFFFFF"/>
                    </a:solidFill>
                  </a:tcPr>
                </a:tc>
                <a:tc>
                  <a:txBody>
                    <a:bodyPr wrap="square"/>
                    <a:lstStyle/>
                    <a:p>
                      <a:r>
                        <a:rPr b="0" sz="700">
                          <a:solidFill>
                            <a:srgbClr val="555555"/>
                          </a:solidFill>
                          <a:latin typeface="Calibri"/>
                        </a:rPr>
                        <a:t>The site's instructions to automated visitors, and the matching tags carried on the data page.</a:t>
                      </a:r>
                    </a:p>
                  </a:txBody>
                  <a:tcPr marT="9144" marB="9144">
                    <a:solidFill>
                      <a:srgbClr val="FFFFFF"/>
                    </a:solidFill>
                  </a:tcPr>
                </a:tc>
                <a:tc>
                  <a:txBody>
                    <a:bodyPr wrap="square"/>
                    <a:lstStyle/>
                    <a:p>
                      <a:r>
                        <a:rPr b="0" sz="700">
                          <a:solidFill>
                            <a:srgbClr val="555555"/>
                          </a:solidFill>
                          <a:latin typeface="Calibri"/>
                        </a:rPr>
                        <a:t>What the agency has put in writing about which automated visitors may read the page.</a:t>
                      </a:r>
                    </a:p>
                  </a:txBody>
                  <a:tcPr marT="9144" marB="9144">
                    <a:solidFill>
                      <a:srgbClr val="FFFFFF"/>
                    </a:solidFill>
                  </a:tcPr>
                </a:tc>
                <a:tc>
                  <a:txBody>
                    <a:bodyPr wrap="square"/>
                    <a:lstStyle/>
                    <a:p>
                      <a:r>
                        <a:rPr b="0" sz="700">
                          <a:solidFill>
                            <a:srgbClr val="555555"/>
                          </a:solidFill>
                          <a:latin typeface="Calibri"/>
                        </a:rPr>
                        <a:t>The internet standard for that instructions file says it is not a lock; this records a statement and is not scored.</a:t>
                      </a:r>
                    </a:p>
                  </a:txBody>
                  <a:tcPr marT="9144" marB="9144">
                    <a:solidFill>
                      <a:srgbClr val="FFFFFF"/>
                    </a:solidFill>
                  </a:tcPr>
                </a:tc>
              </a:tr>
              <a:tr h="274320">
                <a:tc>
                  <a:txBody>
                    <a:bodyPr wrap="square"/>
                    <a:lstStyle/>
                    <a:p>
                      <a:r>
                        <a:rPr b="0" sz="700">
                          <a:solidFill>
                            <a:srgbClr val="000000"/>
                          </a:solidFill>
                          <a:latin typeface="Calibri"/>
                        </a:rPr>
                        <a:t>The site serves what its own rules permit (Under review, not scored)</a:t>
                      </a:r>
                    </a:p>
                  </a:txBody>
                  <a:tcPr marT="9144" marB="9144">
                    <a:solidFill>
                      <a:srgbClr val="FFFFFF"/>
                    </a:solidFill>
                  </a:tcPr>
                </a:tc>
                <a:tc>
                  <a:txBody>
                    <a:bodyPr wrap="square"/>
                    <a:lstStyle/>
                    <a:p>
                      <a:r>
                        <a:rPr b="0" sz="700">
                          <a:solidFill>
                            <a:srgbClr val="555555"/>
                          </a:solidFill>
                          <a:latin typeface="Calibri"/>
                        </a:rPr>
                        <a:t>Those same visitor instructions, then the data page, both requested under one fixed name.</a:t>
                      </a:r>
                    </a:p>
                  </a:txBody>
                  <a:tcPr marT="9144" marB="9144">
                    <a:solidFill>
                      <a:srgbClr val="FFFFFF"/>
                    </a:solidFill>
                  </a:tcPr>
                </a:tc>
                <a:tc>
                  <a:txBody>
                    <a:bodyPr wrap="square"/>
                    <a:lstStyle/>
                    <a:p>
                      <a:r>
                        <a:rPr b="0" sz="700">
                          <a:solidFill>
                            <a:srgbClr val="555555"/>
                          </a:solidFill>
                          <a:latin typeface="Calibri"/>
                        </a:rPr>
                        <a:t>Whether the site actually delivers a page its own stated policy allows.</a:t>
                      </a:r>
                    </a:p>
                  </a:txBody>
                  <a:tcPr marT="9144" marB="9144">
                    <a:solidFill>
                      <a:srgbClr val="FFFFFF"/>
                    </a:solidFill>
                  </a:tcPr>
                </a:tc>
                <a:tc>
                  <a:txBody>
                    <a:bodyPr wrap="square"/>
                    <a:lstStyle/>
                    <a:p>
                      <a:r>
                        <a:rPr b="0" sz="700">
                          <a:solidFill>
                            <a:srgbClr val="555555"/>
                          </a:solidFill>
                          <a:latin typeface="Calibri"/>
                        </a:rPr>
                        <a:t>Comparing what a site says with what it does is this project's own idea, still under review.</a:t>
                      </a:r>
                    </a:p>
                  </a:txBody>
                  <a:tcPr marT="9144" marB="9144">
                    <a:solidFill>
                      <a:srgbClr val="FFFFFF"/>
                    </a:solidFill>
                  </a:tcPr>
                </a:tc>
              </a:tr>
              <a:tr h="274320">
                <a:tc>
                  <a:txBody>
                    <a:bodyPr wrap="square"/>
                    <a:lstStyle/>
                    <a:p>
                      <a:r>
                        <a:rPr b="0" sz="700">
                          <a:solidFill>
                            <a:srgbClr val="000000"/>
                          </a:solidFill>
                          <a:latin typeface="Calibri"/>
                        </a:rPr>
                        <a:t>From a data page to the data service, terms, change log and inventory (Not scored, shown for openness)</a:t>
                      </a:r>
                    </a:p>
                  </a:txBody>
                  <a:tcPr marT="9144" marB="9144">
                    <a:solidFill>
                      <a:srgbClr val="FFFFFF"/>
                    </a:solidFill>
                  </a:tcPr>
                </a:tc>
                <a:tc>
                  <a:txBody>
                    <a:bodyPr wrap="square"/>
                    <a:lstStyle/>
                    <a:p>
                      <a:r>
                        <a:rPr b="0" sz="700">
                          <a:solidFill>
                            <a:srgbClr val="555555"/>
                          </a:solidFill>
                          <a:latin typeface="Calibri"/>
                        </a:rPr>
                        <a:t>Links on one data page, and the known addresses of the agency's data service, its terms of use, its change log and its data inventory.</a:t>
                      </a:r>
                    </a:p>
                  </a:txBody>
                  <a:tcPr marT="9144" marB="9144">
                    <a:solidFill>
                      <a:srgbClr val="FFFFFF"/>
                    </a:solidFill>
                  </a:tcPr>
                </a:tc>
                <a:tc>
                  <a:txBody>
                    <a:bodyPr wrap="square"/>
                    <a:lstStyle/>
                    <a:p>
                      <a:r>
                        <a:rPr b="0" sz="700">
                          <a:solidFill>
                            <a:srgbClr val="555555"/>
                          </a:solidFill>
                          <a:latin typeface="Calibri"/>
                        </a:rPr>
                        <a:t>Whether a program that starts on a data page can find everything the agency offers for machines.</a:t>
                      </a:r>
                    </a:p>
                  </a:txBody>
                  <a:tcPr marT="9144" marB="9144">
                    <a:solidFill>
                      <a:srgbClr val="FFFFFF"/>
                    </a:solidFill>
                  </a:tcPr>
                </a:tc>
                <a:tc>
                  <a:txBody>
                    <a:bodyPr wrap="square"/>
                    <a:lstStyle/>
                    <a:p>
                      <a:r>
                        <a:rPr b="0" sz="700">
                          <a:solidFill>
                            <a:srgbClr val="555555"/>
                          </a:solidFill>
                          <a:latin typeface="Calibri"/>
                        </a:rPr>
                        <a:t>A web standard sets an address for listing data services, and an OMB memo fixes where the inventory lives; joining the four is this project's rule.</a:t>
                      </a:r>
                    </a:p>
                  </a:txBody>
                  <a:tcPr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The checks: Understandable, Open, Release</a:t>
            </a:r>
          </a:p>
        </p:txBody>
      </p:sp>
      <p:graphicFrame>
        <p:nvGraphicFramePr>
          <p:cNvPr id="3" name="Table 2"/>
          <p:cNvGraphicFramePr>
            <a:graphicFrameLocks noGrp="1"/>
          </p:cNvGraphicFramePr>
          <p:nvPr/>
        </p:nvGraphicFramePr>
        <p:xfrm>
          <a:off x="365760" y="1143000"/>
          <a:ext cx="11430000" cy="2194560"/>
        </p:xfrm>
        <a:graphic>
          <a:graphicData uri="http://schemas.openxmlformats.org/drawingml/2006/table">
            <a:tbl>
              <a:tblPr>
                <a:tableStyleId>{5C22544A-7EE6-4342-B048-85BDC9FD1C3A}</a:tableStyleId>
              </a:tblPr>
              <a:tblGrid>
                <a:gridCol w="2377440"/>
                <a:gridCol w="3108960"/>
                <a:gridCol w="2926080"/>
                <a:gridCol w="3017520"/>
              </a:tblGrid>
              <a:tr h="274320">
                <a:tc>
                  <a:txBody>
                    <a:bodyPr wrap="square"/>
                    <a:lstStyle/>
                    <a:p>
                      <a:r>
                        <a:rPr b="1" sz="1100">
                          <a:solidFill>
                            <a:srgbClr val="C25600"/>
                          </a:solidFill>
                          <a:latin typeface="Calibri"/>
                        </a:rPr>
                        <a:t>Check</a:t>
                      </a:r>
                    </a:p>
                  </a:txBody>
                  <a:tcPr marT="9144" marB="9144">
                    <a:solidFill>
                      <a:srgbClr val="FFFFFF"/>
                    </a:solidFill>
                  </a:tcPr>
                </a:tc>
                <a:tc>
                  <a:txBody>
                    <a:bodyPr wrap="square"/>
                    <a:lstStyle/>
                    <a:p>
                      <a:r>
                        <a:rPr b="1" sz="1100">
                          <a:solidFill>
                            <a:srgbClr val="C25600"/>
                          </a:solidFill>
                          <a:latin typeface="Calibri"/>
                        </a:rPr>
                        <a:t>What we ask your site for</a:t>
                      </a:r>
                    </a:p>
                  </a:txBody>
                  <a:tcPr marT="9144" marB="9144">
                    <a:solidFill>
                      <a:srgbClr val="FFFFFF"/>
                    </a:solidFill>
                  </a:tcPr>
                </a:tc>
                <a:tc>
                  <a:txBody>
                    <a:bodyPr wrap="square"/>
                    <a:lstStyle/>
                    <a:p>
                      <a:r>
                        <a:rPr b="1" sz="1100">
                          <a:solidFill>
                            <a:srgbClr val="C25600"/>
                          </a:solidFill>
                          <a:latin typeface="Calibri"/>
                        </a:rPr>
                        <a:t>What it tells us</a:t>
                      </a:r>
                    </a:p>
                  </a:txBody>
                  <a:tcPr marT="9144" marB="9144">
                    <a:solidFill>
                      <a:srgbClr val="FFFFFF"/>
                    </a:solidFill>
                  </a:tcPr>
                </a:tc>
                <a:tc>
                  <a:txBody>
                    <a:bodyPr wrap="square"/>
                    <a:lstStyle/>
                    <a:p>
                      <a:r>
                        <a:rPr b="1" sz="1100">
                          <a:solidFill>
                            <a:srgbClr val="C25600"/>
                          </a:solidFill>
                          <a:latin typeface="Calibri"/>
                        </a:rPr>
                        <a:t>Why it matters</a:t>
                      </a:r>
                    </a:p>
                  </a:txBody>
                  <a:tcPr marT="9144" marB="9144">
                    <a:solidFill>
                      <a:srgbClr val="FFFFFF"/>
                    </a:solidFill>
                  </a:tcPr>
                </a:tc>
              </a:tr>
              <a:tr h="274320">
                <a:tc>
                  <a:txBody>
                    <a:bodyPr wrap="square"/>
                    <a:lstStyle/>
                    <a:p>
                      <a:r>
                        <a:rPr b="1" sz="1100">
                          <a:solidFill>
                            <a:srgbClr val="C25600"/>
                          </a:solidFill>
                          <a:latin typeface="Calibri"/>
                        </a:rPr>
                        <a:t>Understandable</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r>
              <a:tr h="274320">
                <a:tc>
                  <a:txBody>
                    <a:bodyPr wrap="square"/>
                    <a:lstStyle/>
                    <a:p>
                      <a:r>
                        <a:rPr b="0" sz="1000">
                          <a:solidFill>
                            <a:srgbClr val="000000"/>
                          </a:solidFill>
                          <a:latin typeface="Calibri"/>
                        </a:rPr>
                        <a:t>The methods are readable as plain text (Not scored, shown for openness)</a:t>
                      </a:r>
                    </a:p>
                  </a:txBody>
                  <a:tcPr marT="9144" marB="9144">
                    <a:solidFill>
                      <a:srgbClr val="FFFFFF"/>
                    </a:solidFill>
                  </a:tcPr>
                </a:tc>
                <a:tc>
                  <a:txBody>
                    <a:bodyPr wrap="square"/>
                    <a:lstStyle/>
                    <a:p>
                      <a:r>
                        <a:rPr b="0" sz="1000">
                          <a:solidFill>
                            <a:srgbClr val="555555"/>
                          </a:solidFill>
                          <a:latin typeface="Calibri"/>
                        </a:rPr>
                        <a:t>The data page and up to twenty-five of its links that mention methodology.</a:t>
                      </a:r>
                    </a:p>
                  </a:txBody>
                  <a:tcPr marT="9144" marB="9144">
                    <a:solidFill>
                      <a:srgbClr val="FFFFFF"/>
                    </a:solidFill>
                  </a:tcPr>
                </a:tc>
                <a:tc>
                  <a:txBody>
                    <a:bodyPr wrap="square"/>
                    <a:lstStyle/>
                    <a:p>
                      <a:r>
                        <a:rPr b="0" sz="1000">
                          <a:solidFill>
                            <a:srgbClr val="555555"/>
                          </a:solidFill>
                          <a:latin typeface="Calibri"/>
                        </a:rPr>
                        <a:t>Whether a program can read how the numbers were made without running the programs built into the page.</a:t>
                      </a:r>
                    </a:p>
                  </a:txBody>
                  <a:tcPr marT="9144" marB="9144">
                    <a:solidFill>
                      <a:srgbClr val="FFFFFF"/>
                    </a:solidFill>
                  </a:tcPr>
                </a:tc>
                <a:tc>
                  <a:txBody>
                    <a:bodyPr wrap="square"/>
                    <a:lstStyle/>
                    <a:p>
                      <a:r>
                        <a:rPr b="0" sz="1000">
                          <a:solidFill>
                            <a:srgbClr val="555555"/>
                          </a:solidFill>
                          <a:latin typeface="Calibri"/>
                        </a:rPr>
                        <a:t>A published documentation guide asks that methods be reachable by automated visitors; the no-scripts reading is this project's rule.</a:t>
                      </a:r>
                    </a:p>
                  </a:txBody>
                  <a:tcPr marT="9144" marB="9144">
                    <a:solidFill>
                      <a:srgbClr val="FFFFFF"/>
                    </a:solidFill>
                  </a:tcPr>
                </a:tc>
              </a:tr>
              <a:tr h="274320">
                <a:tc>
                  <a:txBody>
                    <a:bodyPr wrap="square"/>
                    <a:lstStyle/>
                    <a:p>
                      <a:r>
                        <a:rPr b="1" sz="1100">
                          <a:solidFill>
                            <a:srgbClr val="C25600"/>
                          </a:solidFill>
                          <a:latin typeface="Calibri"/>
                        </a:rPr>
                        <a:t>Open</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r>
              <a:tr h="274320">
                <a:tc>
                  <a:txBody>
                    <a:bodyPr wrap="square"/>
                    <a:lstStyle/>
                    <a:p>
                      <a:r>
                        <a:rPr b="1" sz="1000">
                          <a:solidFill>
                            <a:srgbClr val="000000"/>
                          </a:solidFill>
                          <a:latin typeface="Calibri"/>
                        </a:rPr>
                        <a:t>The product is listed in the agency's data inventory (Scored)</a:t>
                      </a:r>
                    </a:p>
                  </a:txBody>
                  <a:tcPr marT="9144" marB="9144">
                    <a:solidFill>
                      <a:srgbClr val="FFFFFF"/>
                    </a:solidFill>
                  </a:tcPr>
                </a:tc>
                <a:tc>
                  <a:txBody>
                    <a:bodyPr wrap="square"/>
                    <a:lstStyle/>
                    <a:p>
                      <a:r>
                        <a:rPr b="0" sz="1000">
                          <a:solidFill>
                            <a:srgbClr val="555555"/>
                          </a:solidFill>
                          <a:latin typeface="Calibri"/>
                        </a:rPr>
                        <a:t>The agency's public data inventory file, called data.json, at each address on record for it.</a:t>
                      </a:r>
                    </a:p>
                  </a:txBody>
                  <a:tcPr marT="9144" marB="9144">
                    <a:solidFill>
                      <a:srgbClr val="FFFFFF"/>
                    </a:solidFill>
                  </a:tcPr>
                </a:tc>
                <a:tc>
                  <a:txBody>
                    <a:bodyPr wrap="square"/>
                    <a:lstStyle/>
                    <a:p>
                      <a:r>
                        <a:rPr b="0" sz="1000">
                          <a:solidFill>
                            <a:srgbClr val="555555"/>
                          </a:solidFill>
                          <a:latin typeface="Calibri"/>
                        </a:rPr>
                        <a:t>Whether the product has a valid entry there, so a catalog can find it.</a:t>
                      </a:r>
                    </a:p>
                  </a:txBody>
                  <a:tcPr marT="9144" marB="9144">
                    <a:solidFill>
                      <a:srgbClr val="FFFFFF"/>
                    </a:solidFill>
                  </a:tcPr>
                </a:tc>
                <a:tc>
                  <a:txBody>
                    <a:bodyPr wrap="square"/>
                    <a:lstStyle/>
                    <a:p>
                      <a:r>
                        <a:rPr b="0" sz="1000">
                          <a:solidFill>
                            <a:srgbClr val="555555"/>
                          </a:solidFill>
                          <a:latin typeface="Calibri"/>
                        </a:rPr>
                        <a:t>An OMB memo requires every agency to keep a complete data inventory at that address.</a:t>
                      </a:r>
                    </a:p>
                  </a:txBody>
                  <a:tcPr marT="9144" marB="9144">
                    <a:solidFill>
                      <a:srgbClr val="FFFFFF"/>
                    </a:solidFill>
                  </a:tcPr>
                </a:tc>
              </a:tr>
              <a:tr h="274320">
                <a:tc>
                  <a:txBody>
                    <a:bodyPr wrap="square"/>
                    <a:lstStyle/>
                    <a:p>
                      <a:r>
                        <a:rPr b="0" sz="1000">
                          <a:solidFill>
                            <a:srgbClr val="000000"/>
                          </a:solidFill>
                          <a:latin typeface="Calibri"/>
                        </a:rPr>
                        <a:t>The terms of reuse, under a recognised name (Not scored, shown for openness)</a:t>
                      </a:r>
                    </a:p>
                  </a:txBody>
                  <a:tcPr marT="9144" marB="9144">
                    <a:solidFill>
                      <a:srgbClr val="FFFFFF"/>
                    </a:solidFill>
                  </a:tcPr>
                </a:tc>
                <a:tc>
                  <a:txBody>
                    <a:bodyPr wrap="square"/>
                    <a:lstStyle/>
                    <a:p>
                      <a:r>
                        <a:rPr b="0" sz="1000">
                          <a:solidFill>
                            <a:srgbClr val="555555"/>
                          </a:solidFill>
                          <a:latin typeface="Calibri"/>
                        </a:rPr>
                        <a:t>The licence named in the page's own description and, where one exists, the data service's terms page.</a:t>
                      </a:r>
                    </a:p>
                  </a:txBody>
                  <a:tcPr marT="9144" marB="9144">
                    <a:solidFill>
                      <a:srgbClr val="FFFFFF"/>
                    </a:solidFill>
                  </a:tcPr>
                </a:tc>
                <a:tc>
                  <a:txBody>
                    <a:bodyPr wrap="square"/>
                    <a:lstStyle/>
                    <a:p>
                      <a:r>
                        <a:rPr b="0" sz="1000">
                          <a:solidFill>
                            <a:srgbClr val="555555"/>
                          </a:solidFill>
                          <a:latin typeface="Calibri"/>
                        </a:rPr>
                        <a:t>Whether a program can tell, from a standard licence name, how it may reuse the data.</a:t>
                      </a:r>
                    </a:p>
                  </a:txBody>
                  <a:tcPr marT="9144" marB="9144">
                    <a:solidFill>
                      <a:srgbClr val="FFFFFF"/>
                    </a:solidFill>
                  </a:tcPr>
                </a:tc>
                <a:tc>
                  <a:txBody>
                    <a:bodyPr wrap="square"/>
                    <a:lstStyle/>
                    <a:p>
                      <a:r>
                        <a:rPr b="0" sz="1000">
                          <a:solidFill>
                            <a:srgbClr val="555555"/>
                          </a:solidFill>
                          <a:latin typeface="Calibri"/>
                        </a:rPr>
                        <a:t>The web's standards body asks for a stated licence; demanding a standard licence identifier is this project's rule.</a:t>
                      </a:r>
                    </a:p>
                  </a:txBody>
                  <a:tcPr marT="9144" marB="9144">
                    <a:solidFill>
                      <a:srgbClr val="FFFFFF"/>
                    </a:solidFill>
                  </a:tcPr>
                </a:tc>
              </a:tr>
              <a:tr h="274320">
                <a:tc>
                  <a:txBody>
                    <a:bodyPr wrap="square"/>
                    <a:lstStyle/>
                    <a:p>
                      <a:r>
                        <a:rPr b="1" sz="1100">
                          <a:solidFill>
                            <a:srgbClr val="C25600"/>
                          </a:solidFill>
                          <a:latin typeface="Calibri"/>
                        </a:rPr>
                        <a:t>Release</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r>
              <a:tr h="274320">
                <a:tc>
                  <a:txBody>
                    <a:bodyPr wrap="square"/>
                    <a:lstStyle/>
                    <a:p>
                      <a:r>
                        <a:rPr b="0" sz="1000">
                          <a:solidFill>
                            <a:srgbClr val="000000"/>
                          </a:solidFill>
                          <a:latin typeface="Calibri"/>
                        </a:rPr>
                        <a:t>A change history a program can follow (Not scored, shown for openness)</a:t>
                      </a:r>
                    </a:p>
                  </a:txBody>
                  <a:tcPr marT="9144" marB="9144">
                    <a:solidFill>
                      <a:srgbClr val="FFFFFF"/>
                    </a:solidFill>
                  </a:tcPr>
                </a:tc>
                <a:tc>
                  <a:txBody>
                    <a:bodyPr wrap="square"/>
                    <a:lstStyle/>
                    <a:p>
                      <a:r>
                        <a:rPr b="0" sz="1000">
                          <a:solidFill>
                            <a:srgbClr val="555555"/>
                          </a:solidFill>
                          <a:latin typeface="Calibri"/>
                        </a:rPr>
                        <a:t>The agency's change log or release notes, at each address on record.</a:t>
                      </a:r>
                    </a:p>
                  </a:txBody>
                  <a:tcPr marT="9144" marB="9144">
                    <a:solidFill>
                      <a:srgbClr val="FFFFFF"/>
                    </a:solidFill>
                  </a:tcPr>
                </a:tc>
                <a:tc>
                  <a:txBody>
                    <a:bodyPr wrap="square"/>
                    <a:lstStyle/>
                    <a:p>
                      <a:r>
                        <a:rPr b="0" sz="1000">
                          <a:solidFill>
                            <a:srgbClr val="555555"/>
                          </a:solidFill>
                          <a:latin typeface="Calibri"/>
                        </a:rPr>
                        <a:t>Whether software can see what changed between releases from a structured list of changes.</a:t>
                      </a:r>
                    </a:p>
                  </a:txBody>
                  <a:tcPr marT="9144" marB="9144">
                    <a:solidFill>
                      <a:srgbClr val="FFFFFF"/>
                    </a:solidFill>
                  </a:tcPr>
                </a:tc>
                <a:tc>
                  <a:txBody>
                    <a:bodyPr wrap="square"/>
                    <a:lstStyle/>
                    <a:p>
                      <a:r>
                        <a:rPr b="0" sz="1000">
                          <a:solidFill>
                            <a:srgbClr val="555555"/>
                          </a:solidFill>
                          <a:latin typeface="Calibri"/>
                        </a:rPr>
                        <a:t>The World Wide Web Consortium asks publishers for a full version history; requiring it in a fixed structured form is this project's rule.</a:t>
                      </a:r>
                    </a:p>
                  </a:txBody>
                  <a:tcPr marT="9144" marB="9144">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Results by agency</a:t>
            </a:r>
          </a:p>
        </p:txBody>
      </p:sp>
      <p:sp>
        <p:nvSpPr>
          <p:cNvPr id="3" name="TextBox 2"/>
          <p:cNvSpPr txBox="1"/>
          <p:nvPr/>
        </p:nvSpPr>
        <p:spPr>
          <a:xfrm>
            <a:off x="548640" y="868680"/>
            <a:ext cx="11064240" cy="548640"/>
          </a:xfrm>
          <a:prstGeom prst="rect">
            <a:avLst/>
          </a:prstGeom>
          <a:noFill/>
        </p:spPr>
        <p:txBody>
          <a:bodyPr wrap="square">
            <a:spAutoFit/>
          </a:bodyPr>
          <a:lstStyle/>
          <a:p>
            <a:r>
              <a:rPr b="0" sz="1200">
                <a:solidFill>
                  <a:srgbClr val="000000"/>
                </a:solidFill>
                <a:latin typeface="Calibri"/>
              </a:rPr>
              <a:t>Across the 64 agency results on the scored checks, 8 pass, 0 are partial, 15 fail and 41 are not measured; for 3 agencies no scored check could be measured.</a:t>
            </a:r>
          </a:p>
        </p:txBody>
      </p:sp>
      <p:graphicFrame>
        <p:nvGraphicFramePr>
          <p:cNvPr id="4" name="Table 3"/>
          <p:cNvGraphicFramePr>
            <a:graphicFrameLocks noGrp="1"/>
          </p:cNvGraphicFramePr>
          <p:nvPr/>
        </p:nvGraphicFramePr>
        <p:xfrm>
          <a:off x="365760" y="1325880"/>
          <a:ext cx="11795760" cy="4608576"/>
        </p:xfrm>
        <a:graphic>
          <a:graphicData uri="http://schemas.openxmlformats.org/drawingml/2006/table">
            <a:tbl>
              <a:tblPr>
                <a:tableStyleId>{5C22544A-7EE6-4342-B048-85BDC9FD1C3A}</a:tableStyleId>
              </a:tblPr>
              <a:tblGrid>
                <a:gridCol w="4846320"/>
                <a:gridCol w="1737360"/>
                <a:gridCol w="1737360"/>
                <a:gridCol w="1737360"/>
                <a:gridCol w="1737360"/>
              </a:tblGrid>
              <a:tr h="219456">
                <a:tc>
                  <a:txBody>
                    <a:bodyPr wrap="square"/>
                    <a:lstStyle/>
                    <a:p>
                      <a:r>
                        <a:rPr b="1" sz="700">
                          <a:solidFill>
                            <a:srgbClr val="C25600"/>
                          </a:solidFill>
                          <a:latin typeface="Calibri"/>
                        </a:rPr>
                        <a:t>Agency</a:t>
                      </a:r>
                    </a:p>
                  </a:txBody>
                  <a:tcPr marT="9144" marB="9144">
                    <a:solidFill>
                      <a:srgbClr val="FFFFFF"/>
                    </a:solidFill>
                  </a:tcPr>
                </a:tc>
                <a:tc>
                  <a:txBody>
                    <a:bodyPr wrap="square"/>
                    <a:lstStyle/>
                    <a:p>
                      <a:r>
                        <a:rPr b="1" sz="700">
                          <a:solidFill>
                            <a:srgbClr val="C25600"/>
                          </a:solidFill>
                          <a:latin typeface="Calibri"/>
                        </a:rPr>
                        <a:t>Data offered as a file a program can read</a:t>
                      </a:r>
                    </a:p>
                  </a:txBody>
                  <a:tcPr marT="9144" marB="9144">
                    <a:solidFill>
                      <a:srgbClr val="FFFFFF"/>
                    </a:solidFill>
                  </a:tcPr>
                </a:tc>
                <a:tc>
                  <a:txBody>
                    <a:bodyPr wrap="square"/>
                    <a:lstStyle/>
                    <a:p>
                      <a:r>
                        <a:rPr b="1" sz="700">
                          <a:solidFill>
                            <a:srgbClr val="C25600"/>
                          </a:solidFill>
                          <a:latin typeface="Calibri"/>
                        </a:rPr>
                        <a:t>The whole dataset in one download</a:t>
                      </a:r>
                    </a:p>
                  </a:txBody>
                  <a:tcPr marT="9144" marB="9144">
                    <a:solidFill>
                      <a:srgbClr val="FFFFFF"/>
                    </a:solidFill>
                  </a:tcPr>
                </a:tc>
                <a:tc>
                  <a:txBody>
                    <a:bodyPr wrap="square"/>
                    <a:lstStyle/>
                    <a:p>
                      <a:r>
                        <a:rPr b="1" sz="700">
                          <a:solidFill>
                            <a:srgbClr val="C25600"/>
                          </a:solidFill>
                          <a:latin typeface="Calibri"/>
                        </a:rPr>
                        <a:t>The data page is in the site's list of pages</a:t>
                      </a:r>
                    </a:p>
                  </a:txBody>
                  <a:tcPr marT="9144" marB="9144">
                    <a:solidFill>
                      <a:srgbClr val="FFFFFF"/>
                    </a:solidFill>
                  </a:tcPr>
                </a:tc>
                <a:tc>
                  <a:txBody>
                    <a:bodyPr wrap="square"/>
                    <a:lstStyle/>
                    <a:p>
                      <a:r>
                        <a:rPr b="1" sz="700">
                          <a:solidFill>
                            <a:srgbClr val="C25600"/>
                          </a:solidFill>
                          <a:latin typeface="Calibri"/>
                        </a:rPr>
                        <a:t>The product is listed in the agency's data inventory</a:t>
                      </a:r>
                    </a:p>
                  </a:txBody>
                  <a:tcPr marT="9144" marB="9144">
                    <a:solidFill>
                      <a:srgbClr val="FFFFFF"/>
                    </a:solidFill>
                  </a:tcPr>
                </a:tc>
              </a:tr>
              <a:tr h="219456">
                <a:tc>
                  <a:txBody>
                    <a:bodyPr wrap="square"/>
                    <a:lstStyle/>
                    <a:p>
                      <a:r>
                        <a:rPr b="0" sz="700">
                          <a:solidFill>
                            <a:srgbClr val="000000"/>
                          </a:solidFill>
                          <a:latin typeface="Calibri"/>
                        </a:rPr>
                        <a:t>Bureau of Economic Analysis (BEA)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Bureau of Justice Statistics (BJS)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Bureau of Labor Statistics (BLS)</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Bureau of the Census (CENSUS)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Bureau of Transportation Statistics (BTS)</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Division of Research and Statistics, Microeconomic Surveys Unit (DRSMSU)</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Economic Research Service (ERS)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Energy Information Administration (EIA)</a:t>
                      </a:r>
                    </a:p>
                  </a:txBody>
                  <a:tcPr marT="9144" marB="9144">
                    <a:solidFill>
                      <a:srgbClr val="FFFFFF"/>
                    </a:solidFill>
                  </a:tcPr>
                </a:tc>
                <a:tc>
                  <a:txBody>
                    <a:bodyPr wrap="square"/>
                    <a:lstStyle/>
                    <a:p>
                      <a:r>
                        <a:rPr b="0" sz="700">
                          <a:solidFill>
                            <a:srgbClr val="000000"/>
                          </a:solidFill>
                          <a:latin typeface="Calibri"/>
                        </a:rPr>
                        <a:t>Not measured (c)</a:t>
                      </a:r>
                    </a:p>
                  </a:txBody>
                  <a:tcPr marT="9144" marB="9144">
                    <a:solidFill>
                      <a:srgbClr val="FFFFFF"/>
                    </a:solidFill>
                  </a:tcPr>
                </a:tc>
                <a:tc>
                  <a:txBody>
                    <a:bodyPr wrap="square"/>
                    <a:lstStyle/>
                    <a:p>
                      <a:r>
                        <a:rPr b="0" sz="700">
                          <a:solidFill>
                            <a:srgbClr val="000000"/>
                          </a:solidFill>
                          <a:latin typeface="Calibri"/>
                        </a:rPr>
                        <a:t>Not measured (c)</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National Agricultural Statistics Service (NASS)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National Animal Health Monitoring System, Animal and Plant Health Inspection Service (NAHMSAPHIS)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National Center for Education Statistics (NCES)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National Center for Health Statistics (NCHS)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National Center for Science and Engineering Statistics (NCSES)</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Office of Research, Evaluation, and Statistics (ORES)</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Statistics of Income (SOI)</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Substance Abuse and Mental Health Services Administration, Center for Behavioral Health Statistics and Quality (SAMHSACBHS)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555555"/>
                          </a:solidFill>
                          <a:latin typeface="Calibri"/>
                        </a:rPr>
                        <a:t>Reference hosts, shown for comparison and counted in no total above.</a:t>
                      </a:r>
                    </a:p>
                  </a:txBody>
                  <a:tcPr marT="9144" marB="9144">
                    <a:solidFill>
                      <a:srgbClr val="FFFFFF"/>
                    </a:solidFill>
                  </a:tcPr>
                </a:tc>
                <a:tc>
                  <a:txBody>
                    <a:bodyPr wrap="square"/>
                    <a:lstStyle/>
                    <a:p>
                      <a:r>
                        <a:rPr b="0" sz="700">
                          <a:solidFill>
                            <a:srgbClr val="555555"/>
                          </a:solidFill>
                          <a:latin typeface="Calibri"/>
                        </a:rPr>
                        <a:t/>
                      </a:r>
                    </a:p>
                  </a:txBody>
                  <a:tcPr marT="9144" marB="9144">
                    <a:solidFill>
                      <a:srgbClr val="FFFFFF"/>
                    </a:solidFill>
                  </a:tcPr>
                </a:tc>
                <a:tc>
                  <a:txBody>
                    <a:bodyPr wrap="square"/>
                    <a:lstStyle/>
                    <a:p>
                      <a:r>
                        <a:rPr b="0" sz="700">
                          <a:solidFill>
                            <a:srgbClr val="555555"/>
                          </a:solidFill>
                          <a:latin typeface="Calibri"/>
                        </a:rPr>
                        <a:t/>
                      </a:r>
                    </a:p>
                  </a:txBody>
                  <a:tcPr marT="9144" marB="9144">
                    <a:solidFill>
                      <a:srgbClr val="FFFFFF"/>
                    </a:solidFill>
                  </a:tcPr>
                </a:tc>
                <a:tc>
                  <a:txBody>
                    <a:bodyPr wrap="square"/>
                    <a:lstStyle/>
                    <a:p>
                      <a:r>
                        <a:rPr b="0" sz="700">
                          <a:solidFill>
                            <a:srgbClr val="555555"/>
                          </a:solidFill>
                          <a:latin typeface="Calibri"/>
                        </a:rPr>
                        <a:t/>
                      </a:r>
                    </a:p>
                  </a:txBody>
                  <a:tcPr marT="9144" marB="9144">
                    <a:solidFill>
                      <a:srgbClr val="FFFFFF"/>
                    </a:solidFill>
                  </a:tcPr>
                </a:tc>
                <a:tc>
                  <a:txBody>
                    <a:bodyPr wrap="square"/>
                    <a:lstStyle/>
                    <a:p>
                      <a:r>
                        <a:rPr b="0" sz="700">
                          <a:solidFill>
                            <a:srgbClr val="555555"/>
                          </a:solidFill>
                          <a:latin typeface="Calibri"/>
                        </a:rPr>
                        <a:t/>
                      </a:r>
                    </a:p>
                  </a:txBody>
                  <a:tcPr marT="9144" marB="9144">
                    <a:solidFill>
                      <a:srgbClr val="FFFFFF"/>
                    </a:solidFill>
                  </a:tcPr>
                </a:tc>
              </a:tr>
              <a:tr h="219456">
                <a:tc>
                  <a:txBody>
                    <a:bodyPr wrap="square"/>
                    <a:lstStyle/>
                    <a:p>
                      <a:r>
                        <a:rPr b="0" sz="700">
                          <a:solidFill>
                            <a:srgbClr val="555555"/>
                          </a:solidFill>
                          <a:latin typeface="Calibri"/>
                        </a:rPr>
                        <a:t>GSA</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Fail</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r>
              <a:tr h="219456">
                <a:tc>
                  <a:txBody>
                    <a:bodyPr wrap="square"/>
                    <a:lstStyle/>
                    <a:p>
                      <a:r>
                        <a:rPr b="0" sz="700">
                          <a:solidFill>
                            <a:srgbClr val="555555"/>
                          </a:solidFill>
                          <a:latin typeface="Calibri"/>
                        </a:rPr>
                        <a:t>NIST</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Fail</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r>
              <a:tr h="219456">
                <a:tc>
                  <a:txBody>
                    <a:bodyPr wrap="square"/>
                    <a:lstStyle/>
                    <a:p>
                      <a:r>
                        <a:rPr b="0" sz="700">
                          <a:solidFill>
                            <a:srgbClr val="555555"/>
                          </a:solidFill>
                          <a:latin typeface="Calibri"/>
                        </a:rPr>
                        <a:t>data.gov</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Fail</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Each body's public data interface</a:t>
            </a:r>
          </a:p>
        </p:txBody>
      </p:sp>
      <p:sp>
        <p:nvSpPr>
          <p:cNvPr id="3" name="TextBox 2"/>
          <p:cNvSpPr txBox="1"/>
          <p:nvPr/>
        </p:nvSpPr>
        <p:spPr>
          <a:xfrm>
            <a:off x="548640" y="731520"/>
            <a:ext cx="11064240" cy="320040"/>
          </a:xfrm>
          <a:prstGeom prst="rect">
            <a:avLst/>
          </a:prstGeom>
          <a:noFill/>
        </p:spPr>
        <p:txBody>
          <a:bodyPr wrap="square">
            <a:spAutoFit/>
          </a:bodyPr>
          <a:lstStyle/>
          <a:p>
            <a:r>
              <a:rPr b="0" sz="1100">
                <a:solidFill>
                  <a:srgbClr val="555555"/>
                </a:solidFill>
                <a:latin typeface="Calibri"/>
              </a:rPr>
              <a:t>Confirmed from each agency's own pages on 16 October 2026; desk research, not a measured check.</a:t>
            </a:r>
          </a:p>
        </p:txBody>
      </p:sp>
      <p:graphicFrame>
        <p:nvGraphicFramePr>
          <p:cNvPr id="4" name="Table 3"/>
          <p:cNvGraphicFramePr>
            <a:graphicFrameLocks noGrp="1"/>
          </p:cNvGraphicFramePr>
          <p:nvPr/>
        </p:nvGraphicFramePr>
        <p:xfrm>
          <a:off x="365760" y="1051560"/>
          <a:ext cx="11430000" cy="2194560"/>
        </p:xfrm>
        <a:graphic>
          <a:graphicData uri="http://schemas.openxmlformats.org/drawingml/2006/table">
            <a:tbl>
              <a:tblPr>
                <a:tableStyleId>{5C22544A-7EE6-4342-B048-85BDC9FD1C3A}</a:tableStyleId>
              </a:tblPr>
              <a:tblGrid>
                <a:gridCol w="822960"/>
                <a:gridCol w="2286000"/>
                <a:gridCol w="2103120"/>
                <a:gridCol w="2377440"/>
                <a:gridCol w="2103120"/>
                <a:gridCol w="1737360"/>
              </a:tblGrid>
              <a:tr h="109728">
                <a:tc>
                  <a:txBody>
                    <a:bodyPr wrap="square"/>
                    <a:lstStyle/>
                    <a:p>
                      <a:r>
                        <a:rPr b="1" sz="600">
                          <a:solidFill>
                            <a:srgbClr val="C25600"/>
                          </a:solidFill>
                          <a:latin typeface="Calibri"/>
                        </a:rPr>
                        <a:t>Body</a:t>
                      </a:r>
                    </a:p>
                  </a:txBody>
                  <a:tcPr marT="9144" marB="9144">
                    <a:solidFill>
                      <a:srgbClr val="FFFFFF"/>
                    </a:solidFill>
                  </a:tcPr>
                </a:tc>
                <a:tc>
                  <a:txBody>
                    <a:bodyPr wrap="square"/>
                    <a:lstStyle/>
                    <a:p>
                      <a:r>
                        <a:rPr b="1" sz="600">
                          <a:solidFill>
                            <a:srgbClr val="C25600"/>
                          </a:solidFill>
                          <a:latin typeface="Calibri"/>
                        </a:rPr>
                        <a:t>API</a:t>
                      </a:r>
                    </a:p>
                  </a:txBody>
                  <a:tcPr marT="9144" marB="9144">
                    <a:solidFill>
                      <a:srgbClr val="FFFFFF"/>
                    </a:solidFill>
                  </a:tcPr>
                </a:tc>
                <a:tc>
                  <a:txBody>
                    <a:bodyPr wrap="square"/>
                    <a:lstStyle/>
                    <a:p>
                      <a:r>
                        <a:rPr b="1" sz="600">
                          <a:solidFill>
                            <a:srgbClr val="C25600"/>
                          </a:solidFill>
                          <a:latin typeface="Calibri"/>
                        </a:rPr>
                        <a:t>How a machine calls it</a:t>
                      </a:r>
                    </a:p>
                  </a:txBody>
                  <a:tcPr marT="9144" marB="9144">
                    <a:solidFill>
                      <a:srgbClr val="FFFFFF"/>
                    </a:solidFill>
                  </a:tcPr>
                </a:tc>
                <a:tc>
                  <a:txBody>
                    <a:bodyPr wrap="square"/>
                    <a:lstStyle/>
                    <a:p>
                      <a:r>
                        <a:rPr b="1" sz="600">
                          <a:solidFill>
                            <a:srgbClr val="C25600"/>
                          </a:solidFill>
                          <a:latin typeface="Calibri"/>
                        </a:rPr>
                        <a:t>How a key is obtained</a:t>
                      </a:r>
                    </a:p>
                  </a:txBody>
                  <a:tcPr marT="9144" marB="9144">
                    <a:solidFill>
                      <a:srgbClr val="FFFFFF"/>
                    </a:solidFill>
                  </a:tcPr>
                </a:tc>
                <a:tc>
                  <a:txBody>
                    <a:bodyPr wrap="square"/>
                    <a:lstStyle/>
                    <a:p>
                      <a:r>
                        <a:rPr b="1" sz="600">
                          <a:solidFill>
                            <a:srgbClr val="C25600"/>
                          </a:solidFill>
                          <a:latin typeface="Calibri"/>
                        </a:rPr>
                        <a:t>What a key changes</a:t>
                      </a:r>
                    </a:p>
                  </a:txBody>
                  <a:tcPr marT="9144" marB="9144">
                    <a:solidFill>
                      <a:srgbClr val="FFFFFF"/>
                    </a:solidFill>
                  </a:tcPr>
                </a:tc>
                <a:tc>
                  <a:txBody>
                    <a:bodyPr wrap="square"/>
                    <a:lstStyle/>
                    <a:p>
                      <a:r>
                        <a:rPr b="1" sz="600">
                          <a:solidFill>
                            <a:srgbClr val="C25600"/>
                          </a:solidFill>
                          <a:latin typeface="Calibri"/>
                        </a:rPr>
                        <a:t>Announced to machines: developer page / data.json / api-catalog / data page link</a:t>
                      </a:r>
                    </a:p>
                  </a:txBody>
                  <a:tcPr marT="9144" marB="9144">
                    <a:solidFill>
                      <a:srgbClr val="FFFFFF"/>
                    </a:solidFill>
                  </a:tcPr>
                </a:tc>
              </a:tr>
              <a:tr h="109728">
                <a:tc>
                  <a:txBody>
                    <a:bodyPr wrap="square"/>
                    <a:lstStyle/>
                    <a:p>
                      <a:r>
                        <a:rPr b="0" sz="500">
                          <a:solidFill>
                            <a:srgbClr val="000000"/>
                          </a:solidFill>
                          <a:latin typeface="Calibri"/>
                        </a:rPr>
                        <a:t>BEA</a:t>
                      </a:r>
                    </a:p>
                  </a:txBody>
                  <a:tcPr marT="9144" marB="9144">
                    <a:solidFill>
                      <a:srgbClr val="FFFFFF"/>
                    </a:solidFill>
                  </a:tcPr>
                </a:tc>
                <a:tc>
                  <a:txBody>
                    <a:bodyPr wrap="square"/>
                    <a:lstStyle/>
                    <a:p>
                      <a:r>
                        <a:rPr b="0" sz="500">
                          <a:solidFill>
                            <a:srgbClr val="000000"/>
                          </a:solidFill>
                          <a:latin typeface="Calibri"/>
                        </a:rPr>
                        <a:t>BEA Data Retrieval API, single base https://apps.bea.gov/api/data</a:t>
                      </a:r>
                    </a:p>
                  </a:txBody>
                  <a:tcPr marT="9144" marB="9144">
                    <a:solidFill>
                      <a:srgbClr val="FFFFFF"/>
                    </a:solidFill>
                  </a:tcPr>
                </a:tc>
                <a:tc>
                  <a:txBody>
                    <a:bodyPr wrap="square"/>
                    <a:lstStyle/>
                    <a:p>
                      <a:r>
                        <a:rPr b="0" sz="500">
                          <a:solidFill>
                            <a:srgbClr val="000000"/>
                          </a:solidFill>
                          <a:latin typeface="Calibri"/>
                        </a:rPr>
                        <a:t>Key (36-character UserID) required in the query string on every request; limits per user of 100 requests, 100 MB and 30 errors per minute, HTTP 429 when exceeded.</a:t>
                      </a:r>
                    </a:p>
                  </a:txBody>
                  <a:tcPr marT="9144" marB="9144">
                    <a:solidFill>
                      <a:srgbClr val="FFFFFF"/>
                    </a:solidFill>
                  </a:tcPr>
                </a:tc>
                <a:tc>
                  <a:txBody>
                    <a:bodyPr wrap="square"/>
                    <a:lstStyle/>
                    <a:p>
                      <a:r>
                        <a:rPr b="0" sz="500">
                          <a:solidFill>
                            <a:srgbClr val="000000"/>
                          </a:solidFill>
                          <a:latin typeface="Calibri"/>
                        </a:rPr>
                        <a:t>Name or organization name, a valid non-disposable email, and agreeing to terms of service; a person must click the emailed link before the UserID is activated.</a:t>
                      </a:r>
                    </a:p>
                  </a:txBody>
                  <a:tcPr marT="9144" marB="9144">
                    <a:solidFill>
                      <a:srgbClr val="FFFFFF"/>
                    </a:solidFill>
                  </a:tcPr>
                </a:tc>
                <a:tc>
                  <a:txBody>
                    <a:bodyPr wrap="square"/>
                    <a:lstStyle/>
                    <a:p>
                      <a:r>
                        <a:rPr b="0" sz="500">
                          <a:solidFill>
                            <a:srgbClr val="000000"/>
                          </a:solidFill>
                          <a:latin typeface="Calibri"/>
                        </a:rPr>
                        <a:t>There is no keyless tier; the key is the only way to use the API at all.</a:t>
                      </a:r>
                    </a:p>
                  </a:txBody>
                  <a:tcPr marT="9144" marB="9144">
                    <a:solidFill>
                      <a:srgbClr val="FFFFFF"/>
                    </a:solidFill>
                  </a:tcPr>
                </a:tc>
                <a:tc>
                  <a:txBody>
                    <a:bodyPr wrap="square"/>
                    <a:lstStyle/>
                    <a:p>
                      <a:r>
                        <a:rPr b="0" sz="500">
                          <a:solidFill>
                            <a:srgbClr val="000000"/>
                          </a:solidFill>
                          <a:latin typeface="Calibri"/>
                        </a:rPr>
                        <a:t>yes / yes / no / yes</a:t>
                      </a:r>
                    </a:p>
                  </a:txBody>
                  <a:tcPr marT="9144" marB="9144">
                    <a:solidFill>
                      <a:srgbClr val="FFFFFF"/>
                    </a:solidFill>
                  </a:tcPr>
                </a:tc>
              </a:tr>
              <a:tr h="109728">
                <a:tc>
                  <a:txBody>
                    <a:bodyPr wrap="square"/>
                    <a:lstStyle/>
                    <a:p>
                      <a:r>
                        <a:rPr b="0" sz="500">
                          <a:solidFill>
                            <a:srgbClr val="000000"/>
                          </a:solidFill>
                          <a:latin typeface="Calibri"/>
                        </a:rPr>
                        <a:t>BJS</a:t>
                      </a:r>
                    </a:p>
                  </a:txBody>
                  <a:tcPr marT="9144" marB="9144">
                    <a:solidFill>
                      <a:srgbClr val="FFFFFF"/>
                    </a:solidFill>
                  </a:tcPr>
                </a:tc>
                <a:tc>
                  <a:txBody>
                    <a:bodyPr wrap="square"/>
                    <a:lstStyle/>
                    <a:p>
                      <a:r>
                        <a:rPr b="0" sz="500">
                          <a:solidFill>
                            <a:srgbClr val="000000"/>
                          </a:solidFill>
                          <a:latin typeface="Calibri"/>
                        </a:rPr>
                        <a:t>NCVS API (also a NIBRS National Estimates API), base https://api.ojp.gov/bjsdataset/v1/; formerly https://data.ojp.usdoj.gov/resource/ on Socrata SODA</a:t>
                      </a:r>
                    </a:p>
                  </a:txBody>
                  <a:tcPr marT="9144" marB="9144">
                    <a:solidFill>
                      <a:srgbClr val="FFFFFF"/>
                    </a:solidFill>
                  </a:tcPr>
                </a:tc>
                <a:tc>
                  <a:txBody>
                    <a:bodyPr wrap="square"/>
                    <a:lstStyle/>
                    <a:p>
                      <a:r>
                        <a:rPr b="0" sz="500">
                          <a:solidFill>
                            <a:srgbClr val="000000"/>
                          </a:solidFill>
                          <a:latin typeface="Calibri"/>
                        </a:rPr>
                        <a:t>no key stated: a query is endpoint plus format plus parameters; default cap of 1,000 records, raised with a Limit parameter</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BLS</a:t>
                      </a:r>
                    </a:p>
                  </a:txBody>
                  <a:tcPr marT="9144" marB="9144">
                    <a:solidFill>
                      <a:srgbClr val="FFFFFF"/>
                    </a:solidFill>
                  </a:tcPr>
                </a:tc>
                <a:tc>
                  <a:txBody>
                    <a:bodyPr wrap="square"/>
                    <a:lstStyle/>
                    <a:p>
                      <a:r>
                        <a:rPr b="0" sz="500">
                          <a:solidFill>
                            <a:srgbClr val="000000"/>
                          </a:solidFill>
                          <a:latin typeface="Calibri"/>
                        </a:rPr>
                        <a:t>BLS Public Data API, versions 1.0 and 2.0; v2 base https://api.bls.gov/publicAPI/v2/ (timeseries/data/, timeseries/popular, surveys)</a:t>
                      </a:r>
                    </a:p>
                  </a:txBody>
                  <a:tcPr marT="9144" marB="9144">
                    <a:solidFill>
                      <a:srgbClr val="FFFFFF"/>
                    </a:solidFill>
                  </a:tcPr>
                </a:tc>
                <a:tc>
                  <a:txBody>
                    <a:bodyPr wrap="square"/>
                    <a:lstStyle/>
                    <a:p>
                      <a:r>
                        <a:rPr b="0" sz="500">
                          <a:solidFill>
                            <a:srgbClr val="000000"/>
                          </a:solidFill>
                          <a:latin typeface="Calibri"/>
                        </a:rPr>
                        <a:t>Version 1.0: no key, 25 queries daily, 25 series and 10 years per query. Version 2.0: registration key required in requests, 500 queries daily, 50 series, 20 years.</a:t>
                      </a:r>
                    </a:p>
                  </a:txBody>
                  <a:tcPr marT="9144" marB="9144">
                    <a:solidFill>
                      <a:srgbClr val="FFFFFF"/>
                    </a:solidFill>
                  </a:tcPr>
                </a:tc>
                <a:tc>
                  <a:txBody>
                    <a:bodyPr wrap="square"/>
                    <a:lstStyle/>
                    <a:p>
                      <a:r>
                        <a:rPr b="0" sz="500">
                          <a:solidFill>
                            <a:srgbClr val="000000"/>
                          </a:solidFill>
                          <a:latin typeface="Calibri"/>
                        </a:rPr>
                        <a:t>Registration form asks organization name and email, a CAPTCHA, and agreeing to Terms of Service; the key arrives by email, so a person must open that email. No activation link stated.</a:t>
                      </a:r>
                    </a:p>
                  </a:txBody>
                  <a:tcPr marT="9144" marB="9144">
                    <a:solidFill>
                      <a:srgbClr val="FFFFFF"/>
                    </a:solidFill>
                  </a:tcPr>
                </a:tc>
                <a:tc>
                  <a:txBody>
                    <a:bodyPr wrap="square"/>
                    <a:lstStyle/>
                    <a:p>
                      <a:r>
                        <a:rPr b="0" sz="500">
                          <a:solidFill>
                            <a:srgbClr val="000000"/>
                          </a:solidFill>
                          <a:latin typeface="Calibri"/>
                        </a:rPr>
                        <a:t>Key unlocks Version 2.0: higher query, series and year limits, plus net and percent changes, calculations and annual averages.</a:t>
                      </a:r>
                    </a:p>
                  </a:txBody>
                  <a:tcPr marT="9144" marB="9144">
                    <a:solidFill>
                      <a:srgbClr val="FFFFFF"/>
                    </a:solidFill>
                  </a:tcPr>
                </a:tc>
                <a:tc>
                  <a:txBody>
                    <a:bodyPr wrap="square"/>
                    <a:lstStyle/>
                    <a:p>
                      <a:r>
                        <a:rPr b="0" sz="500">
                          <a:solidFill>
                            <a:srgbClr val="000000"/>
                          </a:solidFill>
                          <a:latin typeface="Calibri"/>
                        </a:rPr>
                        <a:t>yes / no / no / yes</a:t>
                      </a:r>
                    </a:p>
                  </a:txBody>
                  <a:tcPr marT="9144" marB="9144">
                    <a:solidFill>
                      <a:srgbClr val="FFFFFF"/>
                    </a:solidFill>
                  </a:tcPr>
                </a:tc>
              </a:tr>
              <a:tr h="109728">
                <a:tc>
                  <a:txBody>
                    <a:bodyPr wrap="square"/>
                    <a:lstStyle/>
                    <a:p>
                      <a:r>
                        <a:rPr b="0" sz="500">
                          <a:solidFill>
                            <a:srgbClr val="000000"/>
                          </a:solidFill>
                          <a:latin typeface="Calibri"/>
                        </a:rPr>
                        <a:t>BTS</a:t>
                      </a:r>
                    </a:p>
                  </a:txBody>
                  <a:tcPr marT="9144" marB="9144">
                    <a:solidFill>
                      <a:srgbClr val="FFFFFF"/>
                    </a:solidFill>
                  </a:tcPr>
                </a:tc>
                <a:tc>
                  <a:txBody>
                    <a:bodyPr wrap="square"/>
                    <a:lstStyle/>
                    <a:p>
                      <a:r>
                        <a:rPr b="0" sz="500">
                          <a:solidFill>
                            <a:srgbClr val="000000"/>
                          </a:solidFill>
                          <a:latin typeface="Calibri"/>
                        </a:rPr>
                        <a:t>not determined: www.bts.gov refused every fetch (HTTP 403); its data portal data.bts.gov answered a request without a key, but no BTS page read states API terms</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determined / not determined / not determined / not determined</a:t>
                      </a:r>
                    </a:p>
                  </a:txBody>
                  <a:tcPr marT="9144" marB="9144">
                    <a:solidFill>
                      <a:srgbClr val="FFFFFF"/>
                    </a:solidFill>
                  </a:tcPr>
                </a:tc>
              </a:tr>
              <a:tr h="109728">
                <a:tc>
                  <a:txBody>
                    <a:bodyPr wrap="square"/>
                    <a:lstStyle/>
                    <a:p>
                      <a:r>
                        <a:rPr b="0" sz="500">
                          <a:solidFill>
                            <a:srgbClr val="000000"/>
                          </a:solidFill>
                          <a:latin typeface="Calibri"/>
                        </a:rPr>
                        <a:t>CENSUS</a:t>
                      </a:r>
                    </a:p>
                  </a:txBody>
                  <a:tcPr marT="9144" marB="9144">
                    <a:solidFill>
                      <a:srgbClr val="FFFFFF"/>
                    </a:solidFill>
                  </a:tcPr>
                </a:tc>
                <a:tc>
                  <a:txBody>
                    <a:bodyPr wrap="square"/>
                    <a:lstStyle/>
                    <a:p>
                      <a:r>
                        <a:rPr b="0" sz="500">
                          <a:solidFill>
                            <a:srgbClr val="000000"/>
                          </a:solidFill>
                          <a:latin typeface="Calibri"/>
                        </a:rPr>
                        <a:t>Census Data API, host api.census.gov/data (dataset paths appended, e.g. api.census.gov/data/2019/pep/charagegroups)</a:t>
                      </a:r>
                    </a:p>
                  </a:txBody>
                  <a:tcPr marT="9144" marB="9144">
                    <a:solidFill>
                      <a:srgbClr val="FFFFFF"/>
                    </a:solidFill>
                  </a:tcPr>
                </a:tc>
                <a:tc>
                  <a:txBody>
                    <a:bodyPr wrap="square"/>
                    <a:lstStyle/>
                    <a:p>
                      <a:r>
                        <a:rPr b="0" sz="500">
                          <a:solidFill>
                            <a:srgbClr val="000000"/>
                          </a:solidFill>
                          <a:latin typeface="Calibri"/>
                        </a:rPr>
                        <a:t>Key required on all data queries, passed in the URL as &amp;key=; up to 50 variables per query.</a:t>
                      </a:r>
                    </a:p>
                  </a:txBody>
                  <a:tcPr marT="9144" marB="9144">
                    <a:solidFill>
                      <a:srgbClr val="FFFFFF"/>
                    </a:solidFill>
                  </a:tcPr>
                </a:tc>
                <a:tc>
                  <a:txBody>
                    <a:bodyPr wrap="square"/>
                    <a:lstStyle/>
                    <a:p>
                      <a:r>
                        <a:rPr b="0" sz="500">
                          <a:solidFill>
                            <a:srgbClr val="000000"/>
                          </a:solidFill>
                          <a:latin typeface="Calibri"/>
                        </a:rPr>
                        <a:t>Free pop-up form; email must end .com, .net, .org, .gov or .edu; agree to terms; a person must click the emailed link to register (activate) the key. Other form fields not stated.</a:t>
                      </a:r>
                    </a:p>
                  </a:txBody>
                  <a:tcPr marT="9144" marB="9144">
                    <a:solidFill>
                      <a:srgbClr val="FFFFFF"/>
                    </a:solidFill>
                  </a:tcPr>
                </a:tc>
                <a:tc>
                  <a:txBody>
                    <a:bodyPr wrap="square"/>
                    <a:lstStyle/>
                    <a:p>
                      <a:r>
                        <a:rPr b="0" sz="500">
                          <a:solidFill>
                            <a:srgbClr val="000000"/>
                          </a:solidFill>
                          <a:latin typeface="Calibri"/>
                        </a:rPr>
                        <a:t>No keyless tier is stated; the key is required for every data query.</a:t>
                      </a:r>
                    </a:p>
                  </a:txBody>
                  <a:tcPr marT="9144" marB="9144">
                    <a:solidFill>
                      <a:srgbClr val="FFFFFF"/>
                    </a:solidFill>
                  </a:tcPr>
                </a:tc>
                <a:tc>
                  <a:txBody>
                    <a:bodyPr wrap="square"/>
                    <a:lstStyle/>
                    <a:p>
                      <a:r>
                        <a:rPr b="0" sz="500">
                          <a:solidFill>
                            <a:srgbClr val="000000"/>
                          </a:solidFill>
                          <a:latin typeface="Calibri"/>
                        </a:rPr>
                        <a:t>yes / yes / no / yes</a:t>
                      </a:r>
                    </a:p>
                  </a:txBody>
                  <a:tcPr marT="9144" marB="9144">
                    <a:solidFill>
                      <a:srgbClr val="FFFFFF"/>
                    </a:solidFill>
                  </a:tcPr>
                </a:tc>
              </a:tr>
              <a:tr h="109728">
                <a:tc>
                  <a:txBody>
                    <a:bodyPr wrap="square"/>
                    <a:lstStyle/>
                    <a:p>
                      <a:r>
                        <a:rPr b="0" sz="500">
                          <a:solidFill>
                            <a:srgbClr val="000000"/>
                          </a:solidFill>
                          <a:latin typeface="Calibri"/>
                        </a:rPr>
                        <a:t>DRSMSU</a:t>
                      </a:r>
                    </a:p>
                  </a:txBody>
                  <a:tcPr marT="9144" marB="9144">
                    <a:solidFill>
                      <a:srgbClr val="FFFFFF"/>
                    </a:solidFill>
                  </a:tcPr>
                </a:tc>
                <a:tc>
                  <a:txBody>
                    <a:bodyPr wrap="square"/>
                    <a:lstStyle/>
                    <a:p>
                      <a:r>
                        <a:rPr b="0" sz="500">
                          <a:solidFill>
                            <a:srgbClr val="000000"/>
                          </a:solidFill>
                          <a:latin typeface="Calibri"/>
                        </a:rPr>
                        <a:t>no Board API found; for Data Download Program series the Board points to the St. Louis Fed's FRED API (api.stlouisfed.org). SCF is not a DDP release; offered as file downloads</a:t>
                      </a:r>
                    </a:p>
                  </a:txBody>
                  <a:tcPr marT="9144" marB="9144">
                    <a:solidFill>
                      <a:srgbClr val="FFFFFF"/>
                    </a:solidFill>
                  </a:tcPr>
                </a:tc>
                <a:tc>
                  <a:txBody>
                    <a:bodyPr wrap="square"/>
                    <a:lstStyle/>
                    <a:p>
                      <a:r>
                        <a:rPr b="0" sz="500">
                          <a:solidFill>
                            <a:srgbClr val="000000"/>
                          </a:solidFill>
                          <a:latin typeface="Calibri"/>
                        </a:rPr>
                        <a:t>FRED API: key required, sent in the address (api_key=) or, for Version 2, in an HTTP header</a:t>
                      </a:r>
                    </a:p>
                  </a:txBody>
                  <a:tcPr marT="9144" marB="9144">
                    <a:solidFill>
                      <a:srgbClr val="FFFFFF"/>
                    </a:solidFill>
                  </a:tcPr>
                </a:tc>
                <a:tc>
                  <a:txBody>
                    <a:bodyPr wrap="square"/>
                    <a:lstStyle/>
                    <a:p>
                      <a:r>
                        <a:rPr b="0" sz="500">
                          <a:solidFill>
                            <a:srgbClr val="000000"/>
                          </a:solidFill>
                          <a:latin typeface="Calibri"/>
                        </a:rPr>
                        <a:t>register a FRED user account with the St. Louis Fed; what registration asks for and any email step are not stated on federalreserve.gov</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 / no / no</a:t>
                      </a:r>
                    </a:p>
                  </a:txBody>
                  <a:tcPr marT="9144" marB="9144">
                    <a:solidFill>
                      <a:srgbClr val="FFFFFF"/>
                    </a:solidFill>
                  </a:tcPr>
                </a:tc>
              </a:tr>
              <a:tr h="109728">
                <a:tc>
                  <a:txBody>
                    <a:bodyPr wrap="square"/>
                    <a:lstStyle/>
                    <a:p>
                      <a:r>
                        <a:rPr b="0" sz="500">
                          <a:solidFill>
                            <a:srgbClr val="000000"/>
                          </a:solidFill>
                          <a:latin typeface="Calibri"/>
                        </a:rPr>
                        <a:t>EIA</a:t>
                      </a:r>
                    </a:p>
                  </a:txBody>
                  <a:tcPr marT="9144" marB="9144">
                    <a:solidFill>
                      <a:srgbClr val="FFFFFF"/>
                    </a:solidFill>
                  </a:tcPr>
                </a:tc>
                <a:tc>
                  <a:txBody>
                    <a:bodyPr wrap="square"/>
                    <a:lstStyle/>
                    <a:p>
                      <a:r>
                        <a:rPr b="0" sz="500">
                          <a:solidFill>
                            <a:srgbClr val="000000"/>
                          </a:solidFill>
                          <a:latin typeface="Calibri"/>
                        </a:rPr>
                        <a:t>EIA Open Data API (APIv2), base address https://api.eia.gov/v2/</a:t>
                      </a:r>
                    </a:p>
                  </a:txBody>
                  <a:tcPr marT="9144" marB="9144">
                    <a:solidFill>
                      <a:srgbClr val="FFFFFF"/>
                    </a:solidFill>
                  </a:tcPr>
                </a:tc>
                <a:tc>
                  <a:txBody>
                    <a:bodyPr wrap="square"/>
                    <a:lstStyle/>
                    <a:p>
                      <a:r>
                        <a:rPr b="0" sz="500">
                          <a:solidFill>
                            <a:srgbClr val="000000"/>
                          </a:solidFill>
                          <a:latin typeface="Calibri"/>
                        </a:rPr>
                        <a:t>Key required on every call, passed in the URL as api_key; not read from HTTP headers. Requests must be throttled; per-second and per-hour numbers not stated</a:t>
                      </a:r>
                    </a:p>
                  </a:txBody>
                  <a:tcPr marT="9144" marB="9144">
                    <a:solidFill>
                      <a:srgbClr val="FFFFFF"/>
                    </a:solidFill>
                  </a:tcPr>
                </a:tc>
                <a:tc>
                  <a:txBody>
                    <a:bodyPr wrap="square"/>
                    <a:lstStyle/>
                    <a:p>
                      <a:r>
                        <a:rPr b="0" sz="500">
                          <a:solidFill>
                            <a:srgbClr val="000000"/>
                          </a:solidFill>
                          <a:latin typeface="Calibri"/>
                        </a:rPr>
                        <a:t>Form asks first name, last name, email, user category, reason for use, and agreement to terms; key is sent by email, so a person must open that email. No activation link stated</a:t>
                      </a:r>
                    </a:p>
                  </a:txBody>
                  <a:tcPr marT="9144" marB="9144">
                    <a:solidFill>
                      <a:srgbClr val="FFFFFF"/>
                    </a:solidFill>
                  </a:tcPr>
                </a:tc>
                <a:tc>
                  <a:txBody>
                    <a:bodyPr wrap="square"/>
                    <a:lstStyle/>
                    <a:p>
                      <a:r>
                        <a:rPr b="0" sz="500">
                          <a:solidFill>
                            <a:srgbClr val="000000"/>
                          </a:solidFill>
                          <a:latin typeface="Calibri"/>
                        </a:rPr>
                        <a:t>No key, no API access; the key is the unit EIA throttles and can suspend. Bulk download needs no key. No tiered limits stated</a:t>
                      </a:r>
                    </a:p>
                  </a:txBody>
                  <a:tcPr marT="9144" marB="9144">
                    <a:solidFill>
                      <a:srgbClr val="FFFFFF"/>
                    </a:solidFill>
                  </a:tcPr>
                </a:tc>
                <a:tc>
                  <a:txBody>
                    <a:bodyPr wrap="square"/>
                    <a:lstStyle/>
                    <a:p>
                      <a:r>
                        <a:rPr b="0" sz="500">
                          <a:solidFill>
                            <a:srgbClr val="000000"/>
                          </a:solidFill>
                          <a:latin typeface="Calibri"/>
                        </a:rPr>
                        <a:t>yes / yes / no / yes</a:t>
                      </a:r>
                    </a:p>
                  </a:txBody>
                  <a:tcPr marT="9144" marB="9144">
                    <a:solidFill>
                      <a:srgbClr val="FFFFFF"/>
                    </a:solidFill>
                  </a:tcPr>
                </a:tc>
              </a:tr>
              <a:tr h="109728">
                <a:tc>
                  <a:txBody>
                    <a:bodyPr wrap="square"/>
                    <a:lstStyle/>
                    <a:p>
                      <a:r>
                        <a:rPr b="0" sz="500">
                          <a:solidFill>
                            <a:srgbClr val="000000"/>
                          </a:solidFill>
                          <a:latin typeface="Calibri"/>
                        </a:rPr>
                        <a:t>ERS</a:t>
                      </a:r>
                    </a:p>
                  </a:txBody>
                  <a:tcPr marT="9144" marB="9144">
                    <a:solidFill>
                      <a:srgbClr val="FFFFFF"/>
                    </a:solidFill>
                  </a:tcPr>
                </a:tc>
                <a:tc>
                  <a:txBody>
                    <a:bodyPr wrap="square"/>
                    <a:lstStyle/>
                    <a:p>
                      <a:r>
                        <a:rPr b="0" sz="500">
                          <a:solidFill>
                            <a:srgbClr val="000000"/>
                          </a:solidFill>
                          <a:latin typeface="Calibri"/>
                        </a:rPr>
                        <a:t>ERS Data APIs (ARMS Data API), REST base https://api.ers.usda.gov/data/ with GraphQL at https://api.ers.usda.gov/data/arms/graphql</a:t>
                      </a:r>
                    </a:p>
                  </a:txBody>
                  <a:tcPr marT="9144" marB="9144">
                    <a:solidFill>
                      <a:srgbClr val="FFFFFF"/>
                    </a:solidFill>
                  </a:tcPr>
                </a:tc>
                <a:tc>
                  <a:txBody>
                    <a:bodyPr wrap="square"/>
                    <a:lstStyle/>
                    <a:p>
                      <a:r>
                        <a:rPr b="0" sz="500">
                          <a:solidFill>
                            <a:srgbClr val="000000"/>
                          </a:solidFill>
                          <a:latin typeface="Calibri"/>
                        </a:rPr>
                        <a:t>Key required, passed in the URL as api_key; no limit stated by ERS</a:t>
                      </a:r>
                    </a:p>
                  </a:txBody>
                  <a:tcPr marT="9144" marB="9144">
                    <a:solidFill>
                      <a:srgbClr val="FFFFFF"/>
                    </a:solidFill>
                  </a:tcPr>
                </a:tc>
                <a:tc>
                  <a:txBody>
                    <a:bodyPr wrap="square"/>
                    <a:lstStyle/>
                    <a:p>
                      <a:r>
                        <a:rPr b="0" sz="500">
                          <a:solidFill>
                            <a:srgbClr val="000000"/>
                          </a:solidFill>
                          <a:latin typeface="Calibri"/>
                        </a:rPr>
                        <a:t>api.data.gov signup form asks name and a valid email; key is sent automatically to that email, so a person must open it. No activation link stated (key issued through api.data.gov)</a:t>
                      </a:r>
                    </a:p>
                  </a:txBody>
                  <a:tcPr marT="9144" marB="9144">
                    <a:solidFill>
                      <a:srgbClr val="FFFFFF"/>
                    </a:solidFill>
                  </a:tcPr>
                </a:tc>
                <a:tc>
                  <a:txBody>
                    <a:bodyPr wrap="square"/>
                    <a:lstStyle/>
                    <a:p>
                      <a:r>
                        <a:rPr b="0" sz="500">
                          <a:solidFill>
                            <a:srgbClr val="000000"/>
                          </a:solidFill>
                          <a:latin typeface="Calibri"/>
                        </a:rPr>
                        <a:t>Key is required for access, lets ERS notify users of API changes, and works across Open Government APIs on the shared service. No limits stated</a:t>
                      </a:r>
                    </a:p>
                  </a:txBody>
                  <a:tcPr marT="9144" marB="9144">
                    <a:solidFill>
                      <a:srgbClr val="FFFFFF"/>
                    </a:solidFill>
                  </a:tcPr>
                </a:tc>
                <a:tc>
                  <a:txBody>
                    <a:bodyPr wrap="square"/>
                    <a:lstStyle/>
                    <a:p>
                      <a:r>
                        <a:rPr b="0" sz="500">
                          <a:solidFill>
                            <a:srgbClr val="000000"/>
                          </a:solidFill>
                          <a:latin typeface="Calibri"/>
                        </a:rPr>
                        <a:t>yes / not determined / no / no</a:t>
                      </a:r>
                    </a:p>
                  </a:txBody>
                  <a:tcPr marT="9144" marB="9144">
                    <a:solidFill>
                      <a:srgbClr val="FFFFFF"/>
                    </a:solidFill>
                  </a:tcPr>
                </a:tc>
              </a:tr>
              <a:tr h="109728">
                <a:tc>
                  <a:txBody>
                    <a:bodyPr wrap="square"/>
                    <a:lstStyle/>
                    <a:p>
                      <a:r>
                        <a:rPr b="0" sz="500">
                          <a:solidFill>
                            <a:srgbClr val="000000"/>
                          </a:solidFill>
                          <a:latin typeface="Calibri"/>
                        </a:rPr>
                        <a:t>NAHMSAPHIS</a:t>
                      </a:r>
                    </a:p>
                  </a:txBody>
                  <a:tcPr marT="9144" marB="9144">
                    <a:solidFill>
                      <a:srgbClr val="FFFFFF"/>
                    </a:solidFill>
                  </a:tcPr>
                </a:tc>
                <a:tc>
                  <a:txBody>
                    <a:bodyPr wrap="square"/>
                    <a:lstStyle/>
                    <a:p>
                      <a:r>
                        <a:rPr b="0" sz="500">
                          <a:solidFill>
                            <a:srgbClr val="000000"/>
                          </a:solidFill>
                          <a:latin typeface="Calibri"/>
                        </a:rPr>
                        <a:t>no public API found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NASS</a:t>
                      </a:r>
                    </a:p>
                  </a:txBody>
                  <a:tcPr marT="9144" marB="9144">
                    <a:solidFill>
                      <a:srgbClr val="FFFFFF"/>
                    </a:solidFill>
                  </a:tcPr>
                </a:tc>
                <a:tc>
                  <a:txBody>
                    <a:bodyPr wrap="square"/>
                    <a:lstStyle/>
                    <a:p>
                      <a:r>
                        <a:rPr b="0" sz="500">
                          <a:solidFill>
                            <a:srgbClr val="000000"/>
                          </a:solidFill>
                          <a:latin typeface="Calibri"/>
                        </a:rPr>
                        <a:t>Quick Stats API, base address https://quickstats.nass.usda.gov/api/ (resources api_GET, get_param_values, get_counts)</a:t>
                      </a:r>
                    </a:p>
                  </a:txBody>
                  <a:tcPr marT="9144" marB="9144">
                    <a:solidFill>
                      <a:srgbClr val="FFFFFF"/>
                    </a:solidFill>
                  </a:tcPr>
                </a:tc>
                <a:tc>
                  <a:txBody>
                    <a:bodyPr wrap="square"/>
                    <a:lstStyle/>
                    <a:p>
                      <a:r>
                        <a:rPr b="0" sz="500">
                          <a:solidFill>
                            <a:srgbClr val="000000"/>
                          </a:solidFill>
                          <a:latin typeface="Calibri"/>
                        </a:rPr>
                        <a:t>Key required, passed in the URL as key=. Each request returns at most 50,000 records; no rate limit stated</a:t>
                      </a:r>
                    </a:p>
                  </a:txBody>
                  <a:tcPr marT="9144" marB="9144">
                    <a:solidFill>
                      <a:srgbClr val="FFFFFF"/>
                    </a:solidFill>
                  </a:tcPr>
                </a:tc>
                <a:tc>
                  <a:txBody>
                    <a:bodyPr wrap="square"/>
                    <a:lstStyle/>
                    <a:p>
                      <a:r>
                        <a:rPr b="0" sz="500">
                          <a:solidFill>
                            <a:srgbClr val="000000"/>
                          </a:solidFill>
                          <a:latin typeface="Calibri"/>
                        </a:rPr>
                        <a:t>Form asks email (required) and name/organization (optional), plus agreeing to the Terms of Service; key arrives by email, no activation link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yes / not determined / no / yes</a:t>
                      </a:r>
                    </a:p>
                  </a:txBody>
                  <a:tcPr marT="9144" marB="9144">
                    <a:solidFill>
                      <a:srgbClr val="FFFFFF"/>
                    </a:solidFill>
                  </a:tcPr>
                </a:tc>
              </a:tr>
              <a:tr h="109728">
                <a:tc>
                  <a:txBody>
                    <a:bodyPr wrap="square"/>
                    <a:lstStyle/>
                    <a:p>
                      <a:r>
                        <a:rPr b="0" sz="500">
                          <a:solidFill>
                            <a:srgbClr val="000000"/>
                          </a:solidFill>
                          <a:latin typeface="Calibri"/>
                        </a:rPr>
                        <a:t>NCES</a:t>
                      </a:r>
                    </a:p>
                  </a:txBody>
                  <a:tcPr marT="9144" marB="9144">
                    <a:solidFill>
                      <a:srgbClr val="FFFFFF"/>
                    </a:solidFill>
                  </a:tcPr>
                </a:tc>
                <a:tc>
                  <a:txBody>
                    <a:bodyPr wrap="square"/>
                    <a:lstStyle/>
                    <a:p>
                      <a:r>
                        <a:rPr b="0" sz="500">
                          <a:solidFill>
                            <a:srgbClr val="000000"/>
                          </a:solidFill>
                          <a:latin typeface="Calibri"/>
                        </a:rPr>
                        <a:t>No NCES data API documented on NCES pages; EDGE geodata are offered as GIS web services via an off-site ArcGIS Open Data site. ED's College Scorecard API (https://api.data.gov/ed/collegescorecard/v1/schools) is departmental, not NCES</a:t>
                      </a:r>
                    </a:p>
                  </a:txBody>
                  <a:tcPr marT="9144" marB="9144">
                    <a:solidFill>
                      <a:srgbClr val="FFFFFF"/>
                    </a:solidFill>
                  </a:tcPr>
                </a:tc>
                <a:tc>
                  <a:txBody>
                    <a:bodyPr wrap="square"/>
                    <a:lstStyle/>
                    <a:p>
                      <a:r>
                        <a:rPr b="0" sz="500">
                          <a:solidFill>
                            <a:srgbClr val="000000"/>
                          </a:solidFill>
                          <a:latin typeface="Calibri"/>
                        </a:rPr>
                        <a:t>NCES EDGE services: not stated. College Scorecard (ED, not NCES): key required on every request, passed in the address as api_key; default 1,000 requests per IP address per hour</a:t>
                      </a:r>
                    </a:p>
                  </a:txBody>
                  <a:tcPr marT="9144" marB="9144">
                    <a:solidFill>
                      <a:srgbClr val="FFFFFF"/>
                    </a:solidFill>
                  </a:tcPr>
                </a:tc>
                <a:tc>
                  <a:txBody>
                    <a:bodyPr wrap="square"/>
                    <a:lstStyle/>
                    <a:p>
                      <a:r>
                        <a:rPr b="0" sz="500">
                          <a:solidFill>
                            <a:srgbClr val="000000"/>
                          </a:solidFill>
                          <a:latin typeface="Calibri"/>
                        </a:rPr>
                        <a:t>College Scorecard: security challenge, then a registration form (fields not stated); the key is emailed, so a person must open an email to receive it. NCES: not stated</a:t>
                      </a:r>
                    </a:p>
                  </a:txBody>
                  <a:tcPr marT="9144" marB="9144">
                    <a:solidFill>
                      <a:srgbClr val="FFFFFF"/>
                    </a:solidFill>
                  </a:tcPr>
                </a:tc>
                <a:tc>
                  <a:txBody>
                    <a:bodyPr wrap="square"/>
                    <a:lstStyle/>
                    <a:p>
                      <a:r>
                        <a:rPr b="0" sz="500">
                          <a:solidFill>
                            <a:srgbClr val="000000"/>
                          </a:solidFill>
                          <a:latin typeface="Calibri"/>
                        </a:rPr>
                        <a:t>not stated; College Scorecard has no keyless tier, the key is required for all requests</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NCHS</a:t>
                      </a:r>
                    </a:p>
                  </a:txBody>
                  <a:tcPr marT="9144" marB="9144">
                    <a:solidFill>
                      <a:srgbClr val="FFFFFF"/>
                    </a:solidFill>
                  </a:tcPr>
                </a:tc>
                <a:tc>
                  <a:txBody>
                    <a:bodyPr wrap="square"/>
                    <a:lstStyle/>
                    <a:p>
                      <a:r>
                        <a:rPr b="0" sz="500">
                          <a:solidFill>
                            <a:srgbClr val="000000"/>
                          </a:solidFill>
                          <a:latin typeface="Calibri"/>
                        </a:rPr>
                        <a:t>CDC WONDER API, POST to https://wonder.cdc.gov/controller/datarequest/[database ID]; national NVSS data only. data.cdc.gov (Socrata) is also used, but its API terms are only on non-.gov dev.socrata.com</a:t>
                      </a:r>
                    </a:p>
                  </a:txBody>
                  <a:tcPr marT="9144" marB="9144">
                    <a:solidFill>
                      <a:srgbClr val="FFFFFF"/>
                    </a:solidFill>
                  </a:tcPr>
                </a:tc>
                <a:tc>
                  <a:txBody>
                    <a:bodyPr wrap="square"/>
                    <a:lstStyle/>
                    <a:p>
                      <a:r>
                        <a:rPr b="0" sz="500">
                          <a:solidFill>
                            <a:srgbClr val="000000"/>
                          </a:solidFill>
                          <a:latin typeface="Calibri"/>
                        </a:rPr>
                        <a:t>WONDER: no key described; POST request with XML, and consent to data use restrictions required in each request. data.cdc.gov app token terms: not stated on .gov pages</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NCSES</a:t>
                      </a:r>
                    </a:p>
                  </a:txBody>
                  <a:tcPr marT="9144" marB="9144">
                    <a:solidFill>
                      <a:srgbClr val="FFFFFF"/>
                    </a:solidFill>
                  </a:tcPr>
                </a:tc>
                <a:tc>
                  <a:txBody>
                    <a:bodyPr wrap="square"/>
                    <a:lstStyle/>
                    <a:p>
                      <a:r>
                        <a:rPr b="0" sz="500">
                          <a:solidFill>
                            <a:srgbClr val="000000"/>
                          </a:solidFill>
                          <a:latin typeface="Calibri"/>
                        </a:rPr>
                        <a:t>no public API found; NCSES offers interactive web tools (Data Explorer, Chart Builder, Table Builder on ncsesdata.nsf.gov) and file downloads, none documented as an API</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 / no / no</a:t>
                      </a:r>
                    </a:p>
                  </a:txBody>
                  <a:tcPr marT="9144" marB="9144">
                    <a:solidFill>
                      <a:srgbClr val="FFFFFF"/>
                    </a:solidFill>
                  </a:tcPr>
                </a:tc>
              </a:tr>
              <a:tr h="109728">
                <a:tc>
                  <a:txBody>
                    <a:bodyPr wrap="square"/>
                    <a:lstStyle/>
                    <a:p>
                      <a:r>
                        <a:rPr b="0" sz="500">
                          <a:solidFill>
                            <a:srgbClr val="000000"/>
                          </a:solidFill>
                          <a:latin typeface="Calibri"/>
                        </a:rPr>
                        <a:t>ORES</a:t>
                      </a:r>
                    </a:p>
                  </a:txBody>
                  <a:tcPr marT="9144" marB="9144">
                    <a:solidFill>
                      <a:srgbClr val="FFFFFF"/>
                    </a:solidFill>
                  </a:tcPr>
                </a:tc>
                <a:tc>
                  <a:txBody>
                    <a:bodyPr wrap="square"/>
                    <a:lstStyle/>
                    <a:p>
                      <a:r>
                        <a:rPr b="0" sz="500">
                          <a:solidFill>
                            <a:srgbClr val="000000"/>
                          </a:solidFill>
                          <a:latin typeface="Calibri"/>
                        </a:rPr>
                        <a:t>not determined: www.ssa.gov returned HTTP 403 Forbidden to every WebFetch request, so no SSA page could be read</a:t>
                      </a:r>
                    </a:p>
                  </a:txBody>
                  <a:tcPr marT="9144" marB="9144">
                    <a:solidFill>
                      <a:srgbClr val="FFFFFF"/>
                    </a:solidFill>
                  </a:tcPr>
                </a:tc>
                <a:tc>
                  <a:txBody>
                    <a:bodyPr wrap="square"/>
                    <a:lstStyle/>
                    <a:p>
                      <a:r>
                        <a:rPr b="0" sz="500">
                          <a:solidFill>
                            <a:srgbClr val="000000"/>
                          </a:solidFill>
                          <a:latin typeface="Calibri"/>
                        </a:rPr>
                        <a:t>not determined: no SSA page could be fetched (HTTP 403)</a:t>
                      </a:r>
                    </a:p>
                  </a:txBody>
                  <a:tcPr marT="9144" marB="9144">
                    <a:solidFill>
                      <a:srgbClr val="FFFFFF"/>
                    </a:solidFill>
                  </a:tcPr>
                </a:tc>
                <a:tc>
                  <a:txBody>
                    <a:bodyPr wrap="square"/>
                    <a:lstStyle/>
                    <a:p>
                      <a:r>
                        <a:rPr b="0" sz="500">
                          <a:solidFill>
                            <a:srgbClr val="000000"/>
                          </a:solidFill>
                          <a:latin typeface="Calibri"/>
                        </a:rPr>
                        <a:t>not determined: no SSA page could be fetched (HTTP 403)</a:t>
                      </a:r>
                    </a:p>
                  </a:txBody>
                  <a:tcPr marT="9144" marB="9144">
                    <a:solidFill>
                      <a:srgbClr val="FFFFFF"/>
                    </a:solidFill>
                  </a:tcPr>
                </a:tc>
                <a:tc>
                  <a:txBody>
                    <a:bodyPr wrap="square"/>
                    <a:lstStyle/>
                    <a:p>
                      <a:r>
                        <a:rPr b="0" sz="500">
                          <a:solidFill>
                            <a:srgbClr val="000000"/>
                          </a:solidFill>
                          <a:latin typeface="Calibri"/>
                        </a:rPr>
                        <a:t>not determined: no SSA page could be fetched (HTTP 403)</a:t>
                      </a:r>
                    </a:p>
                  </a:txBody>
                  <a:tcPr marT="9144" marB="9144">
                    <a:solidFill>
                      <a:srgbClr val="FFFFFF"/>
                    </a:solidFill>
                  </a:tcPr>
                </a:tc>
                <a:tc>
                  <a:txBody>
                    <a:bodyPr wrap="square"/>
                    <a:lstStyle/>
                    <a:p>
                      <a:r>
                        <a:rPr b="0" sz="500">
                          <a:solidFill>
                            <a:srgbClr val="000000"/>
                          </a:solidFill>
                          <a:latin typeface="Calibri"/>
                        </a:rPr>
                        <a:t>not determined / not determined / not determined / not determined</a:t>
                      </a:r>
                    </a:p>
                  </a:txBody>
                  <a:tcPr marT="9144" marB="9144">
                    <a:solidFill>
                      <a:srgbClr val="FFFFFF"/>
                    </a:solidFill>
                  </a:tcPr>
                </a:tc>
              </a:tr>
              <a:tr h="109728">
                <a:tc>
                  <a:txBody>
                    <a:bodyPr wrap="square"/>
                    <a:lstStyle/>
                    <a:p>
                      <a:r>
                        <a:rPr b="0" sz="500">
                          <a:solidFill>
                            <a:srgbClr val="000000"/>
                          </a:solidFill>
                          <a:latin typeface="Calibri"/>
                        </a:rPr>
                        <a:t>SAMHSACBHS</a:t>
                      </a:r>
                    </a:p>
                  </a:txBody>
                  <a:tcPr marT="9144" marB="9144">
                    <a:solidFill>
                      <a:srgbClr val="FFFFFF"/>
                    </a:solidFill>
                  </a:tcPr>
                </a:tc>
                <a:tc>
                  <a:txBody>
                    <a:bodyPr wrap="square"/>
                    <a:lstStyle/>
                    <a:p>
                      <a:r>
                        <a:rPr b="0" sz="500">
                          <a:solidFill>
                            <a:srgbClr val="000000"/>
                          </a:solidFill>
                          <a:latin typeface="Calibri"/>
                        </a:rPr>
                        <a:t>FindTreatment.gov API (SAMHSA CBHSQ, BHSIS), JSON GET at https://{host}/locator/exportsAsJson/v2, e.g. https://findtreatment.gov/locator/exportsAsJson/; documented only in a PDF developer guide v1.12 (August 17, 2026). No NSDUH data API found</a:t>
                      </a:r>
                    </a:p>
                  </a:txBody>
                  <a:tcPr marT="9144" marB="9144">
                    <a:solidFill>
                      <a:srgbClr val="FFFFFF"/>
                    </a:solidFill>
                  </a:tcPr>
                </a:tc>
                <a:tc>
                  <a:txBody>
                    <a:bodyPr wrap="square"/>
                    <a:lstStyle/>
                    <a:p>
                      <a:r>
                        <a:rPr b="0" sz="500">
                          <a:solidFill>
                            <a:srgbClr val="000000"/>
                          </a:solidFill>
                          <a:latin typeface="Calibri"/>
                        </a:rPr>
                        <a:t>No key or token appears in the guide or its sample URLs; plain query string parameters; page size capped at 2000. The guide addresses an 'approved user' but describes no approval step</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SOI</a:t>
                      </a:r>
                    </a:p>
                  </a:txBody>
                  <a:tcPr marT="9144" marB="9144">
                    <a:solidFill>
                      <a:srgbClr val="FFFFFF"/>
                    </a:solidFill>
                  </a:tcPr>
                </a:tc>
                <a:tc>
                  <a:txBody>
                    <a:bodyPr wrap="square"/>
                    <a:lstStyle/>
                    <a:p>
                      <a:r>
                        <a:rPr b="0" sz="500">
                          <a:solidFill>
                            <a:srgbClr val="000000"/>
                          </a:solidFill>
                          <a:latin typeface="Calibri"/>
                        </a:rPr>
                        <a:t>no public API found; SOI states its data are available in electronic format and printed publications, and some files are for sale</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GSA</a:t>
                      </a:r>
                    </a:p>
                  </a:txBody>
                  <a:tcPr marT="9144" marB="9144">
                    <a:solidFill>
                      <a:srgbClr val="FFFFFF"/>
                    </a:solidFill>
                  </a:tcPr>
                </a:tc>
                <a:tc>
                  <a:txBody>
                    <a:bodyPr wrap="square"/>
                    <a:lstStyle/>
                    <a:p>
                      <a:r>
                        <a:rPr b="0" sz="500">
                          <a:solidFill>
                            <a:srgbClr val="000000"/>
                          </a:solidFill>
                          <a:latin typeface="Calibri"/>
                        </a:rPr>
                        <a:t>Many GSA APIs listed at open.gsa.gov/api, served under https://api.gsa.gov/; example: Per Diem API at https://api.gsa.gov/travel/perdiem/v2/</a:t>
                      </a:r>
                    </a:p>
                  </a:txBody>
                  <a:tcPr marT="9144" marB="9144">
                    <a:solidFill>
                      <a:srgbClr val="FFFFFF"/>
                    </a:solidFill>
                  </a:tcPr>
                </a:tc>
                <a:tc>
                  <a:txBody>
                    <a:bodyPr wrap="square"/>
                    <a:lstStyle/>
                    <a:p>
                      <a:r>
                        <a:rPr b="0" sz="500">
                          <a:solidFill>
                            <a:srgbClr val="000000"/>
                          </a:solidFill>
                          <a:latin typeface="Calibri"/>
                        </a:rPr>
                        <a:t>Key required on every request, in the x-api-key header or as ?api_key= in the address; DEMO_KEY allowed for samples on some pages</a:t>
                      </a:r>
                    </a:p>
                  </a:txBody>
                  <a:tcPr marT="9144" marB="9144">
                    <a:solidFill>
                      <a:srgbClr val="FFFFFF"/>
                    </a:solidFill>
                  </a:tcPr>
                </a:tc>
                <a:tc>
                  <a:txBody>
                    <a:bodyPr wrap="square"/>
                    <a:lstStyle/>
                    <a:p>
                      <a:r>
                        <a:rPr b="0" sz="500">
                          <a:solidFill>
                            <a:srgbClr val="000000"/>
                          </a:solidFill>
                          <a:latin typeface="Calibri"/>
                        </a:rPr>
                        <a:t>api.data.gov form asks first name, last name, email (use description optional); key is e-mailed; a person must click the emailed verification before an unverified key works (key issued through api.data.gov)</a:t>
                      </a:r>
                    </a:p>
                  </a:txBody>
                  <a:tcPr marT="9144" marB="9144">
                    <a:solidFill>
                      <a:srgbClr val="FFFFFF"/>
                    </a:solidFill>
                  </a:tcPr>
                </a:tc>
                <a:tc>
                  <a:txBody>
                    <a:bodyPr wrap="square"/>
                    <a:lstStyle/>
                    <a:p>
                      <a:r>
                        <a:rPr b="0" sz="500">
                          <a:solidFill>
                            <a:srgbClr val="000000"/>
                          </a:solidFill>
                          <a:latin typeface="Calibri"/>
                        </a:rPr>
                        <a:t>A personal key gets the default 1,000 requests per hour versus DEMO_KEY's 30 per hour and 50 per day per IP; higher limits by emailing GSA</a:t>
                      </a:r>
                    </a:p>
                  </a:txBody>
                  <a:tcPr marT="9144" marB="9144">
                    <a:solidFill>
                      <a:srgbClr val="FFFFFF"/>
                    </a:solidFill>
                  </a:tcPr>
                </a:tc>
                <a:tc>
                  <a:txBody>
                    <a:bodyPr wrap="square"/>
                    <a:lstStyle/>
                    <a:p>
                      <a:r>
                        <a:rPr b="0" sz="500">
                          <a:solidFill>
                            <a:srgbClr val="000000"/>
                          </a:solidFill>
                          <a:latin typeface="Calibri"/>
                        </a:rPr>
                        <a:t>no / yes / no / yes</a:t>
                      </a:r>
                    </a:p>
                  </a:txBody>
                  <a:tcPr marT="9144" marB="9144">
                    <a:solidFill>
                      <a:srgbClr val="FFFFFF"/>
                    </a:solidFill>
                  </a:tcPr>
                </a:tc>
              </a:tr>
              <a:tr h="109728">
                <a:tc>
                  <a:txBody>
                    <a:bodyPr wrap="square"/>
                    <a:lstStyle/>
                    <a:p>
                      <a:r>
                        <a:rPr b="0" sz="500">
                          <a:solidFill>
                            <a:srgbClr val="000000"/>
                          </a:solidFill>
                          <a:latin typeface="Calibri"/>
                        </a:rPr>
                        <a:t>NIST</a:t>
                      </a:r>
                    </a:p>
                  </a:txBody>
                  <a:tcPr marT="9144" marB="9144">
                    <a:solidFill>
                      <a:srgbClr val="FFFFFF"/>
                    </a:solidFill>
                  </a:tcPr>
                </a:tc>
                <a:tc>
                  <a:txBody>
                    <a:bodyPr wrap="square"/>
                    <a:lstStyle/>
                    <a:p>
                      <a:r>
                        <a:rPr b="0" sz="500">
                          <a:solidFill>
                            <a:srgbClr val="000000"/>
                          </a:solidFill>
                          <a:latin typeface="Calibri"/>
                        </a:rPr>
                        <a:t>NIST Public Data Repository (PDR) search API, 'RMM APIs', at https://data.nist.gov/rmm/records (docs https://data.nist.gov/rmm); files under https://data.nist.gov/od/ds/</a:t>
                      </a:r>
                    </a:p>
                  </a:txBody>
                  <a:tcPr marT="9144" marB="9144">
                    <a:solidFill>
                      <a:srgbClr val="FFFFFF"/>
                    </a:solidFill>
                  </a:tcPr>
                </a:tc>
                <a:tc>
                  <a:txBody>
                    <a:bodyPr wrap="square"/>
                    <a:lstStyle/>
                    <a:p>
                      <a:r>
                        <a:rPr b="0" sz="500">
                          <a:solidFill>
                            <a:srgbClr val="000000"/>
                          </a:solidFill>
                          <a:latin typeface="Calibri"/>
                        </a:rPr>
                        <a:t>not stated; no page fetched states a key requirement, and an unauthenticated request to https://data.nist.gov/rmm/records?size=1 returned JSON records</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yes</a:t>
                      </a:r>
                    </a:p>
                  </a:txBody>
                  <a:tcPr marT="9144" marB="9144">
                    <a:solidFill>
                      <a:srgbClr val="FFFFFF"/>
                    </a:solidFill>
                  </a:tcPr>
                </a:tc>
              </a:tr>
              <a:tr h="109728">
                <a:tc>
                  <a:txBody>
                    <a:bodyPr wrap="square"/>
                    <a:lstStyle/>
                    <a:p>
                      <a:r>
                        <a:rPr b="0" sz="500">
                          <a:solidFill>
                            <a:srgbClr val="000000"/>
                          </a:solidFill>
                          <a:latin typeface="Calibri"/>
                        </a:rPr>
                        <a:t>data.gov</a:t>
                      </a:r>
                    </a:p>
                  </a:txBody>
                  <a:tcPr marT="9144" marB="9144">
                    <a:solidFill>
                      <a:srgbClr val="FFFFFF"/>
                    </a:solidFill>
                  </a:tcPr>
                </a:tc>
                <a:tc>
                  <a:txBody>
                    <a:bodyPr wrap="square"/>
                    <a:lstStyle/>
                    <a:p>
                      <a:r>
                        <a:rPr b="0" sz="500">
                          <a:solidFill>
                            <a:srgbClr val="000000"/>
                          </a:solidFill>
                          <a:latin typeface="Calibri"/>
                        </a:rPr>
                        <a:t>Data.gov Catalog API, two stated routes: keyed v4 at https://api.gsa.gov/technology/datagov/v4/ (replaces CKAN API) and the catalog app's public JSON API at https://catalog.data.gov (/search)</a:t>
                      </a:r>
                    </a:p>
                  </a:txBody>
                  <a:tcPr marT="9144" marB="9144">
                    <a:solidFill>
                      <a:srgbClr val="FFFFFF"/>
                    </a:solidFill>
                  </a:tcPr>
                </a:tc>
                <a:tc>
                  <a:txBody>
                    <a:bodyPr wrap="square"/>
                    <a:lstStyle/>
                    <a:p>
                      <a:r>
                        <a:rPr b="0" sz="500">
                          <a:solidFill>
                            <a:srgbClr val="000000"/>
                          </a:solidFill>
                          <a:latin typeface="Calibri"/>
                        </a:rPr>
                        <a:t>Through api.gsa.gov v4, key required in the X-Api-Key header (DEMO_KEY for exploring); directly on catalog.data.gov, no key</a:t>
                      </a:r>
                    </a:p>
                  </a:txBody>
                  <a:tcPr marT="9144" marB="9144">
                    <a:solidFill>
                      <a:srgbClr val="FFFFFF"/>
                    </a:solidFill>
                  </a:tcPr>
                </a:tc>
                <a:tc>
                  <a:txBody>
                    <a:bodyPr wrap="square"/>
                    <a:lstStyle/>
                    <a:p>
                      <a:r>
                        <a:rPr b="0" sz="500">
                          <a:solidFill>
                            <a:srgbClr val="000000"/>
                          </a:solidFill>
                          <a:latin typeface="Calibri"/>
                        </a:rPr>
                        <a:t>api.data.gov signup (first name, last name, email); key is e-mailed and a person must complete the email verification before the key works (key issued through api.data.gov)</a:t>
                      </a:r>
                    </a:p>
                  </a:txBody>
                  <a:tcPr marT="9144" marB="9144">
                    <a:solidFill>
                      <a:srgbClr val="FFFFFF"/>
                    </a:solidFill>
                  </a:tcPr>
                </a:tc>
                <a:tc>
                  <a:txBody>
                    <a:bodyPr wrap="square"/>
                    <a:lstStyle/>
                    <a:p>
                      <a:r>
                        <a:rPr b="0" sz="500">
                          <a:solidFill>
                            <a:srgbClr val="000000"/>
                          </a:solidFill>
                          <a:latin typeface="Calibri"/>
                        </a:rPr>
                        <a:t>A personal key lifts DEMO_KEY's much lower limits to the api.data.gov default of 1,000 requests per hour; higher limits by emailing datagovhelp@gsa.gov</a:t>
                      </a:r>
                    </a:p>
                  </a:txBody>
                  <a:tcPr marT="9144" marB="9144">
                    <a:solidFill>
                      <a:srgbClr val="FFFFFF"/>
                    </a:solidFill>
                  </a:tcPr>
                </a:tc>
                <a:tc>
                  <a:txBody>
                    <a:bodyPr wrap="square"/>
                    <a:lstStyle/>
                    <a:p>
                      <a:r>
                        <a:rPr b="0" sz="500">
                          <a:solidFill>
                            <a:srgbClr val="000000"/>
                          </a:solidFill>
                          <a:latin typeface="Calibri"/>
                        </a:rPr>
                        <a:t>no / no / no / no</a:t>
                      </a:r>
                    </a:p>
                  </a:txBody>
                  <a:tcPr marT="9144" marB="9144">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
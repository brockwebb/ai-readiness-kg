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Footnotes on this slide:</a:t>
            </a:r>
          </a:p>
          <a:p>
            <a:r>
              <a:t>(a) The client could not confirm that the item is absent.</a:t>
            </a:r>
          </a:p>
          <a:p>
            <a:r>
              <a:t>(b) The website refused the identified client (HTTP 403).</a:t>
            </a:r>
          </a:p>
          <a:p>
            <a:r>
              <a:t>(c) The site's robots.txt asked the client not to fetch the page.</a:t>
            </a:r>
          </a:p>
          <a:p>
            <a:r>
              <a:t>(d) Reference hosts are checked at the site level only, so this page-level check is not run on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b="1" sz="2800">
                <a:solidFill>
                  <a:srgbClr val="C25600"/>
                </a:solidFill>
                <a:latin typeface="Calibri"/>
              </a:rPr>
              <a:t>A readiness diagnostic of federal statistical websites</a:t>
            </a:r>
          </a:p>
        </p:txBody>
      </p:sp>
      <p:sp>
        <p:nvSpPr>
          <p:cNvPr id="3" name="TextBox 2"/>
          <p:cNvSpPr txBox="1"/>
          <p:nvPr/>
        </p:nvSpPr>
        <p:spPr>
          <a:xfrm>
            <a:off x="548640" y="2377440"/>
            <a:ext cx="11064240" cy="5303520"/>
          </a:xfrm>
          <a:prstGeom prst="rect">
            <a:avLst/>
          </a:prstGeom>
          <a:noFill/>
        </p:spPr>
        <p:txBody>
          <a:bodyPr wrap="square">
            <a:spAutoFit/>
          </a:bodyPr>
          <a:lstStyle/>
          <a:p>
            <a:r>
              <a:rPr b="0" sz="2000">
                <a:solidFill>
                  <a:srgbClr val="555555"/>
                </a:solidFill>
                <a:latin typeface="Calibri"/>
              </a:rPr>
              <a:t>Brief for the working group, 16 October 2026</a:t>
            </a:r>
          </a:p>
          <a:p>
            <a:r>
              <a:rPr b="0" sz="1600">
                <a:solidFill>
                  <a:srgbClr val="000000"/>
                </a:solidFill>
                <a:latin typeface="Calibri"/>
              </a:rPr>
              <a:t/>
            </a:r>
          </a:p>
          <a:p>
            <a:r>
              <a:rPr b="0" sz="1600">
                <a:solidFill>
                  <a:srgbClr val="000000"/>
                </a:solidFill>
                <a:latin typeface="Calibri"/>
              </a:rPr>
              <a:t>The diagnostic runs 16 checks. Of these, 4 are scored; the rest are shown so the method is open, and produce no finding about an agency.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b="1" sz="2800">
                <a:solidFill>
                  <a:srgbClr val="C25600"/>
                </a:solidFill>
                <a:latin typeface="Calibri"/>
              </a:rPr>
              <a:t>Why</a:t>
            </a:r>
          </a:p>
        </p:txBody>
      </p:sp>
      <p:sp>
        <p:nvSpPr>
          <p:cNvPr id="3" name="TextBox 2"/>
          <p:cNvSpPr txBox="1"/>
          <p:nvPr/>
        </p:nvSpPr>
        <p:spPr>
          <a:xfrm>
            <a:off x="548640" y="1188720"/>
            <a:ext cx="11064240" cy="5303520"/>
          </a:xfrm>
          <a:prstGeom prst="rect">
            <a:avLst/>
          </a:prstGeom>
          <a:noFill/>
        </p:spPr>
        <p:txBody>
          <a:bodyPr wrap="square">
            <a:spAutoFit/>
          </a:bodyPr>
          <a:lstStyle/>
          <a:p>
            <a:r>
              <a:rPr b="1" sz="1800">
                <a:solidFill>
                  <a:srgbClr val="C25600"/>
                </a:solidFill>
                <a:latin typeface="Calibri"/>
              </a:rPr>
              <a:t>No new burden.</a:t>
            </a:r>
          </a:p>
          <a:p>
            <a:r>
              <a:rPr b="0" sz="1600">
                <a:solidFill>
                  <a:srgbClr val="000000"/>
                </a:solidFill>
                <a:latin typeface="Calibri"/>
              </a:rPr>
              <a:t>The diagnostic uses what agencies already publish on their public websites. It needs no survey, no data call and no agency staff time.</a:t>
            </a:r>
          </a:p>
          <a:p>
            <a:r>
              <a:rPr b="0" sz="800">
                <a:solidFill>
                  <a:srgbClr val="000000"/>
                </a:solidFill>
                <a:latin typeface="Calibri"/>
              </a:rPr>
              <a:t/>
            </a:r>
          </a:p>
          <a:p>
            <a:r>
              <a:rPr b="1" sz="1800">
                <a:solidFill>
                  <a:srgbClr val="C25600"/>
                </a:solidFill>
                <a:latin typeface="Calibri"/>
              </a:rPr>
              <a:t>The public data user is the customer.</a:t>
            </a:r>
          </a:p>
          <a:p>
            <a:r>
              <a:rPr b="0" sz="1600">
                <a:solidFill>
                  <a:srgbClr val="000000"/>
                </a:solidFill>
                <a:latin typeface="Calibri"/>
              </a:rPr>
              <a:t>A machine is now one of the main ways members of the public reach federal data, so the diagnostic takes the machine's view as the public's proxy, to show what their experience is and how it could improve.</a:t>
            </a:r>
          </a:p>
          <a:p>
            <a:r>
              <a:rPr b="0" sz="800">
                <a:solidFill>
                  <a:srgbClr val="000000"/>
                </a:solidFill>
                <a:latin typeface="Calibri"/>
              </a:rPr>
              <a:t/>
            </a:r>
          </a:p>
          <a:p>
            <a:r>
              <a:rPr b="1" sz="1800">
                <a:solidFill>
                  <a:srgbClr val="C25600"/>
                </a:solidFill>
                <a:latin typeface="Calibri"/>
              </a:rPr>
              <a:t>Anyone can do this.</a:t>
            </a:r>
          </a:p>
          <a:p>
            <a:r>
              <a:rPr b="0" sz="1600">
                <a:solidFill>
                  <a:srgbClr val="000000"/>
                </a:solidFill>
                <a:latin typeface="Calibri"/>
              </a:rPr>
              <a:t>Any member of the public with a laptop can make the same requests. The diagnostic writes the questions and the method down, so the answer does not depend on who asks.</a:t>
            </a:r>
          </a:p>
          <a:p>
            <a:r>
              <a:rPr b="0" sz="800">
                <a:solidFill>
                  <a:srgbClr val="000000"/>
                </a:solidFill>
                <a:latin typeface="Calibri"/>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b="1" sz="2800">
                <a:solidFill>
                  <a:srgbClr val="C25600"/>
                </a:solidFill>
                <a:latin typeface="Calibri"/>
              </a:rPr>
              <a:t>The public client, and what it never does</a:t>
            </a:r>
          </a:p>
        </p:txBody>
      </p:sp>
      <p:sp>
        <p:nvSpPr>
          <p:cNvPr id="3" name="TextBox 2"/>
          <p:cNvSpPr txBox="1"/>
          <p:nvPr/>
        </p:nvSpPr>
        <p:spPr>
          <a:xfrm>
            <a:off x="548640" y="1188720"/>
            <a:ext cx="11064240" cy="5303520"/>
          </a:xfrm>
          <a:prstGeom prst="rect">
            <a:avLst/>
          </a:prstGeom>
          <a:noFill/>
        </p:spPr>
        <p:txBody>
          <a:bodyPr wrap="square">
            <a:spAutoFit/>
          </a:bodyPr>
          <a:lstStyle/>
          <a:p>
            <a:r>
              <a:rPr b="0" sz="1500">
                <a:solidFill>
                  <a:srgbClr val="000000"/>
                </a:solidFill>
                <a:latin typeface="Calibri"/>
              </a:rPr>
              <a:t>The public client is the program that makes the requests, acting only as any member of the public could. It identifies itself by one fixed name in every request, so a site's own logs show each request it made:</a:t>
            </a:r>
          </a:p>
          <a:p>
            <a:r>
              <a:rPr b="1" sz="1300">
                <a:solidFill>
                  <a:srgbClr val="000000"/>
                </a:solidFill>
                <a:latin typeface="Calibri"/>
              </a:rPr>
              <a:t>ai-readiness-kg-scanner/0.2 (+https://github.com/brockwebb/ai-readiness-kg)</a:t>
            </a:r>
          </a:p>
          <a:p>
            <a:r>
              <a:rPr b="0" sz="1200">
                <a:solidFill>
                  <a:srgbClr val="555555"/>
                </a:solidFill>
                <a:latin typeface="Calibri"/>
              </a:rPr>
              <a:t>The name still carries the project's earlier word for the client; it is kept unchanged so that one log search finds every request.</a:t>
            </a:r>
          </a:p>
          <a:p>
            <a:r>
              <a:rPr b="0" sz="1500">
                <a:solidFill>
                  <a:srgbClr val="000000"/>
                </a:solidFill>
                <a:latin typeface="Calibri"/>
              </a:rPr>
              <a:t>It makes no more than 1 request per second to any one website, and waits longer when a site asks it to.</a:t>
            </a:r>
          </a:p>
          <a:p>
            <a:r>
              <a:rPr b="0" sz="800">
                <a:solidFill>
                  <a:srgbClr val="000000"/>
                </a:solidFill>
                <a:latin typeface="Calibri"/>
              </a:rPr>
              <a:t/>
            </a:r>
          </a:p>
          <a:p>
            <a:r>
              <a:rPr b="1" sz="1600">
                <a:solidFill>
                  <a:srgbClr val="C25600"/>
                </a:solidFill>
                <a:latin typeface="Calibri"/>
              </a:rPr>
              <a:t>What the public client never does</a:t>
            </a:r>
          </a:p>
          <a:p>
            <a:r>
              <a:rPr b="0" sz="1500">
                <a:solidFill>
                  <a:srgbClr val="000000"/>
                </a:solidFill>
                <a:latin typeface="Calibri"/>
              </a:rPr>
              <a:t>• No sign-in or password.</a:t>
            </a:r>
          </a:p>
          <a:p>
            <a:r>
              <a:rPr b="0" sz="1500">
                <a:solidFill>
                  <a:srgbClr val="000000"/>
                </a:solidFill>
                <a:latin typeface="Calibri"/>
              </a:rPr>
              <a:t>• No form filled in.</a:t>
            </a:r>
          </a:p>
          <a:p>
            <a:r>
              <a:rPr b="0" sz="1500">
                <a:solidFill>
                  <a:srgbClr val="000000"/>
                </a:solidFill>
                <a:latin typeface="Calibri"/>
              </a:rPr>
              <a:t>• No "are you human" test passed, and no block worked around.</a:t>
            </a:r>
          </a:p>
          <a:p>
            <a:r>
              <a:rPr b="0" sz="1500">
                <a:solidFill>
                  <a:srgbClr val="000000"/>
                </a:solidFill>
                <a:latin typeface="Calibri"/>
              </a:rPr>
              <a:t>• No program built into a page is run.</a:t>
            </a:r>
          </a:p>
          <a:p>
            <a:r>
              <a:rPr b="0" sz="1500">
                <a:solidFill>
                  <a:srgbClr val="000000"/>
                </a:solidFill>
                <a:latin typeface="Calibri"/>
              </a:rPr>
              <a:t>• Nothing taken beyond what the page itself serves.</a:t>
            </a:r>
          </a:p>
          <a:p>
            <a:r>
              <a:rPr b="0" sz="800">
                <a:solidFill>
                  <a:srgbClr val="000000"/>
                </a:solidFill>
                <a:latin typeface="Calibri"/>
              </a:rPr>
              <a:t/>
            </a:r>
          </a:p>
          <a:p>
            <a:r>
              <a:rPr b="0" sz="1400">
                <a:solidFill>
                  <a:srgbClr val="555555"/>
                </a:solidFill>
                <a:latin typeface="Calibri"/>
              </a:rPr>
              <a:t>Not measured means the client could not look, and the footnote says why. It is never counted as a fail.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b="1" sz="2800">
                <a:solidFill>
                  <a:srgbClr val="C25600"/>
                </a:solidFill>
                <a:latin typeface="Calibri"/>
              </a:rPr>
              <a:t>The checks: Accessible</a:t>
            </a:r>
          </a:p>
        </p:txBody>
      </p:sp>
      <p:graphicFrame>
        <p:nvGraphicFramePr>
          <p:cNvPr id="3" name="Table 2"/>
          <p:cNvGraphicFramePr>
            <a:graphicFrameLocks noGrp="1"/>
          </p:cNvGraphicFramePr>
          <p:nvPr/>
        </p:nvGraphicFramePr>
        <p:xfrm>
          <a:off x="365760" y="960120"/>
          <a:ext cx="11430000" cy="3840480"/>
        </p:xfrm>
        <a:graphic>
          <a:graphicData uri="http://schemas.openxmlformats.org/drawingml/2006/table">
            <a:tbl>
              <a:tblPr>
                <a:tableStyleId>{5C22544A-7EE6-4342-B048-85BDC9FD1C3A}</a:tableStyleId>
              </a:tblPr>
              <a:tblGrid>
                <a:gridCol w="2377440"/>
                <a:gridCol w="3108960"/>
                <a:gridCol w="2926080"/>
                <a:gridCol w="3017520"/>
              </a:tblGrid>
              <a:tr h="274320">
                <a:tc>
                  <a:txBody>
                    <a:bodyPr wrap="square"/>
                    <a:lstStyle/>
                    <a:p>
                      <a:r>
                        <a:rPr b="1" sz="900">
                          <a:solidFill>
                            <a:srgbClr val="C25600"/>
                          </a:solidFill>
                          <a:latin typeface="Calibri"/>
                        </a:rPr>
                        <a:t>Check</a:t>
                      </a:r>
                    </a:p>
                  </a:txBody>
                  <a:tcPr marT="9144" marB="9144">
                    <a:solidFill>
                      <a:srgbClr val="FFFFFF"/>
                    </a:solidFill>
                  </a:tcPr>
                </a:tc>
                <a:tc>
                  <a:txBody>
                    <a:bodyPr wrap="square"/>
                    <a:lstStyle/>
                    <a:p>
                      <a:r>
                        <a:rPr b="1" sz="900">
                          <a:solidFill>
                            <a:srgbClr val="C25600"/>
                          </a:solidFill>
                          <a:latin typeface="Calibri"/>
                        </a:rPr>
                        <a:t>What we ask your site for</a:t>
                      </a:r>
                    </a:p>
                  </a:txBody>
                  <a:tcPr marT="9144" marB="9144">
                    <a:solidFill>
                      <a:srgbClr val="FFFFFF"/>
                    </a:solidFill>
                  </a:tcPr>
                </a:tc>
                <a:tc>
                  <a:txBody>
                    <a:bodyPr wrap="square"/>
                    <a:lstStyle/>
                    <a:p>
                      <a:r>
                        <a:rPr b="1" sz="900">
                          <a:solidFill>
                            <a:srgbClr val="C25600"/>
                          </a:solidFill>
                          <a:latin typeface="Calibri"/>
                        </a:rPr>
                        <a:t>What it tells us</a:t>
                      </a:r>
                    </a:p>
                  </a:txBody>
                  <a:tcPr marT="9144" marB="9144">
                    <a:solidFill>
                      <a:srgbClr val="FFFFFF"/>
                    </a:solidFill>
                  </a:tcPr>
                </a:tc>
                <a:tc>
                  <a:txBody>
                    <a:bodyPr wrap="square"/>
                    <a:lstStyle/>
                    <a:p>
                      <a:r>
                        <a:rPr b="1" sz="900">
                          <a:solidFill>
                            <a:srgbClr val="C25600"/>
                          </a:solidFill>
                          <a:latin typeface="Calibri"/>
                        </a:rPr>
                        <a:t>Why it matters</a:t>
                      </a:r>
                    </a:p>
                  </a:txBody>
                  <a:tcPr marT="9144" marB="9144">
                    <a:solidFill>
                      <a:srgbClr val="FFFFFF"/>
                    </a:solidFill>
                  </a:tcPr>
                </a:tc>
              </a:tr>
              <a:tr h="274320">
                <a:tc>
                  <a:txBody>
                    <a:bodyPr wrap="square"/>
                    <a:lstStyle/>
                    <a:p>
                      <a:r>
                        <a:rPr b="1" sz="800">
                          <a:solidFill>
                            <a:srgbClr val="C25600"/>
                          </a:solidFill>
                          <a:latin typeface="Calibri"/>
                        </a:rPr>
                        <a:t>Accessible</a:t>
                      </a:r>
                    </a:p>
                  </a:txBody>
                  <a:tcPr marT="9144" marB="9144">
                    <a:solidFill>
                      <a:srgbClr val="FFFFFF"/>
                    </a:solidFill>
                  </a:tcPr>
                </a:tc>
                <a:tc>
                  <a:txBody>
                    <a:bodyPr wrap="square"/>
                    <a:lstStyle/>
                    <a:p>
                      <a:r>
                        <a:rPr b="0" sz="700">
                          <a:solidFill>
                            <a:srgbClr val="000000"/>
                          </a:solidFill>
                          <a:latin typeface="Calibri"/>
                        </a:rPr>
                        <a:t/>
                      </a:r>
                    </a:p>
                  </a:txBody>
                  <a:tcPr marT="9144" marB="9144">
                    <a:solidFill>
                      <a:srgbClr val="FFFFFF"/>
                    </a:solidFill>
                  </a:tcPr>
                </a:tc>
                <a:tc>
                  <a:txBody>
                    <a:bodyPr wrap="square"/>
                    <a:lstStyle/>
                    <a:p>
                      <a:r>
                        <a:rPr b="0" sz="700">
                          <a:solidFill>
                            <a:srgbClr val="000000"/>
                          </a:solidFill>
                          <a:latin typeface="Calibri"/>
                        </a:rPr>
                        <a:t/>
                      </a:r>
                    </a:p>
                  </a:txBody>
                  <a:tcPr marT="9144" marB="9144">
                    <a:solidFill>
                      <a:srgbClr val="FFFFFF"/>
                    </a:solidFill>
                  </a:tcPr>
                </a:tc>
                <a:tc>
                  <a:txBody>
                    <a:bodyPr wrap="square"/>
                    <a:lstStyle/>
                    <a:p>
                      <a:r>
                        <a:rPr b="0" sz="700">
                          <a:solidFill>
                            <a:srgbClr val="000000"/>
                          </a:solidFill>
                          <a:latin typeface="Calibri"/>
                        </a:rPr>
                        <a:t/>
                      </a:r>
                    </a:p>
                  </a:txBody>
                  <a:tcPr marT="9144" marB="9144">
                    <a:solidFill>
                      <a:srgbClr val="FFFFFF"/>
                    </a:solidFill>
                  </a:tcPr>
                </a:tc>
              </a:tr>
              <a:tr h="274320">
                <a:tc>
                  <a:txBody>
                    <a:bodyPr wrap="square"/>
                    <a:lstStyle/>
                    <a:p>
                      <a:r>
                        <a:rPr b="1" sz="700">
                          <a:solidFill>
                            <a:srgbClr val="000000"/>
                          </a:solidFill>
                          <a:latin typeface="Calibri"/>
                        </a:rPr>
                        <a:t>Data offered as a file a program can read (Scored)</a:t>
                      </a:r>
                    </a:p>
                  </a:txBody>
                  <a:tcPr marT="9144" marB="9144">
                    <a:solidFill>
                      <a:srgbClr val="FFFFFF"/>
                    </a:solidFill>
                  </a:tcPr>
                </a:tc>
                <a:tc>
                  <a:txBody>
                    <a:bodyPr wrap="square"/>
                    <a:lstStyle/>
                    <a:p>
                      <a:r>
                        <a:rPr b="0" sz="700">
                          <a:solidFill>
                            <a:srgbClr val="555555"/>
                          </a:solidFill>
                          <a:latin typeface="Calibri"/>
                        </a:rPr>
                        <a:t>The data page, and the files it links to on the same website.</a:t>
                      </a:r>
                    </a:p>
                  </a:txBody>
                  <a:tcPr marT="9144" marB="9144">
                    <a:solidFill>
                      <a:srgbClr val="FFFFFF"/>
                    </a:solidFill>
                  </a:tcPr>
                </a:tc>
                <a:tc>
                  <a:txBody>
                    <a:bodyPr wrap="square"/>
                    <a:lstStyle/>
                    <a:p>
                      <a:r>
                        <a:rPr b="0" sz="700">
                          <a:solidFill>
                            <a:srgbClr val="555555"/>
                          </a:solidFill>
                          <a:latin typeface="Calibri"/>
                        </a:rPr>
                        <a:t>Whether the numbers come as a spreadsheet, CSV or JSON file, not only as a PDF.</a:t>
                      </a:r>
                    </a:p>
                  </a:txBody>
                  <a:tcPr marT="9144" marB="9144">
                    <a:solidFill>
                      <a:srgbClr val="FFFFFF"/>
                    </a:solidFill>
                  </a:tcPr>
                </a:tc>
                <a:tc>
                  <a:txBody>
                    <a:bodyPr wrap="square"/>
                    <a:lstStyle/>
                    <a:p>
                      <a:r>
                        <a:rPr b="0" sz="700">
                          <a:solidFill>
                            <a:srgbClr val="555555"/>
                          </a:solidFill>
                          <a:latin typeface="Calibri"/>
                        </a:rPr>
                        <a:t>An OMB memo requires public data to be readable by programs, and USAFacts' guide says to avoid PDF-only release.</a:t>
                      </a:r>
                    </a:p>
                  </a:txBody>
                  <a:tcPr marT="9144" marB="9144">
                    <a:solidFill>
                      <a:srgbClr val="FFFFFF"/>
                    </a:solidFill>
                  </a:tcPr>
                </a:tc>
              </a:tr>
              <a:tr h="274320">
                <a:tc>
                  <a:txBody>
                    <a:bodyPr wrap="square"/>
                    <a:lstStyle/>
                    <a:p>
                      <a:r>
                        <a:rPr b="1" sz="700">
                          <a:solidFill>
                            <a:srgbClr val="000000"/>
                          </a:solidFill>
                          <a:latin typeface="Calibri"/>
                        </a:rPr>
                        <a:t>The whole dataset in one download (Scored)</a:t>
                      </a:r>
                    </a:p>
                  </a:txBody>
                  <a:tcPr marT="9144" marB="9144">
                    <a:solidFill>
                      <a:srgbClr val="FFFFFF"/>
                    </a:solidFill>
                  </a:tcPr>
                </a:tc>
                <a:tc>
                  <a:txBody>
                    <a:bodyPr wrap="square"/>
                    <a:lstStyle/>
                    <a:p>
                      <a:r>
                        <a:rPr b="0" sz="700">
                          <a:solidFill>
                            <a:srgbClr val="555555"/>
                          </a:solidFill>
                          <a:latin typeface="Calibri"/>
                        </a:rPr>
                        <a:t>Links on the data page to one zipped or complete file holding the whole dataset.</a:t>
                      </a:r>
                    </a:p>
                  </a:txBody>
                  <a:tcPr marT="9144" marB="9144">
                    <a:solidFill>
                      <a:srgbClr val="FFFFFF"/>
                    </a:solidFill>
                  </a:tcPr>
                </a:tc>
                <a:tc>
                  <a:txBody>
                    <a:bodyPr wrap="square"/>
                    <a:lstStyle/>
                    <a:p>
                      <a:r>
                        <a:rPr b="0" sz="700">
                          <a:solidFill>
                            <a:srgbClr val="555555"/>
                          </a:solidFill>
                          <a:latin typeface="Calibri"/>
                        </a:rPr>
                        <a:t>Whether someone can take all of it at once instead of piecing it together query by query.</a:t>
                      </a:r>
                    </a:p>
                  </a:txBody>
                  <a:tcPr marT="9144" marB="9144">
                    <a:solidFill>
                      <a:srgbClr val="FFFFFF"/>
                    </a:solidFill>
                  </a:tcPr>
                </a:tc>
                <a:tc>
                  <a:txBody>
                    <a:bodyPr wrap="square"/>
                    <a:lstStyle/>
                    <a:p>
                      <a:r>
                        <a:rPr b="0" sz="700">
                          <a:solidFill>
                            <a:srgbClr val="555555"/>
                          </a:solidFill>
                          <a:latin typeface="Calibri"/>
                        </a:rPr>
                        <a:t>The World Wide Web Consortium's data guidance asks that a full dataset come in one request, and an OMB memo urges offering whole datasets for download.</a:t>
                      </a:r>
                    </a:p>
                  </a:txBody>
                  <a:tcPr marT="9144" marB="9144">
                    <a:solidFill>
                      <a:srgbClr val="FFFFFF"/>
                    </a:solidFill>
                  </a:tcPr>
                </a:tc>
              </a:tr>
              <a:tr h="274320">
                <a:tc>
                  <a:txBody>
                    <a:bodyPr wrap="square"/>
                    <a:lstStyle/>
                    <a:p>
                      <a:r>
                        <a:rPr b="1" sz="700">
                          <a:solidFill>
                            <a:srgbClr val="000000"/>
                          </a:solidFill>
                          <a:latin typeface="Calibri"/>
                        </a:rPr>
                        <a:t>The data page is in the site's list of pages (Scored)</a:t>
                      </a:r>
                    </a:p>
                  </a:txBody>
                  <a:tcPr marT="9144" marB="9144">
                    <a:solidFill>
                      <a:srgbClr val="FFFFFF"/>
                    </a:solidFill>
                  </a:tcPr>
                </a:tc>
                <a:tc>
                  <a:txBody>
                    <a:bodyPr wrap="square"/>
                    <a:lstStyle/>
                    <a:p>
                      <a:r>
                        <a:rPr b="0" sz="700">
                          <a:solidFill>
                            <a:srgbClr val="555555"/>
                          </a:solidFill>
                          <a:latin typeface="Calibri"/>
                        </a:rPr>
                        <a:t>The site's list of its own pages (its sitemap), which search engines routinely ask every site for.</a:t>
                      </a:r>
                    </a:p>
                  </a:txBody>
                  <a:tcPr marT="9144" marB="9144">
                    <a:solidFill>
                      <a:srgbClr val="FFFFFF"/>
                    </a:solidFill>
                  </a:tcPr>
                </a:tc>
                <a:tc>
                  <a:txBody>
                    <a:bodyPr wrap="square"/>
                    <a:lstStyle/>
                    <a:p>
                      <a:r>
                        <a:rPr b="0" sz="700">
                          <a:solidFill>
                            <a:srgbClr val="555555"/>
                          </a:solidFill>
                          <a:latin typeface="Calibri"/>
                        </a:rPr>
                        <a:t>Whether the agency has listed the data page among the pages it wants found.</a:t>
                      </a:r>
                    </a:p>
                  </a:txBody>
                  <a:tcPr marT="9144" marB="9144">
                    <a:solidFill>
                      <a:srgbClr val="FFFFFF"/>
                    </a:solidFill>
                  </a:tcPr>
                </a:tc>
                <a:tc>
                  <a:txBody>
                    <a:bodyPr wrap="square"/>
                    <a:lstStyle/>
                    <a:p>
                      <a:r>
                        <a:rPr b="0" sz="700">
                          <a:solidFill>
                            <a:srgbClr val="555555"/>
                          </a:solidFill>
                          <a:latin typeface="Calibri"/>
                        </a:rPr>
                        <a:t>An OMB memo asks agencies to publish such lists, in the published standard format.</a:t>
                      </a:r>
                    </a:p>
                  </a:txBody>
                  <a:tcPr marT="9144" marB="9144">
                    <a:solidFill>
                      <a:srgbClr val="FFFFFF"/>
                    </a:solidFill>
                  </a:tcPr>
                </a:tc>
              </a:tr>
              <a:tr h="274320">
                <a:tc>
                  <a:txBody>
                    <a:bodyPr wrap="square"/>
                    <a:lstStyle/>
                    <a:p>
                      <a:r>
                        <a:rPr b="0" sz="700">
                          <a:solidFill>
                            <a:srgbClr val="000000"/>
                          </a:solidFill>
                          <a:latin typeface="Calibri"/>
                        </a:rPr>
                        <a:t>A published description of the agency's data service (Not scored, shown for openness)</a:t>
                      </a:r>
                    </a:p>
                  </a:txBody>
                  <a:tcPr marT="9144" marB="9144">
                    <a:solidFill>
                      <a:srgbClr val="FFFFFF"/>
                    </a:solidFill>
                  </a:tcPr>
                </a:tc>
                <a:tc>
                  <a:txBody>
                    <a:bodyPr wrap="square"/>
                    <a:lstStyle/>
                    <a:p>
                      <a:r>
                        <a:rPr b="0" sz="700">
                          <a:solidFill>
                            <a:srgbClr val="555555"/>
                          </a:solidFill>
                          <a:latin typeface="Calibri"/>
                        </a:rPr>
                        <a:t>The address of the agency's data service for programs, and any file kept beside it that lists the requests it accepts.</a:t>
                      </a:r>
                    </a:p>
                  </a:txBody>
                  <a:tcPr marT="9144" marB="9144">
                    <a:solidFill>
                      <a:srgbClr val="FFFFFF"/>
                    </a:solidFill>
                  </a:tcPr>
                </a:tc>
                <a:tc>
                  <a:txBody>
                    <a:bodyPr wrap="square"/>
                    <a:lstStyle/>
                    <a:p>
                      <a:r>
                        <a:rPr b="0" sz="700">
                          <a:solidFill>
                            <a:srgbClr val="555555"/>
                          </a:solidFill>
                          <a:latin typeface="Calibri"/>
                        </a:rPr>
                        <a:t>Whether a program can learn what to ask for without a person reading the manual first.</a:t>
                      </a:r>
                    </a:p>
                  </a:txBody>
                  <a:tcPr marT="9144" marB="9144">
                    <a:solidFill>
                      <a:srgbClr val="FFFFFF"/>
                    </a:solidFill>
                  </a:tcPr>
                </a:tc>
                <a:tc>
                  <a:txBody>
                    <a:bodyPr wrap="square"/>
                    <a:lstStyle/>
                    <a:p>
                      <a:r>
                        <a:rPr b="0" sz="700">
                          <a:solidFill>
                            <a:srgbClr val="555555"/>
                          </a:solidFill>
                          <a:latin typeface="Calibri"/>
                        </a:rPr>
                        <a:t>A World Wide Web Consortium practice asks for service details that programs can read; the required file format is this project's rule.</a:t>
                      </a:r>
                    </a:p>
                  </a:txBody>
                  <a:tcPr marT="9144" marB="9144">
                    <a:solidFill>
                      <a:srgbClr val="FFFFFF"/>
                    </a:solidFill>
                  </a:tcPr>
                </a:tc>
              </a:tr>
              <a:tr h="274320">
                <a:tc>
                  <a:txBody>
                    <a:bodyPr wrap="square"/>
                    <a:lstStyle/>
                    <a:p>
                      <a:r>
                        <a:rPr b="0" sz="700">
                          <a:solidFill>
                            <a:srgbClr val="000000"/>
                          </a:solidFill>
                          <a:latin typeface="Calibri"/>
                        </a:rPr>
                        <a:t>Whether the site's visitor rules let AI tools in (The site's own statement, not scored)</a:t>
                      </a:r>
                    </a:p>
                  </a:txBody>
                  <a:tcPr marT="9144" marB="9144">
                    <a:solidFill>
                      <a:srgbClr val="FFFFFF"/>
                    </a:solidFill>
                  </a:tcPr>
                </a:tc>
                <a:tc>
                  <a:txBody>
                    <a:bodyPr wrap="square"/>
                    <a:lstStyle/>
                    <a:p>
                      <a:r>
                        <a:rPr b="0" sz="700">
                          <a:solidFill>
                            <a:srgbClr val="555555"/>
                          </a:solidFill>
                          <a:latin typeface="Calibri"/>
                        </a:rPr>
                        <a:t>The site's instructions file for automated visitors (robots.txt), which search engines also request as a matter of course.</a:t>
                      </a:r>
                    </a:p>
                  </a:txBody>
                  <a:tcPr marT="9144" marB="9144">
                    <a:solidFill>
                      <a:srgbClr val="FFFFFF"/>
                    </a:solidFill>
                  </a:tcPr>
                </a:tc>
                <a:tc>
                  <a:txBody>
                    <a:bodyPr wrap="square"/>
                    <a:lstStyle/>
                    <a:p>
                      <a:r>
                        <a:rPr b="0" sz="700">
                          <a:solidFill>
                            <a:srgbClr val="555555"/>
                          </a:solidFill>
                          <a:latin typeface="Calibri"/>
                        </a:rPr>
                        <a:t>Whether those instructions let the tools behind AI search reach the data page.</a:t>
                      </a:r>
                    </a:p>
                  </a:txBody>
                  <a:tcPr marT="9144" marB="9144">
                    <a:solidFill>
                      <a:srgbClr val="FFFFFF"/>
                    </a:solidFill>
                  </a:tcPr>
                </a:tc>
                <a:tc>
                  <a:txBody>
                    <a:bodyPr wrap="square"/>
                    <a:lstStyle/>
                    <a:p>
                      <a:r>
                        <a:rPr b="0" sz="700">
                          <a:solidFill>
                            <a:srgbClr val="555555"/>
                          </a:solidFill>
                          <a:latin typeface="Calibri"/>
                        </a:rPr>
                        <a:t>An OMB memo tells agencies to use this file so pages can be found; treating certain blocks as failures is this project's rule.</a:t>
                      </a:r>
                    </a:p>
                  </a:txBody>
                  <a:tcPr marT="9144" marB="9144">
                    <a:solidFill>
                      <a:srgbClr val="FFFFFF"/>
                    </a:solidFill>
                  </a:tcPr>
                </a:tc>
              </a:tr>
              <a:tr h="274320">
                <a:tc>
                  <a:txBody>
                    <a:bodyPr wrap="square"/>
                    <a:lstStyle/>
                    <a:p>
                      <a:r>
                        <a:rPr b="0" sz="700">
                          <a:solidFill>
                            <a:srgbClr val="000000"/>
                          </a:solidFill>
                          <a:latin typeface="Calibri"/>
                        </a:rPr>
                        <a:t>The page labels itself as a dataset (Not scored, shown for openness)</a:t>
                      </a:r>
                    </a:p>
                  </a:txBody>
                  <a:tcPr marT="9144" marB="9144">
                    <a:solidFill>
                      <a:srgbClr val="FFFFFF"/>
                    </a:solidFill>
                  </a:tcPr>
                </a:tc>
                <a:tc>
                  <a:txBody>
                    <a:bodyPr wrap="square"/>
                    <a:lstStyle/>
                    <a:p>
                      <a:r>
                        <a:rPr b="0" sz="700">
                          <a:solidFill>
                            <a:srgbClr val="555555"/>
                          </a:solidFill>
                          <a:latin typeface="Calibri"/>
                        </a:rPr>
                        <a:t>The data page itself, reading the hidden labels that tell search engines what the page is.</a:t>
                      </a:r>
                    </a:p>
                  </a:txBody>
                  <a:tcPr marT="9144" marB="9144">
                    <a:solidFill>
                      <a:srgbClr val="FFFFFF"/>
                    </a:solidFill>
                  </a:tcPr>
                </a:tc>
                <a:tc>
                  <a:txBody>
                    <a:bodyPr wrap="square"/>
                    <a:lstStyle/>
                    <a:p>
                      <a:r>
                        <a:rPr b="0" sz="700">
                          <a:solidFill>
                            <a:srgbClr val="555555"/>
                          </a:solidFill>
                          <a:latin typeface="Calibri"/>
                        </a:rPr>
                        <a:t>Whether a search engine or AI tool can recognise the page as a named, described dataset.</a:t>
                      </a:r>
                    </a:p>
                  </a:txBody>
                  <a:tcPr marT="9144" marB="9144">
                    <a:solidFill>
                      <a:srgbClr val="FFFFFF"/>
                    </a:solidFill>
                  </a:tcPr>
                </a:tc>
                <a:tc>
                  <a:txBody>
                    <a:bodyPr wrap="square"/>
                    <a:lstStyle/>
                    <a:p>
                      <a:r>
                        <a:rPr b="0" sz="700">
                          <a:solidFill>
                            <a:srgbClr val="555555"/>
                          </a:solidFill>
                          <a:latin typeface="Calibri"/>
                        </a:rPr>
                        <a:t>A shared labelling scheme used by the major search engines (schema.org) defines these labels, and USAFacts' guide asks for standard metadata.</a:t>
                      </a:r>
                    </a:p>
                  </a:txBody>
                  <a:tcPr marT="9144" marB="9144">
                    <a:solidFill>
                      <a:srgbClr val="FFFFFF"/>
                    </a:solidFill>
                  </a:tcPr>
                </a:tc>
              </a:tr>
              <a:tr h="274320">
                <a:tc>
                  <a:txBody>
                    <a:bodyPr wrap="square"/>
                    <a:lstStyle/>
                    <a:p>
                      <a:r>
                        <a:rPr b="0" sz="700">
                          <a:solidFill>
                            <a:srgbClr val="000000"/>
                          </a:solidFill>
                          <a:latin typeface="Calibri"/>
                        </a:rPr>
                        <a:t>The release date, and a link to the latest release (Not scored, shown for openness)</a:t>
                      </a:r>
                    </a:p>
                  </a:txBody>
                  <a:tcPr marT="9144" marB="9144">
                    <a:solidFill>
                      <a:srgbClr val="FFFFFF"/>
                    </a:solidFill>
                  </a:tcPr>
                </a:tc>
                <a:tc>
                  <a:txBody>
                    <a:bodyPr wrap="square"/>
                    <a:lstStyle/>
                    <a:p>
                      <a:r>
                        <a:rPr b="0" sz="700">
                          <a:solidFill>
                            <a:srgbClr val="555555"/>
                          </a:solidFill>
                          <a:latin typeface="Calibri"/>
                        </a:rPr>
                        <a:t>Date labels in the data page's code, and up to three links that point to the latest version.</a:t>
                      </a:r>
                    </a:p>
                  </a:txBody>
                  <a:tcPr marT="9144" marB="9144">
                    <a:solidFill>
                      <a:srgbClr val="FFFFFF"/>
                    </a:solidFill>
                  </a:tcPr>
                </a:tc>
                <a:tc>
                  <a:txBody>
                    <a:bodyPr wrap="square"/>
                    <a:lstStyle/>
                    <a:p>
                      <a:r>
                        <a:rPr b="0" sz="700">
                          <a:solidFill>
                            <a:srgbClr val="555555"/>
                          </a:solidFill>
                          <a:latin typeface="Calibri"/>
                        </a:rPr>
                        <a:t>Whether a program can tell which release it is reading and find a newer one.</a:t>
                      </a:r>
                    </a:p>
                  </a:txBody>
                  <a:tcPr marT="9144" marB="9144">
                    <a:solidFill>
                      <a:srgbClr val="FFFFFF"/>
                    </a:solidFill>
                  </a:tcPr>
                </a:tc>
                <a:tc>
                  <a:txBody>
                    <a:bodyPr wrap="square"/>
                    <a:lstStyle/>
                    <a:p>
                      <a:r>
                        <a:rPr b="0" sz="700">
                          <a:solidFill>
                            <a:srgbClr val="555555"/>
                          </a:solidFill>
                          <a:latin typeface="Calibri"/>
                        </a:rPr>
                        <a:t>Guidance from the World Wide Web Consortium says a dataset's version should be detectable; requiring the link to work is this project's rule.</a:t>
                      </a:r>
                    </a:p>
                  </a:txBody>
                  <a:tcPr marT="9144" marB="9144">
                    <a:solidFill>
                      <a:srgbClr val="FFFFFF"/>
                    </a:solidFill>
                  </a:tcPr>
                </a:tc>
              </a:tr>
              <a:tr h="274320">
                <a:tc>
                  <a:txBody>
                    <a:bodyPr wrap="square"/>
                    <a:lstStyle/>
                    <a:p>
                      <a:r>
                        <a:rPr b="0" sz="700">
                          <a:solidFill>
                            <a:srgbClr val="000000"/>
                          </a:solidFill>
                          <a:latin typeface="Calibri"/>
                        </a:rPr>
                        <a:t>A front door built for programs (Not scored, shown for openness)</a:t>
                      </a:r>
                    </a:p>
                  </a:txBody>
                  <a:tcPr marT="9144" marB="9144">
                    <a:solidFill>
                      <a:srgbClr val="FFFFFF"/>
                    </a:solidFill>
                  </a:tcPr>
                </a:tc>
                <a:tc>
                  <a:txBody>
                    <a:bodyPr wrap="square"/>
                    <a:lstStyle/>
                    <a:p>
                      <a:r>
                        <a:rPr b="0" sz="700">
                          <a:solidFill>
                            <a:srgbClr val="555555"/>
                          </a:solidFill>
                          <a:latin typeface="Calibri"/>
                        </a:rPr>
                        <a:t>A few fixed addresses where programs look first, such as /llms.txt and the data service's description.</a:t>
                      </a:r>
                    </a:p>
                  </a:txBody>
                  <a:tcPr marT="9144" marB="9144">
                    <a:solidFill>
                      <a:srgbClr val="FFFFFF"/>
                    </a:solidFill>
                  </a:tcPr>
                </a:tc>
                <a:tc>
                  <a:txBody>
                    <a:bodyPr wrap="square"/>
                    <a:lstStyle/>
                    <a:p>
                      <a:r>
                        <a:rPr b="0" sz="700">
                          <a:solidFill>
                            <a:srgbClr val="555555"/>
                          </a:solidFill>
                          <a:latin typeface="Calibri"/>
                        </a:rPr>
                        <a:t>Whether the agency offers a starting point designed for software rather than for people.</a:t>
                      </a:r>
                    </a:p>
                  </a:txBody>
                  <a:tcPr marT="9144" marB="9144">
                    <a:solidFill>
                      <a:srgbClr val="FFFFFF"/>
                    </a:solidFill>
                  </a:tcPr>
                </a:tc>
                <a:tc>
                  <a:txBody>
                    <a:bodyPr wrap="square"/>
                    <a:lstStyle/>
                    <a:p>
                      <a:r>
                        <a:rPr b="0" sz="700">
                          <a:solidFill>
                            <a:srgbClr val="555555"/>
                          </a:solidFill>
                          <a:latin typeface="Calibri"/>
                        </a:rPr>
                        <a:t>This project's rule: no published standard defines such a starting point yet.</a:t>
                      </a:r>
                    </a:p>
                  </a:txBody>
                  <a:tcPr marT="9144" marB="9144">
                    <a:solidFill>
                      <a:srgbClr val="FFFFFF"/>
                    </a:solidFill>
                  </a:tcPr>
                </a:tc>
              </a:tr>
              <a:tr h="274320">
                <a:tc>
                  <a:txBody>
                    <a:bodyPr wrap="square"/>
                    <a:lstStyle/>
                    <a:p>
                      <a:r>
                        <a:rPr b="0" sz="700">
                          <a:solidFill>
                            <a:srgbClr val="000000"/>
                          </a:solidFill>
                          <a:latin typeface="Calibri"/>
                        </a:rPr>
                        <a:t>The interactive data tool answers honestly (Not scored, shown for openness)</a:t>
                      </a:r>
                    </a:p>
                  </a:txBody>
                  <a:tcPr marT="9144" marB="9144">
                    <a:solidFill>
                      <a:srgbClr val="FFFFFF"/>
                    </a:solidFill>
                  </a:tcPr>
                </a:tc>
                <a:tc>
                  <a:txBody>
                    <a:bodyPr wrap="square"/>
                    <a:lstStyle/>
                    <a:p>
                      <a:r>
                        <a:rPr b="0" sz="700">
                          <a:solidFill>
                            <a:srgbClr val="555555"/>
                          </a:solidFill>
                          <a:latin typeface="Calibri"/>
                        </a:rPr>
                        <a:t>A direct link into the agency's interactive data tool, and a made-up address beneath it.</a:t>
                      </a:r>
                    </a:p>
                  </a:txBody>
                  <a:tcPr marT="9144" marB="9144">
                    <a:solidFill>
                      <a:srgbClr val="FFFFFF"/>
                    </a:solidFill>
                  </a:tcPr>
                </a:tc>
                <a:tc>
                  <a:txBody>
                    <a:bodyPr wrap="square"/>
                    <a:lstStyle/>
                    <a:p>
                      <a:r>
                        <a:rPr b="0" sz="700">
                          <a:solidFill>
                            <a:srgbClr val="555555"/>
                          </a:solidFill>
                          <a:latin typeface="Calibri"/>
                        </a:rPr>
                        <a:t>Whether the tool returns real content, and a real "not found" for an address that does not exist.</a:t>
                      </a:r>
                    </a:p>
                  </a:txBody>
                  <a:tcPr marT="9144" marB="9144">
                    <a:solidFill>
                      <a:srgbClr val="FFFFFF"/>
                    </a:solidFill>
                  </a:tcPr>
                </a:tc>
                <a:tc>
                  <a:txBody>
                    <a:bodyPr wrap="square"/>
                    <a:lstStyle/>
                    <a:p>
                      <a:r>
                        <a:rPr b="0" sz="700">
                          <a:solidFill>
                            <a:srgbClr val="555555"/>
                          </a:solidFill>
                          <a:latin typeface="Calibri"/>
                        </a:rPr>
                        <a:t>An internet standard defines a "not found" answer; the minimum amount of readable text is this project's rule.</a:t>
                      </a:r>
                    </a:p>
                  </a:txBody>
                  <a:tcPr marT="9144" marB="9144">
                    <a:solidFill>
                      <a:srgbClr val="FFFFFF"/>
                    </a:solidFill>
                  </a:tcPr>
                </a:tc>
              </a:tr>
              <a:tr h="274320">
                <a:tc>
                  <a:txBody>
                    <a:bodyPr wrap="square"/>
                    <a:lstStyle/>
                    <a:p>
                      <a:r>
                        <a:rPr b="0" sz="700">
                          <a:solidFill>
                            <a:srgbClr val="000000"/>
                          </a:solidFill>
                          <a:latin typeface="Calibri"/>
                        </a:rPr>
                        <a:t>What the site states about automated access (The site's own statement, not scored)</a:t>
                      </a:r>
                    </a:p>
                  </a:txBody>
                  <a:tcPr marT="9144" marB="9144">
                    <a:solidFill>
                      <a:srgbClr val="FFFFFF"/>
                    </a:solidFill>
                  </a:tcPr>
                </a:tc>
                <a:tc>
                  <a:txBody>
                    <a:bodyPr wrap="square"/>
                    <a:lstStyle/>
                    <a:p>
                      <a:r>
                        <a:rPr b="0" sz="700">
                          <a:solidFill>
                            <a:srgbClr val="555555"/>
                          </a:solidFill>
                          <a:latin typeface="Calibri"/>
                        </a:rPr>
                        <a:t>The site's instructions to automated visitors, and the matching tags carried on the data page.</a:t>
                      </a:r>
                    </a:p>
                  </a:txBody>
                  <a:tcPr marT="9144" marB="9144">
                    <a:solidFill>
                      <a:srgbClr val="FFFFFF"/>
                    </a:solidFill>
                  </a:tcPr>
                </a:tc>
                <a:tc>
                  <a:txBody>
                    <a:bodyPr wrap="square"/>
                    <a:lstStyle/>
                    <a:p>
                      <a:r>
                        <a:rPr b="0" sz="700">
                          <a:solidFill>
                            <a:srgbClr val="555555"/>
                          </a:solidFill>
                          <a:latin typeface="Calibri"/>
                        </a:rPr>
                        <a:t>What the agency has put in writing about which automated visitors may read the page.</a:t>
                      </a:r>
                    </a:p>
                  </a:txBody>
                  <a:tcPr marT="9144" marB="9144">
                    <a:solidFill>
                      <a:srgbClr val="FFFFFF"/>
                    </a:solidFill>
                  </a:tcPr>
                </a:tc>
                <a:tc>
                  <a:txBody>
                    <a:bodyPr wrap="square"/>
                    <a:lstStyle/>
                    <a:p>
                      <a:r>
                        <a:rPr b="0" sz="700">
                          <a:solidFill>
                            <a:srgbClr val="555555"/>
                          </a:solidFill>
                          <a:latin typeface="Calibri"/>
                        </a:rPr>
                        <a:t>The internet standard for that instructions file says it is not a lock; this records a statement and is not scored.</a:t>
                      </a:r>
                    </a:p>
                  </a:txBody>
                  <a:tcPr marT="9144" marB="9144">
                    <a:solidFill>
                      <a:srgbClr val="FFFFFF"/>
                    </a:solidFill>
                  </a:tcPr>
                </a:tc>
              </a:tr>
              <a:tr h="274320">
                <a:tc>
                  <a:txBody>
                    <a:bodyPr wrap="square"/>
                    <a:lstStyle/>
                    <a:p>
                      <a:r>
                        <a:rPr b="0" sz="700">
                          <a:solidFill>
                            <a:srgbClr val="000000"/>
                          </a:solidFill>
                          <a:latin typeface="Calibri"/>
                        </a:rPr>
                        <a:t>The site serves what its own rules permit (Under review, not scored)</a:t>
                      </a:r>
                    </a:p>
                  </a:txBody>
                  <a:tcPr marT="9144" marB="9144">
                    <a:solidFill>
                      <a:srgbClr val="FFFFFF"/>
                    </a:solidFill>
                  </a:tcPr>
                </a:tc>
                <a:tc>
                  <a:txBody>
                    <a:bodyPr wrap="square"/>
                    <a:lstStyle/>
                    <a:p>
                      <a:r>
                        <a:rPr b="0" sz="700">
                          <a:solidFill>
                            <a:srgbClr val="555555"/>
                          </a:solidFill>
                          <a:latin typeface="Calibri"/>
                        </a:rPr>
                        <a:t>Those same visitor instructions, then the data page, both requested under one fixed name.</a:t>
                      </a:r>
                    </a:p>
                  </a:txBody>
                  <a:tcPr marT="9144" marB="9144">
                    <a:solidFill>
                      <a:srgbClr val="FFFFFF"/>
                    </a:solidFill>
                  </a:tcPr>
                </a:tc>
                <a:tc>
                  <a:txBody>
                    <a:bodyPr wrap="square"/>
                    <a:lstStyle/>
                    <a:p>
                      <a:r>
                        <a:rPr b="0" sz="700">
                          <a:solidFill>
                            <a:srgbClr val="555555"/>
                          </a:solidFill>
                          <a:latin typeface="Calibri"/>
                        </a:rPr>
                        <a:t>Whether the site actually delivers a page its own stated policy allows.</a:t>
                      </a:r>
                    </a:p>
                  </a:txBody>
                  <a:tcPr marT="9144" marB="9144">
                    <a:solidFill>
                      <a:srgbClr val="FFFFFF"/>
                    </a:solidFill>
                  </a:tcPr>
                </a:tc>
                <a:tc>
                  <a:txBody>
                    <a:bodyPr wrap="square"/>
                    <a:lstStyle/>
                    <a:p>
                      <a:r>
                        <a:rPr b="0" sz="700">
                          <a:solidFill>
                            <a:srgbClr val="555555"/>
                          </a:solidFill>
                          <a:latin typeface="Calibri"/>
                        </a:rPr>
                        <a:t>Comparing what a site says with what it does is this project's own idea, still under review.</a:t>
                      </a:r>
                    </a:p>
                  </a:txBody>
                  <a:tcPr marT="9144" marB="9144">
                    <a:solidFill>
                      <a:srgbClr val="FFFFFF"/>
                    </a:solidFill>
                  </a:tcPr>
                </a:tc>
              </a:tr>
              <a:tr h="274320">
                <a:tc>
                  <a:txBody>
                    <a:bodyPr wrap="square"/>
                    <a:lstStyle/>
                    <a:p>
                      <a:r>
                        <a:rPr b="0" sz="700">
                          <a:solidFill>
                            <a:srgbClr val="000000"/>
                          </a:solidFill>
                          <a:latin typeface="Calibri"/>
                        </a:rPr>
                        <a:t>From a data page to the data service, terms, change log and inventory (Not scored, shown for openness)</a:t>
                      </a:r>
                    </a:p>
                  </a:txBody>
                  <a:tcPr marT="9144" marB="9144">
                    <a:solidFill>
                      <a:srgbClr val="FFFFFF"/>
                    </a:solidFill>
                  </a:tcPr>
                </a:tc>
                <a:tc>
                  <a:txBody>
                    <a:bodyPr wrap="square"/>
                    <a:lstStyle/>
                    <a:p>
                      <a:r>
                        <a:rPr b="0" sz="700">
                          <a:solidFill>
                            <a:srgbClr val="555555"/>
                          </a:solidFill>
                          <a:latin typeface="Calibri"/>
                        </a:rPr>
                        <a:t>Links on one data page, and the known addresses of the agency's data service, its terms of use, its change log and its data inventory.</a:t>
                      </a:r>
                    </a:p>
                  </a:txBody>
                  <a:tcPr marT="9144" marB="9144">
                    <a:solidFill>
                      <a:srgbClr val="FFFFFF"/>
                    </a:solidFill>
                  </a:tcPr>
                </a:tc>
                <a:tc>
                  <a:txBody>
                    <a:bodyPr wrap="square"/>
                    <a:lstStyle/>
                    <a:p>
                      <a:r>
                        <a:rPr b="0" sz="700">
                          <a:solidFill>
                            <a:srgbClr val="555555"/>
                          </a:solidFill>
                          <a:latin typeface="Calibri"/>
                        </a:rPr>
                        <a:t>Whether a program that starts on a data page can find everything the agency offers for machines.</a:t>
                      </a:r>
                    </a:p>
                  </a:txBody>
                  <a:tcPr marT="9144" marB="9144">
                    <a:solidFill>
                      <a:srgbClr val="FFFFFF"/>
                    </a:solidFill>
                  </a:tcPr>
                </a:tc>
                <a:tc>
                  <a:txBody>
                    <a:bodyPr wrap="square"/>
                    <a:lstStyle/>
                    <a:p>
                      <a:r>
                        <a:rPr b="0" sz="700">
                          <a:solidFill>
                            <a:srgbClr val="555555"/>
                          </a:solidFill>
                          <a:latin typeface="Calibri"/>
                        </a:rPr>
                        <a:t>A web standard sets an address for listing data services, and an OMB memo fixes where the inventory lives; joining the four is this project's rule.</a:t>
                      </a:r>
                    </a:p>
                  </a:txBody>
                  <a:tcPr marT="9144" marB="9144">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b="1" sz="2800">
                <a:solidFill>
                  <a:srgbClr val="C25600"/>
                </a:solidFill>
                <a:latin typeface="Calibri"/>
              </a:rPr>
              <a:t>The checks: Understandable, Open, Release</a:t>
            </a:r>
          </a:p>
        </p:txBody>
      </p:sp>
      <p:graphicFrame>
        <p:nvGraphicFramePr>
          <p:cNvPr id="3" name="Table 2"/>
          <p:cNvGraphicFramePr>
            <a:graphicFrameLocks noGrp="1"/>
          </p:cNvGraphicFramePr>
          <p:nvPr/>
        </p:nvGraphicFramePr>
        <p:xfrm>
          <a:off x="365760" y="1143000"/>
          <a:ext cx="11430000" cy="2194560"/>
        </p:xfrm>
        <a:graphic>
          <a:graphicData uri="http://schemas.openxmlformats.org/drawingml/2006/table">
            <a:tbl>
              <a:tblPr>
                <a:tableStyleId>{5C22544A-7EE6-4342-B048-85BDC9FD1C3A}</a:tableStyleId>
              </a:tblPr>
              <a:tblGrid>
                <a:gridCol w="2377440"/>
                <a:gridCol w="3108960"/>
                <a:gridCol w="2926080"/>
                <a:gridCol w="3017520"/>
              </a:tblGrid>
              <a:tr h="274320">
                <a:tc>
                  <a:txBody>
                    <a:bodyPr wrap="square"/>
                    <a:lstStyle/>
                    <a:p>
                      <a:r>
                        <a:rPr b="1" sz="1100">
                          <a:solidFill>
                            <a:srgbClr val="C25600"/>
                          </a:solidFill>
                          <a:latin typeface="Calibri"/>
                        </a:rPr>
                        <a:t>Check</a:t>
                      </a:r>
                    </a:p>
                  </a:txBody>
                  <a:tcPr marT="9144" marB="9144">
                    <a:solidFill>
                      <a:srgbClr val="FFFFFF"/>
                    </a:solidFill>
                  </a:tcPr>
                </a:tc>
                <a:tc>
                  <a:txBody>
                    <a:bodyPr wrap="square"/>
                    <a:lstStyle/>
                    <a:p>
                      <a:r>
                        <a:rPr b="1" sz="1100">
                          <a:solidFill>
                            <a:srgbClr val="C25600"/>
                          </a:solidFill>
                          <a:latin typeface="Calibri"/>
                        </a:rPr>
                        <a:t>What we ask your site for</a:t>
                      </a:r>
                    </a:p>
                  </a:txBody>
                  <a:tcPr marT="9144" marB="9144">
                    <a:solidFill>
                      <a:srgbClr val="FFFFFF"/>
                    </a:solidFill>
                  </a:tcPr>
                </a:tc>
                <a:tc>
                  <a:txBody>
                    <a:bodyPr wrap="square"/>
                    <a:lstStyle/>
                    <a:p>
                      <a:r>
                        <a:rPr b="1" sz="1100">
                          <a:solidFill>
                            <a:srgbClr val="C25600"/>
                          </a:solidFill>
                          <a:latin typeface="Calibri"/>
                        </a:rPr>
                        <a:t>What it tells us</a:t>
                      </a:r>
                    </a:p>
                  </a:txBody>
                  <a:tcPr marT="9144" marB="9144">
                    <a:solidFill>
                      <a:srgbClr val="FFFFFF"/>
                    </a:solidFill>
                  </a:tcPr>
                </a:tc>
                <a:tc>
                  <a:txBody>
                    <a:bodyPr wrap="square"/>
                    <a:lstStyle/>
                    <a:p>
                      <a:r>
                        <a:rPr b="1" sz="1100">
                          <a:solidFill>
                            <a:srgbClr val="C25600"/>
                          </a:solidFill>
                          <a:latin typeface="Calibri"/>
                        </a:rPr>
                        <a:t>Why it matters</a:t>
                      </a:r>
                    </a:p>
                  </a:txBody>
                  <a:tcPr marT="9144" marB="9144">
                    <a:solidFill>
                      <a:srgbClr val="FFFFFF"/>
                    </a:solidFill>
                  </a:tcPr>
                </a:tc>
              </a:tr>
              <a:tr h="274320">
                <a:tc>
                  <a:txBody>
                    <a:bodyPr wrap="square"/>
                    <a:lstStyle/>
                    <a:p>
                      <a:r>
                        <a:rPr b="1" sz="1100">
                          <a:solidFill>
                            <a:srgbClr val="C25600"/>
                          </a:solidFill>
                          <a:latin typeface="Calibri"/>
                        </a:rPr>
                        <a:t>Understandable</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r>
              <a:tr h="274320">
                <a:tc>
                  <a:txBody>
                    <a:bodyPr wrap="square"/>
                    <a:lstStyle/>
                    <a:p>
                      <a:r>
                        <a:rPr b="0" sz="1000">
                          <a:solidFill>
                            <a:srgbClr val="000000"/>
                          </a:solidFill>
                          <a:latin typeface="Calibri"/>
                        </a:rPr>
                        <a:t>The methods are readable as plain text (Not scored, shown for openness)</a:t>
                      </a:r>
                    </a:p>
                  </a:txBody>
                  <a:tcPr marT="9144" marB="9144">
                    <a:solidFill>
                      <a:srgbClr val="FFFFFF"/>
                    </a:solidFill>
                  </a:tcPr>
                </a:tc>
                <a:tc>
                  <a:txBody>
                    <a:bodyPr wrap="square"/>
                    <a:lstStyle/>
                    <a:p>
                      <a:r>
                        <a:rPr b="0" sz="1000">
                          <a:solidFill>
                            <a:srgbClr val="555555"/>
                          </a:solidFill>
                          <a:latin typeface="Calibri"/>
                        </a:rPr>
                        <a:t>The data page and up to twenty-five of its links that mention methodology.</a:t>
                      </a:r>
                    </a:p>
                  </a:txBody>
                  <a:tcPr marT="9144" marB="9144">
                    <a:solidFill>
                      <a:srgbClr val="FFFFFF"/>
                    </a:solidFill>
                  </a:tcPr>
                </a:tc>
                <a:tc>
                  <a:txBody>
                    <a:bodyPr wrap="square"/>
                    <a:lstStyle/>
                    <a:p>
                      <a:r>
                        <a:rPr b="0" sz="1000">
                          <a:solidFill>
                            <a:srgbClr val="555555"/>
                          </a:solidFill>
                          <a:latin typeface="Calibri"/>
                        </a:rPr>
                        <a:t>Whether a program can read how the numbers were made without running the programs built into the page.</a:t>
                      </a:r>
                    </a:p>
                  </a:txBody>
                  <a:tcPr marT="9144" marB="9144">
                    <a:solidFill>
                      <a:srgbClr val="FFFFFF"/>
                    </a:solidFill>
                  </a:tcPr>
                </a:tc>
                <a:tc>
                  <a:txBody>
                    <a:bodyPr wrap="square"/>
                    <a:lstStyle/>
                    <a:p>
                      <a:r>
                        <a:rPr b="0" sz="1000">
                          <a:solidFill>
                            <a:srgbClr val="555555"/>
                          </a:solidFill>
                          <a:latin typeface="Calibri"/>
                        </a:rPr>
                        <a:t>A published documentation guide asks that methods be reachable by automated visitors; the no-scripts reading is this project's rule.</a:t>
                      </a:r>
                    </a:p>
                  </a:txBody>
                  <a:tcPr marT="9144" marB="9144">
                    <a:solidFill>
                      <a:srgbClr val="FFFFFF"/>
                    </a:solidFill>
                  </a:tcPr>
                </a:tc>
              </a:tr>
              <a:tr h="274320">
                <a:tc>
                  <a:txBody>
                    <a:bodyPr wrap="square"/>
                    <a:lstStyle/>
                    <a:p>
                      <a:r>
                        <a:rPr b="1" sz="1100">
                          <a:solidFill>
                            <a:srgbClr val="C25600"/>
                          </a:solidFill>
                          <a:latin typeface="Calibri"/>
                        </a:rPr>
                        <a:t>Open</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r>
              <a:tr h="274320">
                <a:tc>
                  <a:txBody>
                    <a:bodyPr wrap="square"/>
                    <a:lstStyle/>
                    <a:p>
                      <a:r>
                        <a:rPr b="1" sz="1000">
                          <a:solidFill>
                            <a:srgbClr val="000000"/>
                          </a:solidFill>
                          <a:latin typeface="Calibri"/>
                        </a:rPr>
                        <a:t>The product is listed in the agency's data inventory (Scored)</a:t>
                      </a:r>
                    </a:p>
                  </a:txBody>
                  <a:tcPr marT="9144" marB="9144">
                    <a:solidFill>
                      <a:srgbClr val="FFFFFF"/>
                    </a:solidFill>
                  </a:tcPr>
                </a:tc>
                <a:tc>
                  <a:txBody>
                    <a:bodyPr wrap="square"/>
                    <a:lstStyle/>
                    <a:p>
                      <a:r>
                        <a:rPr b="0" sz="1000">
                          <a:solidFill>
                            <a:srgbClr val="555555"/>
                          </a:solidFill>
                          <a:latin typeface="Calibri"/>
                        </a:rPr>
                        <a:t>The agency's public data inventory file, called data.json, at each address on record for it.</a:t>
                      </a:r>
                    </a:p>
                  </a:txBody>
                  <a:tcPr marT="9144" marB="9144">
                    <a:solidFill>
                      <a:srgbClr val="FFFFFF"/>
                    </a:solidFill>
                  </a:tcPr>
                </a:tc>
                <a:tc>
                  <a:txBody>
                    <a:bodyPr wrap="square"/>
                    <a:lstStyle/>
                    <a:p>
                      <a:r>
                        <a:rPr b="0" sz="1000">
                          <a:solidFill>
                            <a:srgbClr val="555555"/>
                          </a:solidFill>
                          <a:latin typeface="Calibri"/>
                        </a:rPr>
                        <a:t>Whether the product has a valid entry there, so a catalog can find it.</a:t>
                      </a:r>
                    </a:p>
                  </a:txBody>
                  <a:tcPr marT="9144" marB="9144">
                    <a:solidFill>
                      <a:srgbClr val="FFFFFF"/>
                    </a:solidFill>
                  </a:tcPr>
                </a:tc>
                <a:tc>
                  <a:txBody>
                    <a:bodyPr wrap="square"/>
                    <a:lstStyle/>
                    <a:p>
                      <a:r>
                        <a:rPr b="0" sz="1000">
                          <a:solidFill>
                            <a:srgbClr val="555555"/>
                          </a:solidFill>
                          <a:latin typeface="Calibri"/>
                        </a:rPr>
                        <a:t>An OMB memo requires every agency to keep a complete data inventory at that address.</a:t>
                      </a:r>
                    </a:p>
                  </a:txBody>
                  <a:tcPr marT="9144" marB="9144">
                    <a:solidFill>
                      <a:srgbClr val="FFFFFF"/>
                    </a:solidFill>
                  </a:tcPr>
                </a:tc>
              </a:tr>
              <a:tr h="274320">
                <a:tc>
                  <a:txBody>
                    <a:bodyPr wrap="square"/>
                    <a:lstStyle/>
                    <a:p>
                      <a:r>
                        <a:rPr b="0" sz="1000">
                          <a:solidFill>
                            <a:srgbClr val="000000"/>
                          </a:solidFill>
                          <a:latin typeface="Calibri"/>
                        </a:rPr>
                        <a:t>The terms of reuse, under a recognised name (Not scored, shown for openness)</a:t>
                      </a:r>
                    </a:p>
                  </a:txBody>
                  <a:tcPr marT="9144" marB="9144">
                    <a:solidFill>
                      <a:srgbClr val="FFFFFF"/>
                    </a:solidFill>
                  </a:tcPr>
                </a:tc>
                <a:tc>
                  <a:txBody>
                    <a:bodyPr wrap="square"/>
                    <a:lstStyle/>
                    <a:p>
                      <a:r>
                        <a:rPr b="0" sz="1000">
                          <a:solidFill>
                            <a:srgbClr val="555555"/>
                          </a:solidFill>
                          <a:latin typeface="Calibri"/>
                        </a:rPr>
                        <a:t>The licence named in the page's own description and, where one exists, the data service's terms page.</a:t>
                      </a:r>
                    </a:p>
                  </a:txBody>
                  <a:tcPr marT="9144" marB="9144">
                    <a:solidFill>
                      <a:srgbClr val="FFFFFF"/>
                    </a:solidFill>
                  </a:tcPr>
                </a:tc>
                <a:tc>
                  <a:txBody>
                    <a:bodyPr wrap="square"/>
                    <a:lstStyle/>
                    <a:p>
                      <a:r>
                        <a:rPr b="0" sz="1000">
                          <a:solidFill>
                            <a:srgbClr val="555555"/>
                          </a:solidFill>
                          <a:latin typeface="Calibri"/>
                        </a:rPr>
                        <a:t>Whether a program can tell, from a standard licence name, how it may reuse the data.</a:t>
                      </a:r>
                    </a:p>
                  </a:txBody>
                  <a:tcPr marT="9144" marB="9144">
                    <a:solidFill>
                      <a:srgbClr val="FFFFFF"/>
                    </a:solidFill>
                  </a:tcPr>
                </a:tc>
                <a:tc>
                  <a:txBody>
                    <a:bodyPr wrap="square"/>
                    <a:lstStyle/>
                    <a:p>
                      <a:r>
                        <a:rPr b="0" sz="1000">
                          <a:solidFill>
                            <a:srgbClr val="555555"/>
                          </a:solidFill>
                          <a:latin typeface="Calibri"/>
                        </a:rPr>
                        <a:t>The web's standards body asks for a stated licence; demanding a standard licence identifier is this project's rule.</a:t>
                      </a:r>
                    </a:p>
                  </a:txBody>
                  <a:tcPr marT="9144" marB="9144">
                    <a:solidFill>
                      <a:srgbClr val="FFFFFF"/>
                    </a:solidFill>
                  </a:tcPr>
                </a:tc>
              </a:tr>
              <a:tr h="274320">
                <a:tc>
                  <a:txBody>
                    <a:bodyPr wrap="square"/>
                    <a:lstStyle/>
                    <a:p>
                      <a:r>
                        <a:rPr b="1" sz="1100">
                          <a:solidFill>
                            <a:srgbClr val="C25600"/>
                          </a:solidFill>
                          <a:latin typeface="Calibri"/>
                        </a:rPr>
                        <a:t>Release</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c>
                  <a:txBody>
                    <a:bodyPr wrap="square"/>
                    <a:lstStyle/>
                    <a:p>
                      <a:r>
                        <a:rPr b="0" sz="1000">
                          <a:solidFill>
                            <a:srgbClr val="000000"/>
                          </a:solidFill>
                          <a:latin typeface="Calibri"/>
                        </a:rPr>
                        <a:t/>
                      </a:r>
                    </a:p>
                  </a:txBody>
                  <a:tcPr marT="9144" marB="9144">
                    <a:solidFill>
                      <a:srgbClr val="FFFFFF"/>
                    </a:solidFill>
                  </a:tcPr>
                </a:tc>
              </a:tr>
              <a:tr h="274320">
                <a:tc>
                  <a:txBody>
                    <a:bodyPr wrap="square"/>
                    <a:lstStyle/>
                    <a:p>
                      <a:r>
                        <a:rPr b="0" sz="1000">
                          <a:solidFill>
                            <a:srgbClr val="000000"/>
                          </a:solidFill>
                          <a:latin typeface="Calibri"/>
                        </a:rPr>
                        <a:t>A change history a program can follow (Not scored, shown for openness)</a:t>
                      </a:r>
                    </a:p>
                  </a:txBody>
                  <a:tcPr marT="9144" marB="9144">
                    <a:solidFill>
                      <a:srgbClr val="FFFFFF"/>
                    </a:solidFill>
                  </a:tcPr>
                </a:tc>
                <a:tc>
                  <a:txBody>
                    <a:bodyPr wrap="square"/>
                    <a:lstStyle/>
                    <a:p>
                      <a:r>
                        <a:rPr b="0" sz="1000">
                          <a:solidFill>
                            <a:srgbClr val="555555"/>
                          </a:solidFill>
                          <a:latin typeface="Calibri"/>
                        </a:rPr>
                        <a:t>The agency's change log or release notes, at each address on record.</a:t>
                      </a:r>
                    </a:p>
                  </a:txBody>
                  <a:tcPr marT="9144" marB="9144">
                    <a:solidFill>
                      <a:srgbClr val="FFFFFF"/>
                    </a:solidFill>
                  </a:tcPr>
                </a:tc>
                <a:tc>
                  <a:txBody>
                    <a:bodyPr wrap="square"/>
                    <a:lstStyle/>
                    <a:p>
                      <a:r>
                        <a:rPr b="0" sz="1000">
                          <a:solidFill>
                            <a:srgbClr val="555555"/>
                          </a:solidFill>
                          <a:latin typeface="Calibri"/>
                        </a:rPr>
                        <a:t>Whether software can see what changed between releases from a structured list of changes.</a:t>
                      </a:r>
                    </a:p>
                  </a:txBody>
                  <a:tcPr marT="9144" marB="9144">
                    <a:solidFill>
                      <a:srgbClr val="FFFFFF"/>
                    </a:solidFill>
                  </a:tcPr>
                </a:tc>
                <a:tc>
                  <a:txBody>
                    <a:bodyPr wrap="square"/>
                    <a:lstStyle/>
                    <a:p>
                      <a:r>
                        <a:rPr b="0" sz="1000">
                          <a:solidFill>
                            <a:srgbClr val="555555"/>
                          </a:solidFill>
                          <a:latin typeface="Calibri"/>
                        </a:rPr>
                        <a:t>The World Wide Web Consortium asks publishers for a full version history; requiring it in a fixed structured form is this project's rule.</a:t>
                      </a:r>
                    </a:p>
                  </a:txBody>
                  <a:tcPr marT="9144" marB="9144">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b="1" sz="2800">
                <a:solidFill>
                  <a:srgbClr val="C25600"/>
                </a:solidFill>
                <a:latin typeface="Calibri"/>
              </a:rPr>
              <a:t>Results by agency</a:t>
            </a:r>
          </a:p>
        </p:txBody>
      </p:sp>
      <p:sp>
        <p:nvSpPr>
          <p:cNvPr id="3" name="TextBox 2"/>
          <p:cNvSpPr txBox="1"/>
          <p:nvPr/>
        </p:nvSpPr>
        <p:spPr>
          <a:xfrm>
            <a:off x="548640" y="868680"/>
            <a:ext cx="11064240" cy="548640"/>
          </a:xfrm>
          <a:prstGeom prst="rect">
            <a:avLst/>
          </a:prstGeom>
          <a:noFill/>
        </p:spPr>
        <p:txBody>
          <a:bodyPr wrap="square">
            <a:spAutoFit/>
          </a:bodyPr>
          <a:lstStyle/>
          <a:p>
            <a:r>
              <a:rPr b="0" sz="1200">
                <a:solidFill>
                  <a:srgbClr val="000000"/>
                </a:solidFill>
                <a:latin typeface="Calibri"/>
              </a:rPr>
              <a:t>Across the 64 agency results on the scored checks, 8 pass, 0 are partial, 15 fail and 41 are not measured; for 3 agencies no scored check could be measured.</a:t>
            </a:r>
          </a:p>
        </p:txBody>
      </p:sp>
      <p:graphicFrame>
        <p:nvGraphicFramePr>
          <p:cNvPr id="4" name="Table 3"/>
          <p:cNvGraphicFramePr>
            <a:graphicFrameLocks noGrp="1"/>
          </p:cNvGraphicFramePr>
          <p:nvPr/>
        </p:nvGraphicFramePr>
        <p:xfrm>
          <a:off x="365760" y="1325880"/>
          <a:ext cx="11795760" cy="4608576"/>
        </p:xfrm>
        <a:graphic>
          <a:graphicData uri="http://schemas.openxmlformats.org/drawingml/2006/table">
            <a:tbl>
              <a:tblPr>
                <a:tableStyleId>{5C22544A-7EE6-4342-B048-85BDC9FD1C3A}</a:tableStyleId>
              </a:tblPr>
              <a:tblGrid>
                <a:gridCol w="4846320"/>
                <a:gridCol w="1737360"/>
                <a:gridCol w="1737360"/>
                <a:gridCol w="1737360"/>
                <a:gridCol w="1737360"/>
              </a:tblGrid>
              <a:tr h="219456">
                <a:tc>
                  <a:txBody>
                    <a:bodyPr wrap="square"/>
                    <a:lstStyle/>
                    <a:p>
                      <a:r>
                        <a:rPr b="1" sz="700">
                          <a:solidFill>
                            <a:srgbClr val="C25600"/>
                          </a:solidFill>
                          <a:latin typeface="Calibri"/>
                        </a:rPr>
                        <a:t>Agency</a:t>
                      </a:r>
                    </a:p>
                  </a:txBody>
                  <a:tcPr marT="9144" marB="9144">
                    <a:solidFill>
                      <a:srgbClr val="FFFFFF"/>
                    </a:solidFill>
                  </a:tcPr>
                </a:tc>
                <a:tc>
                  <a:txBody>
                    <a:bodyPr wrap="square"/>
                    <a:lstStyle/>
                    <a:p>
                      <a:r>
                        <a:rPr b="1" sz="700">
                          <a:solidFill>
                            <a:srgbClr val="C25600"/>
                          </a:solidFill>
                          <a:latin typeface="Calibri"/>
                        </a:rPr>
                        <a:t>Data offered as a file a program can read</a:t>
                      </a:r>
                    </a:p>
                  </a:txBody>
                  <a:tcPr marT="9144" marB="9144">
                    <a:solidFill>
                      <a:srgbClr val="FFFFFF"/>
                    </a:solidFill>
                  </a:tcPr>
                </a:tc>
                <a:tc>
                  <a:txBody>
                    <a:bodyPr wrap="square"/>
                    <a:lstStyle/>
                    <a:p>
                      <a:r>
                        <a:rPr b="1" sz="700">
                          <a:solidFill>
                            <a:srgbClr val="C25600"/>
                          </a:solidFill>
                          <a:latin typeface="Calibri"/>
                        </a:rPr>
                        <a:t>The whole dataset in one download</a:t>
                      </a:r>
                    </a:p>
                  </a:txBody>
                  <a:tcPr marT="9144" marB="9144">
                    <a:solidFill>
                      <a:srgbClr val="FFFFFF"/>
                    </a:solidFill>
                  </a:tcPr>
                </a:tc>
                <a:tc>
                  <a:txBody>
                    <a:bodyPr wrap="square"/>
                    <a:lstStyle/>
                    <a:p>
                      <a:r>
                        <a:rPr b="1" sz="700">
                          <a:solidFill>
                            <a:srgbClr val="C25600"/>
                          </a:solidFill>
                          <a:latin typeface="Calibri"/>
                        </a:rPr>
                        <a:t>The data page is in the site's list of pages</a:t>
                      </a:r>
                    </a:p>
                  </a:txBody>
                  <a:tcPr marT="9144" marB="9144">
                    <a:solidFill>
                      <a:srgbClr val="FFFFFF"/>
                    </a:solidFill>
                  </a:tcPr>
                </a:tc>
                <a:tc>
                  <a:txBody>
                    <a:bodyPr wrap="square"/>
                    <a:lstStyle/>
                    <a:p>
                      <a:r>
                        <a:rPr b="1" sz="700">
                          <a:solidFill>
                            <a:srgbClr val="C25600"/>
                          </a:solidFill>
                          <a:latin typeface="Calibri"/>
                        </a:rPr>
                        <a:t>The product is listed in the agency's data inventory</a:t>
                      </a:r>
                    </a:p>
                  </a:txBody>
                  <a:tcPr marT="9144" marB="9144">
                    <a:solidFill>
                      <a:srgbClr val="FFFFFF"/>
                    </a:solidFill>
                  </a:tcPr>
                </a:tc>
              </a:tr>
              <a:tr h="219456">
                <a:tc>
                  <a:txBody>
                    <a:bodyPr wrap="square"/>
                    <a:lstStyle/>
                    <a:p>
                      <a:r>
                        <a:rPr b="0" sz="700">
                          <a:solidFill>
                            <a:srgbClr val="000000"/>
                          </a:solidFill>
                          <a:latin typeface="Calibri"/>
                        </a:rPr>
                        <a:t>Bureau of Economic Analysis (BEA)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Bureau of Justice Statistics (BJS)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r>
              <a:tr h="219456">
                <a:tc>
                  <a:txBody>
                    <a:bodyPr wrap="square"/>
                    <a:lstStyle/>
                    <a:p>
                      <a:r>
                        <a:rPr b="0" sz="700">
                          <a:solidFill>
                            <a:srgbClr val="000000"/>
                          </a:solidFill>
                          <a:latin typeface="Calibri"/>
                        </a:rPr>
                        <a:t>Bureau of Labor Statistics (BLS)</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Bureau of the Census (CENSUS)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Bureau of Transportation Statistics (BTS)</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Division of Research and Statistics, Microeconomic Surveys Unit (DRSMSU)</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r>
              <a:tr h="219456">
                <a:tc>
                  <a:txBody>
                    <a:bodyPr wrap="square"/>
                    <a:lstStyle/>
                    <a:p>
                      <a:r>
                        <a:rPr b="0" sz="700">
                          <a:solidFill>
                            <a:srgbClr val="000000"/>
                          </a:solidFill>
                          <a:latin typeface="Calibri"/>
                        </a:rPr>
                        <a:t>Economic Research Service (ERS)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Energy Information Administration (EIA)</a:t>
                      </a:r>
                    </a:p>
                  </a:txBody>
                  <a:tcPr marT="9144" marB="9144">
                    <a:solidFill>
                      <a:srgbClr val="FFFFFF"/>
                    </a:solidFill>
                  </a:tcPr>
                </a:tc>
                <a:tc>
                  <a:txBody>
                    <a:bodyPr wrap="square"/>
                    <a:lstStyle/>
                    <a:p>
                      <a:r>
                        <a:rPr b="0" sz="700">
                          <a:solidFill>
                            <a:srgbClr val="000000"/>
                          </a:solidFill>
                          <a:latin typeface="Calibri"/>
                        </a:rPr>
                        <a:t>Not measured (c)</a:t>
                      </a:r>
                    </a:p>
                  </a:txBody>
                  <a:tcPr marT="9144" marB="9144">
                    <a:solidFill>
                      <a:srgbClr val="FFFFFF"/>
                    </a:solidFill>
                  </a:tcPr>
                </a:tc>
                <a:tc>
                  <a:txBody>
                    <a:bodyPr wrap="square"/>
                    <a:lstStyle/>
                    <a:p>
                      <a:r>
                        <a:rPr b="0" sz="700">
                          <a:solidFill>
                            <a:srgbClr val="000000"/>
                          </a:solidFill>
                          <a:latin typeface="Calibri"/>
                        </a:rPr>
                        <a:t>Not measured (c)</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r>
              <a:tr h="219456">
                <a:tc>
                  <a:txBody>
                    <a:bodyPr wrap="square"/>
                    <a:lstStyle/>
                    <a:p>
                      <a:r>
                        <a:rPr b="0" sz="700">
                          <a:solidFill>
                            <a:srgbClr val="000000"/>
                          </a:solidFill>
                          <a:latin typeface="Calibri"/>
                        </a:rPr>
                        <a:t>National Agricultural Statistics Service (NASS)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National Animal Health Monitoring System, Animal and Plant Health Inspection Service (NAHMSAPHIS)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National Center for Education Statistics (NCES)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National Center for Health Statistics (NCHS)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National Center for Science and Engineering Statistics (NCSES)</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Pass</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r>
              <a:tr h="219456">
                <a:tc>
                  <a:txBody>
                    <a:bodyPr wrap="square"/>
                    <a:lstStyle/>
                    <a:p>
                      <a:r>
                        <a:rPr b="0" sz="700">
                          <a:solidFill>
                            <a:srgbClr val="000000"/>
                          </a:solidFill>
                          <a:latin typeface="Calibri"/>
                        </a:rPr>
                        <a:t>Office of Research, Evaluation, and Statistics (ORES)</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000000"/>
                          </a:solidFill>
                          <a:latin typeface="Calibri"/>
                        </a:rPr>
                        <a:t>Statistics of Income (SOI)</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r>
              <a:tr h="219456">
                <a:tc>
                  <a:txBody>
                    <a:bodyPr wrap="square"/>
                    <a:lstStyle/>
                    <a:p>
                      <a:r>
                        <a:rPr b="0" sz="700">
                          <a:solidFill>
                            <a:srgbClr val="000000"/>
                          </a:solidFill>
                          <a:latin typeface="Calibri"/>
                        </a:rPr>
                        <a:t>Substance Abuse and Mental Health Services Administration, Center for Behavioral Health Statistics and Quality (SAMHSACBHS)</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Not measured (a)</a:t>
                      </a:r>
                    </a:p>
                  </a:txBody>
                  <a:tcPr marT="9144" marB="9144">
                    <a:solidFill>
                      <a:srgbClr val="FFFFFF"/>
                    </a:solidFill>
                  </a:tcPr>
                </a:tc>
                <a:tc>
                  <a:txBody>
                    <a:bodyPr wrap="square"/>
                    <a:lstStyle/>
                    <a:p>
                      <a:r>
                        <a:rPr b="0" sz="700">
                          <a:solidFill>
                            <a:srgbClr val="000000"/>
                          </a:solidFill>
                          <a:latin typeface="Calibri"/>
                        </a:rPr>
                        <a:t>Fail</a:t>
                      </a:r>
                    </a:p>
                  </a:txBody>
                  <a:tcPr marT="9144" marB="9144">
                    <a:solidFill>
                      <a:srgbClr val="FFFFFF"/>
                    </a:solidFill>
                  </a:tcPr>
                </a:tc>
                <a:tc>
                  <a:txBody>
                    <a:bodyPr wrap="square"/>
                    <a:lstStyle/>
                    <a:p>
                      <a:r>
                        <a:rPr b="0" sz="700">
                          <a:solidFill>
                            <a:srgbClr val="000000"/>
                          </a:solidFill>
                          <a:latin typeface="Calibri"/>
                        </a:rPr>
                        <a:t>Not measured (b)</a:t>
                      </a:r>
                    </a:p>
                  </a:txBody>
                  <a:tcPr marT="9144" marB="9144">
                    <a:solidFill>
                      <a:srgbClr val="FFFFFF"/>
                    </a:solidFill>
                  </a:tcPr>
                </a:tc>
              </a:tr>
              <a:tr h="219456">
                <a:tc>
                  <a:txBody>
                    <a:bodyPr wrap="square"/>
                    <a:lstStyle/>
                    <a:p>
                      <a:r>
                        <a:rPr b="0" sz="700">
                          <a:solidFill>
                            <a:srgbClr val="555555"/>
                          </a:solidFill>
                          <a:latin typeface="Calibri"/>
                        </a:rPr>
                        <a:t>Reference hosts, shown for comparison and counted in no total above.</a:t>
                      </a:r>
                    </a:p>
                  </a:txBody>
                  <a:tcPr marT="9144" marB="9144">
                    <a:solidFill>
                      <a:srgbClr val="FFFFFF"/>
                    </a:solidFill>
                  </a:tcPr>
                </a:tc>
                <a:tc>
                  <a:txBody>
                    <a:bodyPr wrap="square"/>
                    <a:lstStyle/>
                    <a:p>
                      <a:r>
                        <a:rPr b="0" sz="700">
                          <a:solidFill>
                            <a:srgbClr val="555555"/>
                          </a:solidFill>
                          <a:latin typeface="Calibri"/>
                        </a:rPr>
                        <a:t/>
                      </a:r>
                    </a:p>
                  </a:txBody>
                  <a:tcPr marT="9144" marB="9144">
                    <a:solidFill>
                      <a:srgbClr val="FFFFFF"/>
                    </a:solidFill>
                  </a:tcPr>
                </a:tc>
                <a:tc>
                  <a:txBody>
                    <a:bodyPr wrap="square"/>
                    <a:lstStyle/>
                    <a:p>
                      <a:r>
                        <a:rPr b="0" sz="700">
                          <a:solidFill>
                            <a:srgbClr val="555555"/>
                          </a:solidFill>
                          <a:latin typeface="Calibri"/>
                        </a:rPr>
                        <a:t/>
                      </a:r>
                    </a:p>
                  </a:txBody>
                  <a:tcPr marT="9144" marB="9144">
                    <a:solidFill>
                      <a:srgbClr val="FFFFFF"/>
                    </a:solidFill>
                  </a:tcPr>
                </a:tc>
                <a:tc>
                  <a:txBody>
                    <a:bodyPr wrap="square"/>
                    <a:lstStyle/>
                    <a:p>
                      <a:r>
                        <a:rPr b="0" sz="700">
                          <a:solidFill>
                            <a:srgbClr val="555555"/>
                          </a:solidFill>
                          <a:latin typeface="Calibri"/>
                        </a:rPr>
                        <a:t/>
                      </a:r>
                    </a:p>
                  </a:txBody>
                  <a:tcPr marT="9144" marB="9144">
                    <a:solidFill>
                      <a:srgbClr val="FFFFFF"/>
                    </a:solidFill>
                  </a:tcPr>
                </a:tc>
                <a:tc>
                  <a:txBody>
                    <a:bodyPr wrap="square"/>
                    <a:lstStyle/>
                    <a:p>
                      <a:r>
                        <a:rPr b="0" sz="700">
                          <a:solidFill>
                            <a:srgbClr val="555555"/>
                          </a:solidFill>
                          <a:latin typeface="Calibri"/>
                        </a:rPr>
                        <a:t/>
                      </a:r>
                    </a:p>
                  </a:txBody>
                  <a:tcPr marT="9144" marB="9144">
                    <a:solidFill>
                      <a:srgbClr val="FFFFFF"/>
                    </a:solidFill>
                  </a:tcPr>
                </a:tc>
              </a:tr>
              <a:tr h="219456">
                <a:tc>
                  <a:txBody>
                    <a:bodyPr wrap="square"/>
                    <a:lstStyle/>
                    <a:p>
                      <a:r>
                        <a:rPr b="0" sz="700">
                          <a:solidFill>
                            <a:srgbClr val="555555"/>
                          </a:solidFill>
                          <a:latin typeface="Calibri"/>
                        </a:rPr>
                        <a:t>GSA</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c>
                  <a:txBody>
                    <a:bodyPr wrap="square"/>
                    <a:lstStyle/>
                    <a:p>
                      <a:r>
                        <a:rPr b="0" sz="700">
                          <a:solidFill>
                            <a:srgbClr val="555555"/>
                          </a:solidFill>
                          <a:latin typeface="Calibri"/>
                        </a:rPr>
                        <a:t>Fail</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r>
              <a:tr h="219456">
                <a:tc>
                  <a:txBody>
                    <a:bodyPr wrap="square"/>
                    <a:lstStyle/>
                    <a:p>
                      <a:r>
                        <a:rPr b="0" sz="700">
                          <a:solidFill>
                            <a:srgbClr val="555555"/>
                          </a:solidFill>
                          <a:latin typeface="Calibri"/>
                        </a:rPr>
                        <a:t>NIST</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c>
                  <a:txBody>
                    <a:bodyPr wrap="square"/>
                    <a:lstStyle/>
                    <a:p>
                      <a:r>
                        <a:rPr b="0" sz="700">
                          <a:solidFill>
                            <a:srgbClr val="555555"/>
                          </a:solidFill>
                          <a:latin typeface="Calibri"/>
                        </a:rPr>
                        <a:t>Fail</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r>
              <a:tr h="219456">
                <a:tc>
                  <a:txBody>
                    <a:bodyPr wrap="square"/>
                    <a:lstStyle/>
                    <a:p>
                      <a:r>
                        <a:rPr b="0" sz="700">
                          <a:solidFill>
                            <a:srgbClr val="555555"/>
                          </a:solidFill>
                          <a:latin typeface="Calibri"/>
                        </a:rPr>
                        <a:t>data.gov</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c>
                  <a:txBody>
                    <a:bodyPr wrap="square"/>
                    <a:lstStyle/>
                    <a:p>
                      <a:r>
                        <a:rPr b="0" sz="700">
                          <a:solidFill>
                            <a:srgbClr val="555555"/>
                          </a:solidFill>
                          <a:latin typeface="Calibri"/>
                        </a:rPr>
                        <a:t>Fail</a:t>
                      </a:r>
                    </a:p>
                  </a:txBody>
                  <a:tcPr marT="9144" marB="9144">
                    <a:solidFill>
                      <a:srgbClr val="FFFFFF"/>
                    </a:solidFill>
                  </a:tcPr>
                </a:tc>
                <a:tc>
                  <a:txBody>
                    <a:bodyPr wrap="square"/>
                    <a:lstStyle/>
                    <a:p>
                      <a:r>
                        <a:rPr b="0" sz="700">
                          <a:solidFill>
                            <a:srgbClr val="555555"/>
                          </a:solidFill>
                          <a:latin typeface="Calibri"/>
                        </a:rPr>
                        <a:t>Not run (d)</a:t>
                      </a:r>
                    </a:p>
                  </a:txBody>
                  <a:tcPr marT="9144" marB="9144">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b="1" sz="2800">
                <a:solidFill>
                  <a:srgbClr val="C25600"/>
                </a:solidFill>
                <a:latin typeface="Calibri"/>
              </a:rPr>
              <a:t>Each body's public data interface</a:t>
            </a:r>
          </a:p>
        </p:txBody>
      </p:sp>
      <p:sp>
        <p:nvSpPr>
          <p:cNvPr id="3" name="TextBox 2"/>
          <p:cNvSpPr txBox="1"/>
          <p:nvPr/>
        </p:nvSpPr>
        <p:spPr>
          <a:xfrm>
            <a:off x="548640" y="2560320"/>
            <a:ext cx="11064240" cy="5303520"/>
          </a:xfrm>
          <a:prstGeom prst="rect">
            <a:avLst/>
          </a:prstGeom>
          <a:noFill/>
        </p:spPr>
        <p:txBody>
          <a:bodyPr wrap="square">
            <a:spAutoFit/>
          </a:bodyPr>
          <a:lstStyle/>
          <a:p>
            <a:r>
              <a:rPr b="0" sz="1800">
                <a:solidFill>
                  <a:srgbClr val="000000"/>
                </a:solidFill>
                <a:latin typeface="Calibri"/>
              </a:rPr>
              <a:t>The table of each body's public data interface follows next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
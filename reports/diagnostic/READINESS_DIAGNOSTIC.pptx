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links a structured data file</a:t>
            </a:r>
          </a:p>
          <a:p>
            <a:r>
              <a:t>  Where we look: On the agency's data page, and the files linked from that page that sit on the same website as the page itself.</a:t>
            </a:r>
          </a:p>
          <a:p>
            <a:r>
              <a:t>  Pass: A link on this data page, on the page's own website, returned a file that the server labeled by its media type, or the address named by its file extension, as a structured data format: CSV, JSON, XML, spreadsheet or Parquet. Every data page that was looked at met this.</a:t>
            </a:r>
          </a:p>
          <a:p/>
          <a:p>
            <a:r>
              <a:t>OpenAPI description served at the recorded API address</a:t>
            </a:r>
          </a:p>
          <a:p>
            <a:r>
              <a:t>  Where we look: At the data-interface address recorded for the agency in the project's records (read from the agency's own pages or seeded from a named source such as a developer page or a public catalog), and any description document recorded beside that address.</a:t>
            </a:r>
          </a:p>
          <a:p>
            <a:r>
              <a:t>  Pass: (not scored; no verdict)</a:t>
            </a:r>
          </a:p>
          <a:p/>
          <a:p>
            <a:r>
              <a:t>Page links an archive or large unfiltered file</a:t>
            </a:r>
          </a:p>
          <a:p>
            <a:r>
              <a:t>  Where we look: On the agency's data page, and the files linked from that page that sit on the same website as the page itself.</a:t>
            </a:r>
          </a:p>
          <a:p>
            <a:r>
              <a:t>  Pass: This data page links, on its own website, an archive file (named by its extension) or a file that is not a web page, carries no query in its address, and is at least fifty kibibytes. It is not verified to be the complete product. Every data page that was looked at met this.</a:t>
            </a:r>
          </a:p>
          <a:p/>
          <a:p>
            <a:r>
              <a:t>robots.txt permits eight listed crawler tokens</a:t>
            </a:r>
          </a:p>
          <a:p>
            <a:r>
              <a:t>  Where we look: The single robots.txt file at the root of the agency's website, taken one host per agency.</a:t>
            </a:r>
          </a:p>
          <a:p>
            <a:r>
              <a:t>  Pass: (not scored; no verdict)</a:t>
            </a:r>
          </a:p>
          <a:p/>
          <a:p>
            <a:r>
              <a:t>The site's sitemap lists the data page</a:t>
            </a:r>
          </a:p>
          <a:p>
            <a:r>
              <a:t>  Where we look: The sitemap files at the standard locations on the agency's own site (a sitemap, a sitemap index, and any sitemap the site's robots.txt names on that same site), plus an llms.txt and the well-known discovery paths.</a:t>
            </a:r>
          </a:p>
          <a:p>
            <a:r>
              <a:t>  Pass: Every data page looked at was found listed: a sitemap served on the agency's own site carries the page's address exactly as the diagnostic records it.</a:t>
            </a:r>
          </a:p>
          <a:p/>
          <a:p>
            <a:r>
              <a:t>Page markup declares a named, described dataset</a:t>
            </a:r>
          </a:p>
          <a:p>
            <a:r>
              <a:t>  Where we look: The data page itself, reading the structured markup embedded in the page as it is served.</a:t>
            </a:r>
          </a:p>
          <a:p>
            <a:r>
              <a:t>  Pass: (not scored; no verdict)</a:t>
            </a:r>
          </a:p>
          <a:p/>
          <a:p>
            <a:r>
              <a:t>Markup dates the data; a latest-version link resolves</a:t>
            </a:r>
          </a:p>
          <a:p>
            <a:r>
              <a:t>  Where we look: The data page itself (its structured date markup and the server's last-modified header) and up to three links on the same site that point to the latest version.</a:t>
            </a:r>
          </a:p>
          <a:p>
            <a:r>
              <a:t>  Pass: (not scored; no verdict)</a:t>
            </a:r>
          </a:p>
          <a:p/>
          <a:p>
            <a:r>
              <a:t>A machine address returns a non-page file</a:t>
            </a:r>
          </a:p>
          <a:p>
            <a:r>
              <a:t>  Where we look: A fixed handful of machine addresses this project checks on the agency's site: the recorded API base and its description, the /.well-known/mcp path, and /llms.txt.</a:t>
            </a:r>
          </a:p>
          <a:p>
            <a:r>
              <a:t>  Pass: (not scored; no verdict)</a:t>
            </a:r>
          </a:p>
          <a:p/>
          <a:p>
            <a:r>
              <a:t>Data tool answers with real status and content</a:t>
            </a:r>
          </a:p>
          <a:p>
            <a:r>
              <a:t>  Where we look: At the one interactive data tool the agency offers, looked at from the site level: its direct link to a product, and a made-up address beneath that tool.</a:t>
            </a:r>
          </a:p>
          <a:p>
            <a:r>
              <a:t>  Pass: (not scored; no verdict)</a:t>
            </a:r>
          </a:p>
          <a:p/>
          <a:p>
            <a:r>
              <a:t>(no short name)</a:t>
            </a:r>
          </a:p>
          <a:p>
            <a:r>
              <a:t>  Where we look: At the site's robots.txt file and at the robots meta tags carried on the data page.</a:t>
            </a:r>
          </a:p>
          <a:p>
            <a:r>
              <a:t>  Pass: (not scored; no verdict)</a:t>
            </a:r>
          </a:p>
          <a:p/>
          <a:p>
            <a:r>
              <a:t>Host serves the path its robots.txt permits</a:t>
            </a:r>
          </a:p>
          <a:p>
            <a:r>
              <a:t>  Where we look: At the site's robots.txt file and at the data page's web address, both requested as the same identified client.</a:t>
            </a:r>
          </a:p>
          <a:p>
            <a:r>
              <a:t>  Pass: (not scored; no verdict)</a:t>
            </a:r>
          </a:p>
          <a:p/>
          <a:p>
            <a:r>
              <a:t>Page reaches the agency's API, terms, changelog, inventory</a:t>
            </a:r>
          </a:p>
          <a:p>
            <a:r>
              <a:t>  Where we look: At one of the agency's data pages — its links and its response headers — and at the recorded locations where each of the four objects was reported to sit.</a:t>
            </a:r>
          </a:p>
          <a:p>
            <a:r>
              <a:t>  Pass: (not scored; no verdict)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links a methodology readable as text</a:t>
            </a:r>
          </a:p>
          <a:p>
            <a:r>
              <a:t>  Where we look: The data product page itself, and any link on it whose web address or wording contains the word "methodology" (up to twenty-five such links).</a:t>
            </a:r>
          </a:p>
          <a:p>
            <a:r>
              <a:t>  Pass: (not scored; no verdict)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or API terms name a recognised licence</a:t>
            </a:r>
          </a:p>
          <a:p>
            <a:r>
              <a:t>  Where we look: The licence field in the data page's markup, a licence link sent in the page's response headers, and, when an interface for developers is on record, that interface's terms page.</a:t>
            </a:r>
          </a:p>
          <a:p>
            <a:r>
              <a:t>  Pass: (not scored; no verdict)</a:t>
            </a:r>
          </a:p>
          <a:p/>
          <a:p>
            <a:r>
              <a:t>Agency's data.json inventory lists this page, validly</a:t>
            </a:r>
          </a:p>
          <a:p>
            <a:r>
              <a:t>  Where we look: The agency's public data inventory at each location on record for it — its own data.json file, or a catalog recorded for the agency.</a:t>
            </a:r>
          </a:p>
          <a:p>
            <a:r>
              <a:t>  Pass: Every data page that was looked at appears in a record that names its address in a DCAT-US address field, inside an inventory that conforms to the federal metadata schema.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history served as a structured feed</a:t>
            </a:r>
          </a:p>
          <a:p>
            <a:r>
              <a:t>  Where we look: Each change-log or release-notes location on record for the agency.</a:t>
            </a:r>
          </a:p>
          <a:p>
            <a:r>
              <a:t>  Pass: (not scored; no verdict)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b="1" sz="2600">
                <a:solidFill>
                  <a:srgbClr val="C25600"/>
                </a:solidFill>
                <a:latin typeface="Calibri"/>
              </a:rPr>
              <a:t>A readiness diagnostic: the public client</a:t>
            </a:r>
          </a:p>
        </p:txBody>
      </p:sp>
      <p:sp>
        <p:nvSpPr>
          <p:cNvPr id="3" name="TextBox 2"/>
          <p:cNvSpPr txBox="1"/>
          <p:nvPr/>
        </p:nvSpPr>
        <p:spPr>
          <a:xfrm>
            <a:off x="548640" y="1280160"/>
            <a:ext cx="11064240" cy="5120640"/>
          </a:xfrm>
          <a:prstGeom prst="rect">
            <a:avLst/>
          </a:prstGeom>
          <a:noFill/>
        </p:spPr>
        <p:txBody>
          <a:bodyPr wrap="square">
            <a:spAutoFit/>
          </a:bodyPr>
          <a:lstStyle/>
          <a:p>
            <a:r>
              <a:rPr b="0" sz="1600">
                <a:solidFill>
                  <a:srgbClr val="000000"/>
                </a:solidFill>
                <a:latin typeface="Calibri"/>
              </a:rPr>
              <a:t>This is a readiness diagnostic: 16 checks run against the public websites of 16 federal statistical bodies, with 3 reference hosts shown beside them, over a named roster of 72 surfaces. Each check is one published question about whether a machine client can reach, read and use the data. The thing that runs the checks is the public client: the least privileged client a member of the public has.</a:t>
            </a:r>
          </a:p>
          <a:p>
            <a:r>
              <a:rPr b="0" sz="1400">
                <a:solidFill>
                  <a:srgbClr val="000000"/>
                </a:solidFill>
                <a:latin typeface="Calibri"/>
              </a:rPr>
              <a:t/>
            </a:r>
          </a:p>
          <a:p>
            <a:r>
              <a:rPr b="1" sz="1600">
                <a:solidFill>
                  <a:srgbClr val="C25600"/>
                </a:solidFill>
                <a:latin typeface="Calibri"/>
              </a:rPr>
              <a:t>How it behaves</a:t>
            </a:r>
          </a:p>
          <a:p>
            <a:r>
              <a:rPr b="0" sz="1200">
                <a:solidFill>
                  <a:srgbClr val="000000"/>
                </a:solidFill>
                <a:latin typeface="Calibri"/>
              </a:rPr>
              <a:t>• The public client identifies itself in every request by one fixed user-agent string, so a security team can find every request it made in its own logs.</a:t>
            </a:r>
          </a:p>
          <a:p>
            <a:r>
              <a:rPr b="0" sz="1200">
                <a:solidFill>
                  <a:srgbClr val="000000"/>
                </a:solidFill>
                <a:latin typeface="Calibri"/>
              </a:rPr>
              <a:t>• It makes one request per check per surface. It holds to 1 request per second per host, and it waits longer when a host's robots.txt asks it to, up to a ceiling of 60 seconds, above which it records the surface as not measured rather than press on.</a:t>
            </a:r>
          </a:p>
          <a:p>
            <a:r>
              <a:rPr b="0" sz="1200">
                <a:solidFill>
                  <a:srgbClr val="000000"/>
                </a:solidFill>
                <a:latin typeface="Calibri"/>
              </a:rPr>
              <a:t>• It honours robots.txt. On the cycle of record it did not fetch 16 surfaces because the host's robots.txt told it not to, and it recorded those as not measured.</a:t>
            </a:r>
          </a:p>
          <a:p>
            <a:r>
              <a:rPr b="0" sz="1200">
                <a:solidFill>
                  <a:srgbClr val="000000"/>
                </a:solidFill>
                <a:latin typeface="Calibri"/>
              </a:rPr>
              <a:t>• At the first rung it presents no credentials of any kind. At the second rung it presents only a key obtained by open public registration.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b="1" sz="2600">
                <a:solidFill>
                  <a:srgbClr val="C25600"/>
                </a:solidFill>
                <a:latin typeface="Calibri"/>
              </a:rPr>
              <a:t>The public client: what it never does, and the four states</a:t>
            </a:r>
          </a:p>
        </p:txBody>
      </p:sp>
      <p:sp>
        <p:nvSpPr>
          <p:cNvPr id="3" name="TextBox 2"/>
          <p:cNvSpPr txBox="1"/>
          <p:nvPr/>
        </p:nvSpPr>
        <p:spPr>
          <a:xfrm>
            <a:off x="548640" y="1280160"/>
            <a:ext cx="11064240" cy="5120640"/>
          </a:xfrm>
          <a:prstGeom prst="rect">
            <a:avLst/>
          </a:prstGeom>
          <a:noFill/>
        </p:spPr>
        <p:txBody>
          <a:bodyPr wrap="square">
            <a:spAutoFit/>
          </a:bodyPr>
          <a:lstStyle/>
          <a:p>
            <a:r>
              <a:rPr b="1" sz="1600">
                <a:solidFill>
                  <a:srgbClr val="C25600"/>
                </a:solidFill>
                <a:latin typeface="Calibri"/>
              </a:rPr>
              <a:t>What it never does</a:t>
            </a:r>
          </a:p>
          <a:p>
            <a:r>
              <a:rPr b="0" sz="1200">
                <a:solidFill>
                  <a:srgbClr val="000000"/>
                </a:solidFill>
                <a:latin typeface="Calibri"/>
              </a:rPr>
              <a:t>• It submits no form and solves no challenge: no CAPTCHA, no sign-in, no search box filled in.</a:t>
            </a:r>
          </a:p>
          <a:p>
            <a:r>
              <a:rPr b="0" sz="1200">
                <a:solidFill>
                  <a:srgbClr val="000000"/>
                </a:solidFill>
                <a:latin typeface="Calibri"/>
              </a:rPr>
              <a:t>• It runs none of a page's scripts; it reads the page as first served.</a:t>
            </a:r>
          </a:p>
          <a:p>
            <a:r>
              <a:rPr b="0" sz="1200">
                <a:solidFill>
                  <a:srgbClr val="000000"/>
                </a:solidFill>
                <a:latin typeface="Calibri"/>
              </a:rPr>
              <a:t>• It fetches nothing beyond a page's own headers and its body: no files a script would build, no addresses reached only through a tool.</a:t>
            </a:r>
          </a:p>
          <a:p>
            <a:r>
              <a:rPr b="0" sz="1200">
                <a:solidFill>
                  <a:srgbClr val="000000"/>
                </a:solidFill>
                <a:latin typeface="Calibri"/>
              </a:rPr>
              <a:t>• It takes no credential a citizen cannot obtain. A rung that needs an agency to grant what a citizen cannot get for themselves is reported as not measured, refused — never scored.</a:t>
            </a:r>
          </a:p>
          <a:p>
            <a:r>
              <a:rPr b="0" sz="1400">
                <a:solidFill>
                  <a:srgbClr val="000000"/>
                </a:solidFill>
                <a:latin typeface="Calibri"/>
              </a:rPr>
              <a:t/>
            </a:r>
          </a:p>
          <a:p>
            <a:r>
              <a:rPr b="1" sz="1600">
                <a:solidFill>
                  <a:srgbClr val="C25600"/>
                </a:solidFill>
                <a:latin typeface="Calibri"/>
              </a:rPr>
              <a:t>The four states</a:t>
            </a:r>
          </a:p>
          <a:p>
            <a:r>
              <a:rPr b="0" sz="1100">
                <a:solidFill>
                  <a:srgbClr val="555555"/>
                </a:solidFill>
                <a:latin typeface="Calibri"/>
              </a:rPr>
              <a:t>A check comes back in one of four states. A pass means every one of the agency's data pages that was looked at met the check; a fail means every one did not; a partial means some met it and some did not; and not measured means the public client could not look at one or more pages, so that neither "every page passes" nor "every page fails" is established. Not measured has three reasons: the host refused the identified client; the client's own robots.txt compliance kept it from reading the page; or it could not confirm an absence, or a server or network error stopped it. Not measured is never a fail.</a:t>
            </a:r>
          </a:p>
          <a:p>
            <a:r>
              <a:rPr b="0" sz="1400">
                <a:solidFill>
                  <a:srgbClr val="000000"/>
                </a:solidFill>
                <a:latin typeface="Calibri"/>
              </a:rPr>
              <a:t/>
            </a:r>
          </a:p>
          <a:p>
            <a:r>
              <a:rPr b="1" sz="1600">
                <a:solidFill>
                  <a:srgbClr val="C25600"/>
                </a:solidFill>
                <a:latin typeface="Calibri"/>
              </a:rPr>
              <a:t>Not a league table</a:t>
            </a:r>
          </a:p>
          <a:p>
            <a:r>
              <a:rPr b="0" sz="1100">
                <a:solidFill>
                  <a:srgbClr val="555555"/>
                </a:solidFill>
                <a:latin typeface="Calibri"/>
              </a:rPr>
              <a:t>This is not a public league table, and it is not a campaign to make any agency open its site to anyone. The results go to the agency, not to the public. A check that rests on a rule this project chose rather than on a published standard is shown for transparency and is not scored as a finding about the agency; the method is published here in full so that a reader can see exactly what was and was not measured, and argue with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b="1" sz="2600">
                <a:solidFill>
                  <a:srgbClr val="C25600"/>
                </a:solidFill>
                <a:latin typeface="Calibri"/>
              </a:rPr>
              <a:t>The roster: 16 bodies and 3 reference hosts</a:t>
            </a:r>
          </a:p>
        </p:txBody>
      </p:sp>
      <p:sp>
        <p:nvSpPr>
          <p:cNvPr id="3" name="TextBox 2"/>
          <p:cNvSpPr txBox="1"/>
          <p:nvPr/>
        </p:nvSpPr>
        <p:spPr>
          <a:xfrm>
            <a:off x="548640" y="1280160"/>
            <a:ext cx="11064240" cy="5120640"/>
          </a:xfrm>
          <a:prstGeom prst="rect">
            <a:avLst/>
          </a:prstGeom>
          <a:noFill/>
        </p:spPr>
        <p:txBody>
          <a:bodyPr wrap="square">
            <a:spAutoFit/>
          </a:bodyPr>
          <a:lstStyle/>
          <a:p>
            <a:r>
              <a:rPr b="0" sz="800">
                <a:solidFill>
                  <a:srgbClr val="000000"/>
                </a:solidFill>
                <a:latin typeface="Calibri"/>
              </a:rPr>
              <a:t>• BEA — www.bea.gov</a:t>
            </a:r>
          </a:p>
          <a:p>
            <a:r>
              <a:rPr b="0" sz="800">
                <a:solidFill>
                  <a:srgbClr val="000000"/>
                </a:solidFill>
                <a:latin typeface="Calibri"/>
              </a:rPr>
              <a:t>• BJS — bjs.ojp.gov</a:t>
            </a:r>
          </a:p>
          <a:p>
            <a:r>
              <a:rPr b="0" sz="800">
                <a:solidFill>
                  <a:srgbClr val="000000"/>
                </a:solidFill>
                <a:latin typeface="Calibri"/>
              </a:rPr>
              <a:t>• BLS — www.bls.gov</a:t>
            </a:r>
          </a:p>
          <a:p>
            <a:r>
              <a:rPr b="0" sz="800">
                <a:solidFill>
                  <a:srgbClr val="000000"/>
                </a:solidFill>
                <a:latin typeface="Calibri"/>
              </a:rPr>
              <a:t>• BTS — www.bts.gov</a:t>
            </a:r>
          </a:p>
          <a:p>
            <a:r>
              <a:rPr b="0" sz="800">
                <a:solidFill>
                  <a:srgbClr val="000000"/>
                </a:solidFill>
                <a:latin typeface="Calibri"/>
              </a:rPr>
              <a:t>• CENSUS — www.census.gov</a:t>
            </a:r>
          </a:p>
          <a:p>
            <a:r>
              <a:rPr b="0" sz="800">
                <a:solidFill>
                  <a:srgbClr val="000000"/>
                </a:solidFill>
                <a:latin typeface="Calibri"/>
              </a:rPr>
              <a:t>• DRSMSU — www.federalreserve.gov</a:t>
            </a:r>
          </a:p>
          <a:p>
            <a:r>
              <a:rPr b="0" sz="800">
                <a:solidFill>
                  <a:srgbClr val="000000"/>
                </a:solidFill>
                <a:latin typeface="Calibri"/>
              </a:rPr>
              <a:t>• EIA — www.eia.gov</a:t>
            </a:r>
          </a:p>
          <a:p>
            <a:r>
              <a:rPr b="0" sz="800">
                <a:solidFill>
                  <a:srgbClr val="000000"/>
                </a:solidFill>
                <a:latin typeface="Calibri"/>
              </a:rPr>
              <a:t>• ERS — www.ers.usda.gov</a:t>
            </a:r>
          </a:p>
          <a:p>
            <a:r>
              <a:rPr b="0" sz="800">
                <a:solidFill>
                  <a:srgbClr val="000000"/>
                </a:solidFill>
                <a:latin typeface="Calibri"/>
              </a:rPr>
              <a:t>• NAHMSAPHIS — www.aphis.usda.gov</a:t>
            </a:r>
          </a:p>
          <a:p>
            <a:r>
              <a:rPr b="0" sz="800">
                <a:solidFill>
                  <a:srgbClr val="000000"/>
                </a:solidFill>
                <a:latin typeface="Calibri"/>
              </a:rPr>
              <a:t>• NASS — www.nass.usda.gov</a:t>
            </a:r>
          </a:p>
          <a:p>
            <a:r>
              <a:rPr b="0" sz="800">
                <a:solidFill>
                  <a:srgbClr val="000000"/>
                </a:solidFill>
                <a:latin typeface="Calibri"/>
              </a:rPr>
              <a:t>• NCES — nces.ed.gov</a:t>
            </a:r>
          </a:p>
          <a:p>
            <a:r>
              <a:rPr b="0" sz="800">
                <a:solidFill>
                  <a:srgbClr val="000000"/>
                </a:solidFill>
                <a:latin typeface="Calibri"/>
              </a:rPr>
              <a:t>• NCHS — www.cdc.gov</a:t>
            </a:r>
          </a:p>
          <a:p>
            <a:r>
              <a:rPr b="0" sz="800">
                <a:solidFill>
                  <a:srgbClr val="000000"/>
                </a:solidFill>
                <a:latin typeface="Calibri"/>
              </a:rPr>
              <a:t>• NCSES — ncses.nsf.gov</a:t>
            </a:r>
          </a:p>
          <a:p>
            <a:r>
              <a:rPr b="0" sz="800">
                <a:solidFill>
                  <a:srgbClr val="000000"/>
                </a:solidFill>
                <a:latin typeface="Calibri"/>
              </a:rPr>
              <a:t>• ORES — www.ssa.gov</a:t>
            </a:r>
          </a:p>
          <a:p>
            <a:r>
              <a:rPr b="0" sz="800">
                <a:solidFill>
                  <a:srgbClr val="000000"/>
                </a:solidFill>
                <a:latin typeface="Calibri"/>
              </a:rPr>
              <a:t>• SAMHSACBHS — www.samhsa.gov</a:t>
            </a:r>
          </a:p>
          <a:p>
            <a:r>
              <a:rPr b="0" sz="800">
                <a:solidFill>
                  <a:srgbClr val="000000"/>
                </a:solidFill>
                <a:latin typeface="Calibri"/>
              </a:rPr>
              <a:t>• SOI — www.irs.gov</a:t>
            </a:r>
          </a:p>
          <a:p>
            <a:r>
              <a:rPr b="0" sz="800">
                <a:solidFill>
                  <a:srgbClr val="000000"/>
                </a:solidFill>
                <a:latin typeface="Calibri"/>
              </a:rPr>
              <a:t>• GSA (reference host) — www.gsa.gov</a:t>
            </a:r>
          </a:p>
          <a:p>
            <a:r>
              <a:rPr b="0" sz="800">
                <a:solidFill>
                  <a:srgbClr val="000000"/>
                </a:solidFill>
                <a:latin typeface="Calibri"/>
              </a:rPr>
              <a:t>• NIST (reference host) — www.nist.gov</a:t>
            </a:r>
          </a:p>
          <a:p>
            <a:r>
              <a:rPr b="0" sz="800">
                <a:solidFill>
                  <a:srgbClr val="000000"/>
                </a:solidFill>
                <a:latin typeface="Calibri"/>
              </a:rPr>
              <a:t>• data.gov (reference host) — www.data.gov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b="1" sz="2600">
                <a:solidFill>
                  <a:srgbClr val="C25600"/>
                </a:solidFill>
                <a:latin typeface="Calibri"/>
              </a:rPr>
              <a:t>The client ladder: two rungs</a:t>
            </a:r>
          </a:p>
        </p:txBody>
      </p:sp>
      <p:sp>
        <p:nvSpPr>
          <p:cNvPr id="3" name="TextBox 2"/>
          <p:cNvSpPr txBox="1"/>
          <p:nvPr/>
        </p:nvSpPr>
        <p:spPr>
          <a:xfrm>
            <a:off x="548640" y="1280160"/>
            <a:ext cx="11064240" cy="5120640"/>
          </a:xfrm>
          <a:prstGeom prst="rect">
            <a:avLst/>
          </a:prstGeom>
          <a:noFill/>
        </p:spPr>
        <p:txBody>
          <a:bodyPr wrap="square">
            <a:spAutoFit/>
          </a:bodyPr>
          <a:lstStyle/>
          <a:p>
            <a:r>
              <a:rPr b="1" sz="1600">
                <a:solidFill>
                  <a:srgbClr val="C25600"/>
                </a:solidFill>
                <a:latin typeface="Calibri"/>
              </a:rPr>
              <a:t>Rung one</a:t>
            </a:r>
          </a:p>
          <a:p>
            <a:r>
              <a:rPr b="0" sz="1200">
                <a:solidFill>
                  <a:srgbClr val="000000"/>
                </a:solidFill>
                <a:latin typeface="Calibri"/>
              </a:rPr>
              <a:t>The public client runs on a ladder of two rungs. Rung one is anonymous and keyless: it honours robots.txt and holds to the standing rate limit. Rung two is the same client registered as any member of the public registers, presenting a key obtained by open registration — a good-faith handshake, not a barrier. A refusal at rung one with a pass at rung two is reported as both, because both are true about the public experience. Rung two is specified here and measured in its own later cycle; no rung-two result is shown before one exists.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b="1" sz="2600">
                <a:solidFill>
                  <a:srgbClr val="C25600"/>
                </a:solidFill>
                <a:latin typeface="Calibri"/>
              </a:rPr>
              <a:t>ACCESSIBLE: 12 check(s)</a:t>
            </a:r>
          </a:p>
        </p:txBody>
      </p:sp>
      <p:sp>
        <p:nvSpPr>
          <p:cNvPr id="3" name="TextBox 2"/>
          <p:cNvSpPr txBox="1"/>
          <p:nvPr/>
        </p:nvSpPr>
        <p:spPr>
          <a:xfrm>
            <a:off x="548640" y="1280160"/>
            <a:ext cx="11064240" cy="5120640"/>
          </a:xfrm>
          <a:prstGeom prst="rect">
            <a:avLst/>
          </a:prstGeom>
          <a:noFill/>
        </p:spPr>
        <p:txBody>
          <a:bodyPr wrap="square">
            <a:spAutoFit/>
          </a:bodyPr>
          <a:lstStyle/>
          <a:p>
            <a:r>
              <a:rPr b="1" sz="800">
                <a:solidFill>
                  <a:srgbClr val="000000"/>
                </a:solidFill>
                <a:latin typeface="Calibri"/>
              </a:rPr>
              <a:t>Page links a structured data file</a:t>
            </a:r>
          </a:p>
          <a:p>
            <a:r>
              <a:rPr b="0" sz="700">
                <a:solidFill>
                  <a:srgbClr val="555555"/>
                </a:solidFill>
                <a:latin typeface="Calibri"/>
              </a:rPr>
              <a:t>Is the data offered in a structured, machine-readable file a computer can read directly, such as CSV, JSON or a spreadsheet, rather than only as a PDF that has to be re-parsed?</a:t>
            </a:r>
          </a:p>
          <a:p>
            <a:r>
              <a:rPr b="0" sz="600">
                <a:solidFill>
                  <a:srgbClr val="C25600"/>
                </a:solidFill>
                <a:latin typeface="Calibri"/>
              </a:rPr>
              <a:t>How it counts: Scored: a pass or fail here is a finding about the agency.</a:t>
            </a:r>
          </a:p>
          <a:p>
            <a:r>
              <a:rPr b="0" sz="700">
                <a:solidFill>
                  <a:srgbClr val="555555"/>
                </a:solidFill>
                <a:latin typeface="Calibri"/>
              </a:rPr>
              <a:t>Why: USAFacts' AI-ready data guide says to publish datasets in common structured formats (JSON, CSV, machine-readable Excel) and avoid PDFs, an OMB memo requires public data assets to be machine-readable, and a Data on the Web Best Practice asks for a machine-readable standardized format.</a:t>
            </a:r>
          </a:p>
          <a:p>
            <a:r>
              <a:rPr b="1" sz="800">
                <a:solidFill>
                  <a:srgbClr val="000000"/>
                </a:solidFill>
                <a:latin typeface="Calibri"/>
              </a:rPr>
              <a:t>OpenAPI description served at the recorded API address</a:t>
            </a:r>
          </a:p>
          <a:p>
            <a:r>
              <a:rPr b="0" sz="700">
                <a:solidFill>
                  <a:srgbClr val="555555"/>
                </a:solidFill>
                <a:latin typeface="Calibri"/>
              </a:rPr>
              <a:t>Does the agency publish a machine-readable description of its data interface, so that a program can learn the available calls and build one without a person first reading the documentation?</a:t>
            </a:r>
          </a:p>
          <a:p>
            <a:r>
              <a:rPr b="0" sz="600">
                <a:solidFill>
                  <a:srgbClr val="C25600"/>
                </a:solidFill>
                <a:latin typeface="Calibri"/>
              </a:rPr>
              <a:t>How it counts: Not scored as a finding about the agency: this version of the check measures something other than its question and is being revised.</a:t>
            </a:r>
          </a:p>
          <a:p>
            <a:r>
              <a:rPr b="0" sz="700">
                <a:solidFill>
                  <a:srgbClr val="555555"/>
                </a:solidFill>
                <a:latin typeface="Calibri"/>
              </a:rPr>
              <a:t>Why: A W3C practice says to provide complete information on the web about an interface so that machines can read it, and USAFacts' AI-ready data guide calls for data interfaces; requiring the description to be OpenAPI and to sit at the recorded address is the project's own rule, and the project has marked this check not yet valid.</a:t>
            </a:r>
          </a:p>
          <a:p>
            <a:r>
              <a:rPr b="1" sz="800">
                <a:solidFill>
                  <a:srgbClr val="000000"/>
                </a:solidFill>
                <a:latin typeface="Calibri"/>
              </a:rPr>
              <a:t>Page links an archive or large unfiltered file</a:t>
            </a:r>
          </a:p>
          <a:p>
            <a:r>
              <a:rPr b="0" sz="700">
                <a:solidFill>
                  <a:srgbClr val="555555"/>
                </a:solidFill>
                <a:latin typeface="Calibri"/>
              </a:rPr>
              <a:t>Can the whole dataset be retrieved in a single request, rather than assembled piece by piece from many filtered queries?</a:t>
            </a:r>
          </a:p>
          <a:p>
            <a:r>
              <a:rPr b="0" sz="600">
                <a:solidFill>
                  <a:srgbClr val="C25600"/>
                </a:solidFill>
                <a:latin typeface="Calibri"/>
              </a:rPr>
              <a:t>How it counts: Scored: a pass or fail here is a finding about the agency.</a:t>
            </a:r>
          </a:p>
          <a:p>
            <a:r>
              <a:rPr b="0" sz="700">
                <a:solidFill>
                  <a:srgbClr val="555555"/>
                </a:solidFill>
                <a:latin typeface="Calibri"/>
              </a:rPr>
              <a:t>Why: A Data on the Web Best Practice says to let consumers retrieve the full dataset with a single request, and an OMB memo says that where there is significant public interest in taking information off an agency's pages, the agency should strongly consider offering it in bulk; the fifty kibibytes floor and the query-means-filtered rule are the project's own choices.</a:t>
            </a:r>
          </a:p>
          <a:p>
            <a:r>
              <a:rPr b="1" sz="800">
                <a:solidFill>
                  <a:srgbClr val="000000"/>
                </a:solidFill>
                <a:latin typeface="Calibri"/>
              </a:rPr>
              <a:t>robots.txt permits eight listed crawler tokens  (a declaration, read but not scored)</a:t>
            </a:r>
          </a:p>
          <a:p>
            <a:r>
              <a:rPr b="0" sz="700">
                <a:solidFill>
                  <a:srgbClr val="555555"/>
                </a:solidFill>
                <a:latin typeface="Calibri"/>
              </a:rPr>
              <a:t>Does the host's stated policy in its robots.txt allow the crawlers that answer engines use to fetch the data page?</a:t>
            </a:r>
          </a:p>
          <a:p>
            <a:r>
              <a:rPr b="0" sz="600">
                <a:solidFill>
                  <a:srgbClr val="C25600"/>
                </a:solidFill>
                <a:latin typeface="Calibri"/>
              </a:rPr>
              <a:t>How it counts: A declaration: this records what the agency states, read but not scored.</a:t>
            </a:r>
          </a:p>
          <a:p>
            <a:r>
              <a:rPr b="0" sz="700">
                <a:solidFill>
                  <a:srgbClr val="555555"/>
                </a:solidFill>
                <a:latin typeface="Calibri"/>
              </a:rPr>
              <a:t>Why: An OMB memo asks agencies to use robots.txt so their pages can be found, and the crawler vendors' own pages say robots.txt is how a site controls which of their crawlers fetch it; reading a disallow of these particular eight tokens as a failure is the project's own rule, and the project has marked this check not yet valid.</a:t>
            </a:r>
          </a:p>
          <a:p>
            <a:r>
              <a:rPr b="1" sz="800">
                <a:solidFill>
                  <a:srgbClr val="000000"/>
                </a:solidFill>
                <a:latin typeface="Calibri"/>
              </a:rPr>
              <a:t>The site's sitemap lists the data page</a:t>
            </a:r>
          </a:p>
          <a:p>
            <a:r>
              <a:rPr b="0" sz="700">
                <a:solidFill>
                  <a:srgbClr val="555555"/>
                </a:solidFill>
                <a:latin typeface="Calibri"/>
              </a:rPr>
              <a:t>Is the agency's data page listed in a sitemap served on the agency's own website?</a:t>
            </a:r>
          </a:p>
          <a:p>
            <a:r>
              <a:rPr b="0" sz="600">
                <a:solidFill>
                  <a:srgbClr val="C25600"/>
                </a:solidFill>
                <a:latin typeface="Calibri"/>
              </a:rPr>
              <a:t>How it counts: Scored: a pass or fail here is a finding about the agency.</a:t>
            </a:r>
          </a:p>
          <a:p>
            <a:r>
              <a:rPr b="0" sz="700">
                <a:solidFill>
                  <a:srgbClr val="555555"/>
                </a:solidFill>
                <a:latin typeface="Calibri"/>
              </a:rPr>
              <a:t>Why: An OMB memo asks federal agencies to use sitemaps so their web content is easier to find, and a W3C practice (the sitemaps protocol) defines the sitemap file; the premise that an agency's data page is among the pages its owner thinks important is the project's own.</a:t>
            </a:r>
          </a:p>
          <a:p>
            <a:r>
              <a:rPr b="1" sz="800">
                <a:solidFill>
                  <a:srgbClr val="000000"/>
                </a:solidFill>
                <a:latin typeface="Calibri"/>
              </a:rPr>
              <a:t>Page markup declares a named, described dataset</a:t>
            </a:r>
          </a:p>
          <a:p>
            <a:r>
              <a:rPr b="0" sz="700">
                <a:solidFill>
                  <a:srgbClr val="555555"/>
                </a:solidFill>
                <a:latin typeface="Calibri"/>
              </a:rPr>
              <a:t>Does the data page's own markup tell a machine that the page describes a named, described dataset?</a:t>
            </a:r>
          </a:p>
          <a:p>
            <a:r>
              <a:rPr b="0" sz="600">
                <a:solidFill>
                  <a:srgbClr val="C25600"/>
                </a:solidFill>
                <a:latin typeface="Calibri"/>
              </a:rPr>
              <a:t>How it counts: Not scored as a finding about the agency: this version of the check measures something other than its question and is being revised.</a:t>
            </a:r>
          </a:p>
          <a:p>
            <a:r>
              <a:rPr b="0" sz="700">
                <a:solidFill>
                  <a:srgbClr val="555555"/>
                </a:solidFill>
                <a:latin typeface="Calibri"/>
              </a:rPr>
              <a:t>Why: A W3C practice (the schema.org dataset vocabulary) lets a page declare itself a dataset with a name and description so search and answer engines recognise it, and USAFacts' AI-ready data guide asks publishers to align with standard schemas and well-structured metadata.</a:t>
            </a:r>
          </a:p>
          <a:p>
            <a:r>
              <a:rPr b="1" sz="800">
                <a:solidFill>
                  <a:srgbClr val="000000"/>
                </a:solidFill>
                <a:latin typeface="Calibri"/>
              </a:rPr>
              <a:t>Markup dates the data; a latest-version link resolves</a:t>
            </a:r>
          </a:p>
          <a:p>
            <a:r>
              <a:rPr b="0" sz="700">
                <a:solidFill>
                  <a:srgbClr val="555555"/>
                </a:solidFill>
                <a:latin typeface="Calibri"/>
              </a:rPr>
              <a:t>Can a machine read which release of the data the page is showing, and follow a link to the latest release?</a:t>
            </a:r>
          </a:p>
          <a:p>
            <a:r>
              <a:rPr b="0" sz="600">
                <a:solidFill>
                  <a:srgbClr val="C25600"/>
                </a:solidFill>
                <a:latin typeface="Calibri"/>
              </a:rPr>
              <a:t>How it counts: Shown for transparency, not scored as a finding about the agency: at least one part of this check rests on a rule this project chose, not a published standard.</a:t>
            </a:r>
          </a:p>
          <a:p>
            <a:r>
              <a:rPr b="0" sz="700">
                <a:solidFill>
                  <a:srgbClr val="555555"/>
                </a:solidFill>
                <a:latin typeface="Calibri"/>
              </a:rPr>
              <a:t>Why: A Data on the Web Best Practice asks that a machine be able to detect a dataset's version or date and refer to its latest version, and USAFacts' AI-ready data guide asks that the most recent update be retrievable by a machine; the requirement that a latest-version link actually resolve is the project's own rule.</a:t>
            </a:r>
          </a:p>
          <a:p>
            <a:r>
              <a:rPr b="1" sz="800">
                <a:solidFill>
                  <a:srgbClr val="000000"/>
                </a:solidFill>
                <a:latin typeface="Calibri"/>
              </a:rPr>
              <a:t>A machine address returns a non-page file</a:t>
            </a:r>
          </a:p>
          <a:p>
            <a:r>
              <a:rPr b="0" sz="700">
                <a:solidFill>
                  <a:srgbClr val="555555"/>
                </a:solidFill>
                <a:latin typeface="Calibri"/>
              </a:rPr>
              <a:t>Does the agency serve an entry point built for machine clients, such as a machine-readable API description, an agent-protocol address, or an llms.txt, at the addresses machine clients look first?</a:t>
            </a:r>
          </a:p>
          <a:p>
            <a:r>
              <a:rPr b="0" sz="600">
                <a:solidFill>
                  <a:srgbClr val="C25600"/>
                </a:solidFill>
                <a:latin typeface="Calibri"/>
              </a:rPr>
              <a:t>How it counts: Shown for transparency, not scored as a finding about the agency: at least one part of this check rests on a rule this project chose, not a published standard.</a:t>
            </a:r>
          </a:p>
          <a:p>
            <a:r>
              <a:rPr b="0" sz="700">
                <a:solidFill>
                  <a:srgbClr val="555555"/>
                </a:solidFill>
                <a:latin typeface="Calibri"/>
              </a:rPr>
              <a:t>Why: This is the project's own rule: no published standard defines this entry point or the set of addresses to serve it at. Its motivation draws on a FAIR letter (data retrievable by a standardised protocol) and the llms.txt proposal, but neither defines the check.</a:t>
            </a:r>
          </a:p>
          <a:p>
            <a:r>
              <a:rPr b="1" sz="800">
                <a:solidFill>
                  <a:srgbClr val="000000"/>
                </a:solidFill>
                <a:latin typeface="Calibri"/>
              </a:rPr>
              <a:t>Data tool answers with real status and content</a:t>
            </a:r>
          </a:p>
          <a:p>
            <a:r>
              <a:rPr b="0" sz="700">
                <a:solidFill>
                  <a:srgbClr val="555555"/>
                </a:solidFill>
                <a:latin typeface="Calibri"/>
              </a:rPr>
              <a:t>Does the agency's interactive data tool answer a machine honestly — real content at a direct link, and a real "not found" error for a web address that does not exist?</a:t>
            </a:r>
          </a:p>
          <a:p>
            <a:r>
              <a:rPr b="0" sz="600">
                <a:solidFill>
                  <a:srgbClr val="C25600"/>
                </a:solidFill>
                <a:latin typeface="Calibri"/>
              </a:rPr>
              <a:t>How it counts: Shown for transparency, not scored as a finding about the agency: at least one part of this check rests on a rule this project chose, not a published standard.</a:t>
            </a:r>
          </a:p>
          <a:p>
            <a:r>
              <a:rPr b="0" sz="700">
                <a:solidFill>
                  <a:srgbClr val="555555"/>
                </a:solidFill>
                <a:latin typeface="Calibri"/>
              </a:rPr>
              <a:t>Why: An RFC defines what a real "not found" answer is, and Google's crawler documentation treats an "OK" page that is really an error as a problem, not a page; a Data on the Web Best Practice expects programmatic access to return the responses a client expects. The rule that at least two thousand characters be present before scripts run is the project's own choice.</a:t>
            </a:r>
          </a:p>
          <a:p>
            <a:r>
              <a:rPr b="1" sz="800">
                <a:solidFill>
                  <a:srgbClr val="000000"/>
                </a:solidFill>
                <a:latin typeface="Calibri"/>
              </a:rPr>
              <a:t>(no short name)  (a declaration, read but not scored)</a:t>
            </a:r>
          </a:p>
          <a:p>
            <a:r>
              <a:rPr b="0" sz="700">
                <a:solidFill>
                  <a:srgbClr val="555555"/>
                </a:solidFill>
                <a:latin typeface="Calibri"/>
              </a:rPr>
              <a:t>What does the host say in writing about letting crawlers reach the data page, in both places such a statement can live — the site's robots.txt file and the page's robots meta tags?</a:t>
            </a:r>
          </a:p>
          <a:p>
            <a:r>
              <a:rPr b="0" sz="600">
                <a:solidFill>
                  <a:srgbClr val="C25600"/>
                </a:solidFill>
                <a:latin typeface="Calibri"/>
              </a:rPr>
              <a:t>How it counts: A declaration: this records what the agency states, read but not scored.</a:t>
            </a:r>
          </a:p>
          <a:p>
            <a:r>
              <a:rPr b="0" sz="700">
                <a:solidFill>
                  <a:srgbClr val="555555"/>
                </a:solidFill>
                <a:latin typeface="Calibri"/>
              </a:rPr>
              <a:t>Why: An RFC on robots.txt defines the file and states plainly that its rules are not a form of access authorization, and Google's crawler documentation defines the robots meta tag and notes those settings can be followed only if crawlers are allowed to read the pages that carry them. This is a declaration: it records what the agency states, read but not scored.</a:t>
            </a:r>
          </a:p>
          <a:p>
            <a:r>
              <a:rPr b="1" sz="800">
                <a:solidFill>
                  <a:srgbClr val="000000"/>
                </a:solidFill>
                <a:latin typeface="Calibri"/>
              </a:rPr>
              <a:t>Host serves the path its robots.txt permits  (under review, not scored yet)</a:t>
            </a:r>
          </a:p>
          <a:p>
            <a:r>
              <a:rPr b="0" sz="700">
                <a:solidFill>
                  <a:srgbClr val="555555"/>
                </a:solidFill>
                <a:latin typeface="Calibri"/>
              </a:rPr>
              <a:t>Does the host actually serve the data page to an identified, compliant client when its own robots.txt says it may?</a:t>
            </a:r>
          </a:p>
          <a:p>
            <a:r>
              <a:rPr b="0" sz="600">
                <a:solidFill>
                  <a:srgbClr val="C25600"/>
                </a:solidFill>
                <a:latin typeface="Calibri"/>
              </a:rPr>
              <a:t>How it counts: Under review: this check is not scored yet.</a:t>
            </a:r>
          </a:p>
          <a:p>
            <a:r>
              <a:rPr b="0" sz="700">
                <a:solidFill>
                  <a:srgbClr val="555555"/>
                </a:solidFill>
                <a:latin typeface="Calibri"/>
              </a:rPr>
              <a:t>Why: An RFC on robots.txt states that its rules are not a form of access authorization and are not a substitute for valid content security measures; the idea that a host's enforcement should match its declaration is this project's own construct. This check is under review and not scored yet.</a:t>
            </a:r>
          </a:p>
          <a:p>
            <a:r>
              <a:rPr b="1" sz="800">
                <a:solidFill>
                  <a:srgbClr val="000000"/>
                </a:solidFill>
                <a:latin typeface="Calibri"/>
              </a:rPr>
              <a:t>Page reaches the agency's API, terms, changelog, inventory</a:t>
            </a:r>
          </a:p>
          <a:p>
            <a:r>
              <a:rPr b="0" sz="700">
                <a:solidFill>
                  <a:srgbClr val="555555"/>
                </a:solidFill>
                <a:latin typeface="Calibri"/>
              </a:rPr>
              <a:t>Starting at one of the agency's data pages and knowing nothing else, can a machine client reach the four things an agency publishes for machines — its data service (its API), that service's terms, its changelog, and its data inventory?</a:t>
            </a:r>
          </a:p>
          <a:p>
            <a:r>
              <a:rPr b="0" sz="600">
                <a:solidFill>
                  <a:srgbClr val="C25600"/>
                </a:solidFill>
                <a:latin typeface="Calibri"/>
              </a:rPr>
              <a:t>How it counts: Shown for transparency, not scored as a finding about the agency: at least one part of this check rests on a rule this project chose, not a published standard.</a:t>
            </a:r>
          </a:p>
          <a:p>
            <a:r>
              <a:rPr b="0" sz="700">
                <a:solidFill>
                  <a:srgbClr val="555555"/>
                </a:solidFill>
                <a:latin typeface="Calibri"/>
              </a:rPr>
              <a:t>Why: An RFC on API catalogs defines how a publisher announces its data service at a standard address, and an OMB memo requires each agency to post its data inventory at a set data.json address. Reaching the service's terms or changelog by an ordinary link, and combining the four objects into one result, are the project's own rules.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b="1" sz="2600">
                <a:solidFill>
                  <a:srgbClr val="C25600"/>
                </a:solidFill>
                <a:latin typeface="Calibri"/>
              </a:rPr>
              <a:t>UNDERSTANDABLE: 1 check(s)</a:t>
            </a:r>
          </a:p>
        </p:txBody>
      </p:sp>
      <p:sp>
        <p:nvSpPr>
          <p:cNvPr id="3" name="TextBox 2"/>
          <p:cNvSpPr txBox="1"/>
          <p:nvPr/>
        </p:nvSpPr>
        <p:spPr>
          <a:xfrm>
            <a:off x="548640" y="1280160"/>
            <a:ext cx="11064240" cy="5120640"/>
          </a:xfrm>
          <a:prstGeom prst="rect">
            <a:avLst/>
          </a:prstGeom>
          <a:noFill/>
        </p:spPr>
        <p:txBody>
          <a:bodyPr wrap="square">
            <a:spAutoFit/>
          </a:bodyPr>
          <a:lstStyle/>
          <a:p>
            <a:r>
              <a:rPr b="1" sz="800">
                <a:solidFill>
                  <a:srgbClr val="000000"/>
                </a:solidFill>
                <a:latin typeface="Calibri"/>
              </a:rPr>
              <a:t>Page links a methodology readable as text</a:t>
            </a:r>
          </a:p>
          <a:p>
            <a:r>
              <a:rPr b="0" sz="700">
                <a:solidFill>
                  <a:srgbClr val="555555"/>
                </a:solidFill>
                <a:latin typeface="Calibri"/>
              </a:rPr>
              <a:t>Can a machine reach the methodology behind the data and read it as plain text, without having to run scripts?</a:t>
            </a:r>
          </a:p>
          <a:p>
            <a:r>
              <a:rPr b="0" sz="600">
                <a:solidFill>
                  <a:srgbClr val="C25600"/>
                </a:solidFill>
                <a:latin typeface="Calibri"/>
              </a:rPr>
              <a:t>How it counts: Shown for transparency, not scored as a finding about the agency: at least one part of this check rests on a rule this project chose, not a published standard.</a:t>
            </a:r>
          </a:p>
          <a:p>
            <a:r>
              <a:rPr b="0" sz="700">
                <a:solidFill>
                  <a:srgbClr val="555555"/>
                </a:solidFill>
                <a:latin typeface="Calibri"/>
              </a:rPr>
              <a:t>Why: A published guide on readable data documentation asks that text documentation, methodology included, be reachable by people and by web crawlers, and an OMB memo asks agencies to default web content to a plain web page rather than another format. The added rule that the text be readable before any script runs is the project's own reading of "reachable by crawlers", since many crawlers do not run scripts.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b="1" sz="2600">
                <a:solidFill>
                  <a:srgbClr val="C25600"/>
                </a:solidFill>
                <a:latin typeface="Calibri"/>
              </a:rPr>
              <a:t>OPEN: 2 check(s)</a:t>
            </a:r>
          </a:p>
        </p:txBody>
      </p:sp>
      <p:sp>
        <p:nvSpPr>
          <p:cNvPr id="3" name="TextBox 2"/>
          <p:cNvSpPr txBox="1"/>
          <p:nvPr/>
        </p:nvSpPr>
        <p:spPr>
          <a:xfrm>
            <a:off x="548640" y="1280160"/>
            <a:ext cx="11064240" cy="5120640"/>
          </a:xfrm>
          <a:prstGeom prst="rect">
            <a:avLst/>
          </a:prstGeom>
          <a:noFill/>
        </p:spPr>
        <p:txBody>
          <a:bodyPr wrap="square">
            <a:spAutoFit/>
          </a:bodyPr>
          <a:lstStyle/>
          <a:p>
            <a:r>
              <a:rPr b="1" sz="800">
                <a:solidFill>
                  <a:srgbClr val="000000"/>
                </a:solidFill>
                <a:latin typeface="Calibri"/>
              </a:rPr>
              <a:t>Page or API terms name a recognised licence</a:t>
            </a:r>
          </a:p>
          <a:p>
            <a:r>
              <a:rPr b="0" sz="700">
                <a:solidFill>
                  <a:srgbClr val="555555"/>
                </a:solidFill>
                <a:latin typeface="Calibri"/>
              </a:rPr>
              <a:t>Can a machine tell, from a recognised name, on what terms it may reuse the data?</a:t>
            </a:r>
          </a:p>
          <a:p>
            <a:r>
              <a:rPr b="0" sz="600">
                <a:solidFill>
                  <a:srgbClr val="C25600"/>
                </a:solidFill>
                <a:latin typeface="Calibri"/>
              </a:rPr>
              <a:t>How it counts: Shown for transparency, not scored as a finding about the agency: at least one part of this check rests on a rule this project chose, not a published standard.</a:t>
            </a:r>
          </a:p>
          <a:p>
            <a:r>
              <a:rPr b="0" sz="700">
                <a:solidFill>
                  <a:srgbClr val="555555"/>
                </a:solidFill>
                <a:latin typeface="Calibri"/>
              </a:rPr>
              <a:t>Why: A Data on the Web Best Practice asks that a licence be stated so a machine can find it; an OMB memo lets a federal agency meet the open-licence requirement by marking the asset public domain in its inventory; the US DCAT schema carries a licence-or-public-domain field; and the SPDX licence list supplies the recognised identifiers. The extra demand that a detected licence be given as an identifier rather than in words is the project's own rule.</a:t>
            </a:r>
          </a:p>
          <a:p>
            <a:r>
              <a:rPr b="1" sz="800">
                <a:solidFill>
                  <a:srgbClr val="000000"/>
                </a:solidFill>
                <a:latin typeface="Calibri"/>
              </a:rPr>
              <a:t>Agency's data.json inventory lists this page, validly</a:t>
            </a:r>
          </a:p>
          <a:p>
            <a:r>
              <a:rPr b="0" sz="700">
                <a:solidFill>
                  <a:srgbClr val="555555"/>
                </a:solidFill>
                <a:latin typeface="Calibri"/>
              </a:rPr>
              <a:t>Is this data product listed, in a valid record, in the agency's public data inventory?</a:t>
            </a:r>
          </a:p>
          <a:p>
            <a:r>
              <a:rPr b="0" sz="600">
                <a:solidFill>
                  <a:srgbClr val="C25600"/>
                </a:solidFill>
                <a:latin typeface="Calibri"/>
              </a:rPr>
              <a:t>How it counts: Scored: a pass or fail here is a finding about the agency.</a:t>
            </a:r>
          </a:p>
          <a:p>
            <a:r>
              <a:rPr b="0" sz="700">
                <a:solidFill>
                  <a:srgbClr val="555555"/>
                </a:solidFill>
                <a:latin typeface="Calibri"/>
              </a:rPr>
              <a:t>Why: An OMB memo requires each agency to keep a complete data inventory of all its data assets, in JSON, conforming to the federal metadata schema and hosted at the agency's data.json address, and the US DCAT schema (Project Open Data) defines the record's address fields. The rule for deciding that a given page is a given record — matching its address in the record's address fields — is the project's 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b="1" sz="2600">
                <a:solidFill>
                  <a:srgbClr val="C25600"/>
                </a:solidFill>
                <a:latin typeface="Calibri"/>
              </a:rPr>
              <a:t>release engineering: 1 check(s)</a:t>
            </a:r>
          </a:p>
        </p:txBody>
      </p:sp>
      <p:sp>
        <p:nvSpPr>
          <p:cNvPr id="3" name="TextBox 2"/>
          <p:cNvSpPr txBox="1"/>
          <p:nvPr/>
        </p:nvSpPr>
        <p:spPr>
          <a:xfrm>
            <a:off x="548640" y="1280160"/>
            <a:ext cx="11064240" cy="5120640"/>
          </a:xfrm>
          <a:prstGeom prst="rect">
            <a:avLst/>
          </a:prstGeom>
          <a:noFill/>
        </p:spPr>
        <p:txBody>
          <a:bodyPr wrap="square">
            <a:spAutoFit/>
          </a:bodyPr>
          <a:lstStyle/>
          <a:p>
            <a:r>
              <a:rPr b="1" sz="800">
                <a:solidFill>
                  <a:srgbClr val="000000"/>
                </a:solidFill>
                <a:latin typeface="Calibri"/>
              </a:rPr>
              <a:t>Change history served as a structured feed</a:t>
            </a:r>
          </a:p>
          <a:p>
            <a:r>
              <a:rPr b="0" sz="700">
                <a:solidFill>
                  <a:srgbClr val="555555"/>
                </a:solidFill>
                <a:latin typeface="Calibri"/>
              </a:rPr>
              <a:t>Can a machine learn what changed between releases from a structured change history?</a:t>
            </a:r>
          </a:p>
          <a:p>
            <a:r>
              <a:rPr b="0" sz="600">
                <a:solidFill>
                  <a:srgbClr val="C25600"/>
                </a:solidFill>
                <a:latin typeface="Calibri"/>
              </a:rPr>
              <a:t>How it counts: Shown for transparency, not scored as a finding about the agency: at least one part of this check rests on a rule this project chose, not a published standard.</a:t>
            </a:r>
          </a:p>
          <a:p>
            <a:r>
              <a:rPr b="0" sz="700">
                <a:solidFill>
                  <a:srgbClr val="555555"/>
                </a:solidFill>
                <a:latin typeface="Calibri"/>
              </a:rPr>
              <a:t>Why: A Data on the Web Best Practice asks for a complete version history that explains the changes in each version, and a published guide on data for developers asks for versioning so updates can be tracked over time. The added demands that the history come as a feed and that entries carry a change-type label are the project's own rules; neither source requires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b="1" sz="2600">
                <a:solidFill>
                  <a:srgbClr val="C25600"/>
                </a:solidFill>
                <a:latin typeface="Calibri"/>
              </a:rPr>
              <a:t>The rung-two listing (specified; measured in its own cycle)</a:t>
            </a:r>
          </a:p>
        </p:txBody>
      </p:sp>
      <p:sp>
        <p:nvSpPr>
          <p:cNvPr id="3" name="TextBox 2"/>
          <p:cNvSpPr txBox="1"/>
          <p:nvPr/>
        </p:nvSpPr>
        <p:spPr>
          <a:xfrm>
            <a:off x="548640" y="1280160"/>
            <a:ext cx="11064240" cy="5120640"/>
          </a:xfrm>
          <a:prstGeom prst="rect">
            <a:avLst/>
          </a:prstGeom>
          <a:noFill/>
        </p:spPr>
        <p:txBody>
          <a:bodyPr wrap="square">
            <a:spAutoFit/>
          </a:bodyPr>
          <a:lstStyle/>
          <a:p>
            <a:r>
              <a:rPr b="1" sz="900">
                <a:solidFill>
                  <a:srgbClr val="C25600"/>
                </a:solidFill>
                <a:latin typeface="Calibri"/>
              </a:rPr>
              <a:t>Surface | key required | registration open | source</a:t>
            </a:r>
          </a:p>
          <a:p>
            <a:r>
              <a:rPr b="0" sz="700">
                <a:solidFill>
                  <a:srgbClr val="000000"/>
                </a:solidFill>
                <a:latin typeface="Calibri"/>
              </a:rPr>
              <a:t>BEA: https://www.bea.gov/open-data — to be confirmed / to be confirmed / to be confirmed</a:t>
            </a:r>
          </a:p>
          <a:p>
            <a:r>
              <a:rPr b="0" sz="700">
                <a:solidFill>
                  <a:srgbClr val="000000"/>
                </a:solidFill>
                <a:latin typeface="Calibri"/>
              </a:rPr>
              <a:t>CENSUS: https://www.census.gov/data/datasets.html — to be confirmed / to be confirmed / to be confirmed</a:t>
            </a:r>
          </a:p>
          <a:p>
            <a:r>
              <a:rPr b="0" sz="700">
                <a:solidFill>
                  <a:srgbClr val="000000"/>
                </a:solidFill>
                <a:latin typeface="Calibri"/>
              </a:rPr>
              <a:t>EIA: https://www.eia.gov/opendata/browser/ — to be confirmed / to be confirmed / to be confirmed</a:t>
            </a:r>
          </a:p>
          <a:p>
            <a:r>
              <a:rPr b="0" sz="700">
                <a:solidFill>
                  <a:srgbClr val="000000"/>
                </a:solidFill>
                <a:latin typeface="Calibri"/>
              </a:rPr>
              <a:t>ERS: https://www.ers.usda.gov/data-products?type=downloadable-data-files — to be confirmed / to be confirmed / to be confirmed</a:t>
            </a:r>
          </a:p>
          <a:p>
            <a:r>
              <a:rPr b="0" sz="700">
                <a:solidFill>
                  <a:srgbClr val="000000"/>
                </a:solidFill>
                <a:latin typeface="Calibri"/>
              </a:rPr>
              <a:t>NASS: https://www.nass.usda.gov/datasets — to be confirmed / to be confirmed / to be confirmed</a:t>
            </a:r>
          </a:p>
          <a:p>
            <a:r>
              <a:rPr b="0" sz="700">
                <a:solidFill>
                  <a:srgbClr val="000000"/>
                </a:solidFill>
                <a:latin typeface="Calibri"/>
              </a:rPr>
              <a:t>NCHS: https://www.cdc.gov/nchs/nvss/vsrr.htm — to be confirmed / to be confirmed / to be confirmed</a:t>
            </a:r>
          </a:p>
          <a:p>
            <a:r>
              <a:rPr b="0" sz="700">
                <a:solidFill>
                  <a:srgbClr val="000000"/>
                </a:solidFill>
                <a:latin typeface="Calibri"/>
              </a:rPr>
              <a:t>NCSES: https://ncses.nsf.gov/explore-data/microdata — to be confirmed / to be confirmed / to be confirmed</a:t>
            </a:r>
          </a:p>
          <a:p>
            <a:r>
              <a:rPr b="0" sz="700">
                <a:solidFill>
                  <a:srgbClr val="000000"/>
                </a:solidFill>
                <a:latin typeface="Calibri"/>
              </a:rPr>
              <a:t>GSA: https://open.gsa.gov — to be confirmed / to be confirmed / to be confirmed</a:t>
            </a:r>
          </a:p>
          <a:p>
            <a:r>
              <a:rPr b="0" sz="700">
                <a:solidFill>
                  <a:srgbClr val="000000"/>
                </a:solidFill>
                <a:latin typeface="Calibri"/>
              </a:rPr>
              <a:t>NIST: https://data.nist.gov — to be confirmed / to be confirmed / to be confirmed</a:t>
            </a:r>
          </a:p>
          <a:p>
            <a:r>
              <a:rPr b="0" sz="700">
                <a:solidFill>
                  <a:srgbClr val="000000"/>
                </a:solidFill>
                <a:latin typeface="Calibri"/>
              </a:rPr>
              <a:t>data.gov: https://catalog.data.gov — to be confirmed / to be confirmed / to be confirmed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b="1" sz="2600">
                <a:solidFill>
                  <a:srgbClr val="C25600"/>
                </a:solidFill>
                <a:latin typeface="Calibri"/>
              </a:rPr>
              <a:t>What comes next</a:t>
            </a:r>
          </a:p>
        </p:txBody>
      </p:sp>
      <p:sp>
        <p:nvSpPr>
          <p:cNvPr id="3" name="TextBox 2"/>
          <p:cNvSpPr txBox="1"/>
          <p:nvPr/>
        </p:nvSpPr>
        <p:spPr>
          <a:xfrm>
            <a:off x="548640" y="1280160"/>
            <a:ext cx="11064240" cy="5120640"/>
          </a:xfrm>
          <a:prstGeom prst="rect">
            <a:avLst/>
          </a:prstGeom>
          <a:noFill/>
        </p:spPr>
        <p:txBody>
          <a:bodyPr wrap="square">
            <a:spAutoFit/>
          </a:bodyPr>
          <a:lstStyle/>
          <a:p>
            <a:r>
              <a:rPr b="1" sz="1400">
                <a:solidFill>
                  <a:srgbClr val="C25600"/>
                </a:solidFill>
                <a:latin typeface="Calibri"/>
              </a:rPr>
              <a:t>The access check</a:t>
            </a:r>
          </a:p>
          <a:p>
            <a:r>
              <a:rPr b="0" sz="1100">
                <a:solidFill>
                  <a:srgbClr val="000000"/>
                </a:solidFill>
                <a:latin typeface="Calibri"/>
              </a:rPr>
              <a:t>Whether the host answers an anonymous, identified client at all — the FAIR letter's first rung (A1 and A1.1). It is specified and not yet run; it is its own task.</a:t>
            </a:r>
          </a:p>
          <a:p>
            <a:r>
              <a:rPr b="1" sz="1400">
                <a:solidFill>
                  <a:srgbClr val="C25600"/>
                </a:solidFill>
                <a:latin typeface="Calibri"/>
              </a:rPr>
              <a:t>The first measured rung-two cycle</a:t>
            </a:r>
          </a:p>
          <a:p>
            <a:r>
              <a:rPr b="0" sz="1100">
                <a:solidFill>
                  <a:srgbClr val="000000"/>
                </a:solidFill>
                <a:latin typeface="Calibri"/>
              </a:rPr>
              <a:t>The same checks run by the public client registered as any member of the public registers, presenting a key obtained by open registration. The surfaces that take a key are listed here; no rung-two result is shown before a measured cycle exists. It is its own task, with its own pre-registration.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